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6" r:id="rId11"/>
    <p:sldId id="279" r:id="rId12"/>
    <p:sldId id="280" r:id="rId13"/>
    <p:sldId id="277" r:id="rId14"/>
    <p:sldId id="281" r:id="rId15"/>
    <p:sldId id="282" r:id="rId16"/>
    <p:sldId id="278" r:id="rId17"/>
    <p:sldId id="283" r:id="rId18"/>
    <p:sldId id="284" r:id="rId19"/>
    <p:sldId id="285" r:id="rId20"/>
    <p:sldId id="286" r:id="rId21"/>
    <p:sldId id="265" r:id="rId22"/>
    <p:sldId id="266" r:id="rId23"/>
    <p:sldId id="287" r:id="rId24"/>
    <p:sldId id="288" r:id="rId25"/>
    <p:sldId id="268" r:id="rId26"/>
    <p:sldId id="295" r:id="rId27"/>
    <p:sldId id="297" r:id="rId28"/>
    <p:sldId id="289" r:id="rId29"/>
    <p:sldId id="290" r:id="rId30"/>
    <p:sldId id="291" r:id="rId31"/>
    <p:sldId id="292" r:id="rId32"/>
    <p:sldId id="293" r:id="rId33"/>
    <p:sldId id="294" r:id="rId34"/>
    <p:sldId id="296" r:id="rId35"/>
    <p:sldId id="298" r:id="rId36"/>
    <p:sldId id="299" r:id="rId37"/>
    <p:sldId id="301" r:id="rId38"/>
    <p:sldId id="302" r:id="rId39"/>
    <p:sldId id="300" r:id="rId40"/>
    <p:sldId id="303" r:id="rId41"/>
    <p:sldId id="267" r:id="rId42"/>
    <p:sldId id="304" r:id="rId43"/>
    <p:sldId id="305" r:id="rId44"/>
    <p:sldId id="306" r:id="rId45"/>
    <p:sldId id="308" r:id="rId46"/>
    <p:sldId id="309" r:id="rId47"/>
    <p:sldId id="320" r:id="rId48"/>
    <p:sldId id="310" r:id="rId49"/>
    <p:sldId id="311" r:id="rId50"/>
    <p:sldId id="312" r:id="rId51"/>
    <p:sldId id="313" r:id="rId52"/>
    <p:sldId id="314" r:id="rId53"/>
    <p:sldId id="315" r:id="rId54"/>
    <p:sldId id="316" r:id="rId55"/>
    <p:sldId id="317" r:id="rId56"/>
    <p:sldId id="318" r:id="rId57"/>
    <p:sldId id="319" r:id="rId58"/>
    <p:sldId id="307" r:id="rId59"/>
    <p:sldId id="269" r:id="rId60"/>
    <p:sldId id="321" r:id="rId61"/>
    <p:sldId id="322" r:id="rId62"/>
    <p:sldId id="323" r:id="rId63"/>
    <p:sldId id="324" r:id="rId64"/>
    <p:sldId id="325" r:id="rId65"/>
    <p:sldId id="326" r:id="rId66"/>
    <p:sldId id="327" r:id="rId67"/>
    <p:sldId id="328" r:id="rId68"/>
    <p:sldId id="329" r:id="rId69"/>
    <p:sldId id="331" r:id="rId70"/>
    <p:sldId id="330" r:id="rId71"/>
    <p:sldId id="332" r:id="rId72"/>
    <p:sldId id="270" r:id="rId73"/>
    <p:sldId id="333" r:id="rId74"/>
    <p:sldId id="334" r:id="rId75"/>
    <p:sldId id="271" r:id="rId76"/>
    <p:sldId id="335" r:id="rId77"/>
    <p:sldId id="336" r:id="rId78"/>
    <p:sldId id="337" r:id="rId79"/>
    <p:sldId id="338" r:id="rId80"/>
    <p:sldId id="339" r:id="rId81"/>
    <p:sldId id="340" r:id="rId82"/>
    <p:sldId id="341" r:id="rId83"/>
    <p:sldId id="342" r:id="rId84"/>
    <p:sldId id="272" r:id="rId85"/>
    <p:sldId id="273" r:id="rId86"/>
    <p:sldId id="274" r:id="rId87"/>
    <p:sldId id="275" r:id="rId8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6" autoAdjust="0"/>
    <p:restoredTop sz="94660"/>
  </p:normalViewPr>
  <p:slideViewPr>
    <p:cSldViewPr snapToGrid="0" snapToObjects="1">
      <p:cViewPr>
        <p:scale>
          <a:sx n="50" d="100"/>
          <a:sy n="50" d="100"/>
        </p:scale>
        <p:origin x="1805" y="6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5A8CCA-457D-4A53-A9A2-F393C129BE6E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E8BA077-2D04-4351-8CE7-19F18D25B4B1}">
      <dgm:prSet/>
      <dgm:spPr/>
      <dgm:t>
        <a:bodyPr/>
        <a:lstStyle/>
        <a:p>
          <a:r>
            <a:rPr lang="en-IN"/>
            <a:t>Turn raw data into meaningful information and insights</a:t>
          </a:r>
        </a:p>
      </dgm:t>
    </dgm:pt>
    <dgm:pt modelId="{0B80D567-C41B-402D-8302-ECA1012804AA}" type="parTrans" cxnId="{47CC9F9E-BFB7-4A4A-AA24-112F391EB6A8}">
      <dgm:prSet/>
      <dgm:spPr/>
      <dgm:t>
        <a:bodyPr/>
        <a:lstStyle/>
        <a:p>
          <a:endParaRPr lang="en-IN"/>
        </a:p>
      </dgm:t>
    </dgm:pt>
    <dgm:pt modelId="{499C2AEA-EF56-4580-BFC8-743BF4B5DD0A}" type="sibTrans" cxnId="{47CC9F9E-BFB7-4A4A-AA24-112F391EB6A8}">
      <dgm:prSet/>
      <dgm:spPr/>
      <dgm:t>
        <a:bodyPr/>
        <a:lstStyle/>
        <a:p>
          <a:endParaRPr lang="en-IN"/>
        </a:p>
      </dgm:t>
    </dgm:pt>
    <dgm:pt modelId="{C7FEF082-EE2F-4AEF-BBA8-7569B41A5E34}">
      <dgm:prSet/>
      <dgm:spPr/>
      <dgm:t>
        <a:bodyPr/>
        <a:lstStyle/>
        <a:p>
          <a:r>
            <a:rPr lang="en-IN"/>
            <a:t>Summarize data: What is typical? How much variation?</a:t>
          </a:r>
        </a:p>
      </dgm:t>
    </dgm:pt>
    <dgm:pt modelId="{9FE4D83D-F2B9-4E76-87A9-3630FF765B74}" type="parTrans" cxnId="{6A0E04F2-F96F-474E-9B99-A3BEC976EDB3}">
      <dgm:prSet/>
      <dgm:spPr/>
      <dgm:t>
        <a:bodyPr/>
        <a:lstStyle/>
        <a:p>
          <a:endParaRPr lang="en-IN"/>
        </a:p>
      </dgm:t>
    </dgm:pt>
    <dgm:pt modelId="{08D28209-79FA-4E86-902D-EB977F61D79D}" type="sibTrans" cxnId="{6A0E04F2-F96F-474E-9B99-A3BEC976EDB3}">
      <dgm:prSet/>
      <dgm:spPr/>
      <dgm:t>
        <a:bodyPr/>
        <a:lstStyle/>
        <a:p>
          <a:endParaRPr lang="en-IN"/>
        </a:p>
      </dgm:t>
    </dgm:pt>
    <dgm:pt modelId="{6E3E0D2A-9A48-4596-AD45-E36342D33AF4}">
      <dgm:prSet/>
      <dgm:spPr/>
      <dgm:t>
        <a:bodyPr/>
        <a:lstStyle/>
        <a:p>
          <a:r>
            <a:rPr lang="en-IN"/>
            <a:t>Understand relationships between variables</a:t>
          </a:r>
        </a:p>
      </dgm:t>
    </dgm:pt>
    <dgm:pt modelId="{BCAEF590-F50C-4E13-9786-EBB3F6892CC5}" type="parTrans" cxnId="{C5193AF2-1819-4B45-B617-3E95DF045BB4}">
      <dgm:prSet/>
      <dgm:spPr/>
      <dgm:t>
        <a:bodyPr/>
        <a:lstStyle/>
        <a:p>
          <a:endParaRPr lang="en-IN"/>
        </a:p>
      </dgm:t>
    </dgm:pt>
    <dgm:pt modelId="{9653AC1B-BB6D-4698-BA1B-271DCE96CAFA}" type="sibTrans" cxnId="{C5193AF2-1819-4B45-B617-3E95DF045BB4}">
      <dgm:prSet/>
      <dgm:spPr/>
      <dgm:t>
        <a:bodyPr/>
        <a:lstStyle/>
        <a:p>
          <a:endParaRPr lang="en-IN"/>
        </a:p>
      </dgm:t>
    </dgm:pt>
    <dgm:pt modelId="{10DAD0AA-FB84-435D-8B1D-F13E24889E03}">
      <dgm:prSet/>
      <dgm:spPr/>
      <dgm:t>
        <a:bodyPr/>
        <a:lstStyle/>
        <a:p>
          <a:r>
            <a:rPr lang="en-IN"/>
            <a:t>Make decisions under uncertainty using samples</a:t>
          </a:r>
        </a:p>
      </dgm:t>
    </dgm:pt>
    <dgm:pt modelId="{452DBCDC-F59D-49D8-A6F3-24BE6DA8C2EB}" type="parTrans" cxnId="{94C8D522-F79D-41A0-A2AE-6883A9F06EFE}">
      <dgm:prSet/>
      <dgm:spPr/>
      <dgm:t>
        <a:bodyPr/>
        <a:lstStyle/>
        <a:p>
          <a:endParaRPr lang="en-IN"/>
        </a:p>
      </dgm:t>
    </dgm:pt>
    <dgm:pt modelId="{BAA5B1BA-CC04-4C4C-85DE-C57EF659E666}" type="sibTrans" cxnId="{94C8D522-F79D-41A0-A2AE-6883A9F06EFE}">
      <dgm:prSet/>
      <dgm:spPr/>
      <dgm:t>
        <a:bodyPr/>
        <a:lstStyle/>
        <a:p>
          <a:endParaRPr lang="en-IN"/>
        </a:p>
      </dgm:t>
    </dgm:pt>
    <dgm:pt modelId="{C818DA6E-2D20-46A0-A9B8-C2591085B67A}">
      <dgm:prSet/>
      <dgm:spPr/>
      <dgm:t>
        <a:bodyPr/>
        <a:lstStyle/>
        <a:p>
          <a:r>
            <a:rPr lang="en-IN"/>
            <a:t>Foundation for ML models: feature understanding, assumptions, evaluation</a:t>
          </a:r>
        </a:p>
      </dgm:t>
    </dgm:pt>
    <dgm:pt modelId="{F353A371-645D-471E-93A5-EB6E95FE5AC1}" type="parTrans" cxnId="{64291736-6F9D-41B3-A8C5-D7AA8B257B9E}">
      <dgm:prSet/>
      <dgm:spPr/>
      <dgm:t>
        <a:bodyPr/>
        <a:lstStyle/>
        <a:p>
          <a:endParaRPr lang="en-IN"/>
        </a:p>
      </dgm:t>
    </dgm:pt>
    <dgm:pt modelId="{53348577-9809-418E-B85A-784B9C451F99}" type="sibTrans" cxnId="{64291736-6F9D-41B3-A8C5-D7AA8B257B9E}">
      <dgm:prSet/>
      <dgm:spPr/>
      <dgm:t>
        <a:bodyPr/>
        <a:lstStyle/>
        <a:p>
          <a:endParaRPr lang="en-IN"/>
        </a:p>
      </dgm:t>
    </dgm:pt>
    <dgm:pt modelId="{54CF88CF-592D-458A-B219-C2B03A706773}" type="pres">
      <dgm:prSet presAssocID="{B45A8CCA-457D-4A53-A9A2-F393C129BE6E}" presName="linearFlow" presStyleCnt="0">
        <dgm:presLayoutVars>
          <dgm:dir/>
          <dgm:resizeHandles val="exact"/>
        </dgm:presLayoutVars>
      </dgm:prSet>
      <dgm:spPr/>
    </dgm:pt>
    <dgm:pt modelId="{35049989-6E38-4B63-8B51-27E95E5F3A9F}" type="pres">
      <dgm:prSet presAssocID="{8E8BA077-2D04-4351-8CE7-19F18D25B4B1}" presName="composite" presStyleCnt="0"/>
      <dgm:spPr/>
    </dgm:pt>
    <dgm:pt modelId="{BA414971-EC80-4107-90B4-E59E72F7A0EC}" type="pres">
      <dgm:prSet presAssocID="{8E8BA077-2D04-4351-8CE7-19F18D25B4B1}" presName="imgShp" presStyleLbl="fgImgPlace1" presStyleIdx="0" presStyleCnt="5"/>
      <dgm:spPr>
        <a:blipFill>
          <a:blip xmlns:r="http://schemas.openxmlformats.org/officeDocument/2006/relationships" r:embed="rId1"/>
          <a:srcRect/>
          <a:stretch>
            <a:fillRect l="-23000" r="-23000"/>
          </a:stretch>
        </a:blipFill>
      </dgm:spPr>
    </dgm:pt>
    <dgm:pt modelId="{A922257A-A3FF-4ABD-B0C2-C719B4A52D5B}" type="pres">
      <dgm:prSet presAssocID="{8E8BA077-2D04-4351-8CE7-19F18D25B4B1}" presName="txShp" presStyleLbl="node1" presStyleIdx="0" presStyleCnt="5">
        <dgm:presLayoutVars>
          <dgm:bulletEnabled val="1"/>
        </dgm:presLayoutVars>
      </dgm:prSet>
      <dgm:spPr/>
    </dgm:pt>
    <dgm:pt modelId="{F530FF3F-6FB9-4E42-BBA2-4B243D2E18A1}" type="pres">
      <dgm:prSet presAssocID="{499C2AEA-EF56-4580-BFC8-743BF4B5DD0A}" presName="spacing" presStyleCnt="0"/>
      <dgm:spPr/>
    </dgm:pt>
    <dgm:pt modelId="{8BDFA758-D9AD-4134-B7A5-DCB09255E5FB}" type="pres">
      <dgm:prSet presAssocID="{C7FEF082-EE2F-4AEF-BBA8-7569B41A5E34}" presName="composite" presStyleCnt="0"/>
      <dgm:spPr/>
    </dgm:pt>
    <dgm:pt modelId="{0F23E00C-960B-400C-9131-04BC8C4E2DAC}" type="pres">
      <dgm:prSet presAssocID="{C7FEF082-EE2F-4AEF-BBA8-7569B41A5E34}" presName="imgShp" presStyleLbl="fgImgPlace1" presStyleIdx="1" presStyleCnt="5"/>
      <dgm:spPr>
        <a:blipFill>
          <a:blip xmlns:r="http://schemas.openxmlformats.org/officeDocument/2006/relationships" r:embed="rId2"/>
          <a:srcRect/>
          <a:stretch>
            <a:fillRect l="-16000" r="-16000"/>
          </a:stretch>
        </a:blipFill>
      </dgm:spPr>
    </dgm:pt>
    <dgm:pt modelId="{A25513C7-3A63-4A57-995C-4D60C689CF85}" type="pres">
      <dgm:prSet presAssocID="{C7FEF082-EE2F-4AEF-BBA8-7569B41A5E34}" presName="txShp" presStyleLbl="node1" presStyleIdx="1" presStyleCnt="5">
        <dgm:presLayoutVars>
          <dgm:bulletEnabled val="1"/>
        </dgm:presLayoutVars>
      </dgm:prSet>
      <dgm:spPr/>
    </dgm:pt>
    <dgm:pt modelId="{1052EEE2-A960-4E92-B344-E9F82D8912F1}" type="pres">
      <dgm:prSet presAssocID="{08D28209-79FA-4E86-902D-EB977F61D79D}" presName="spacing" presStyleCnt="0"/>
      <dgm:spPr/>
    </dgm:pt>
    <dgm:pt modelId="{014D2F45-B086-4FAE-B3B2-F76D4D1202CB}" type="pres">
      <dgm:prSet presAssocID="{6E3E0D2A-9A48-4596-AD45-E36342D33AF4}" presName="composite" presStyleCnt="0"/>
      <dgm:spPr/>
    </dgm:pt>
    <dgm:pt modelId="{62F8E136-7F77-4F35-8BBF-B7F064B250FF}" type="pres">
      <dgm:prSet presAssocID="{6E3E0D2A-9A48-4596-AD45-E36342D33AF4}" presName="imgShp" presStyleLbl="fgImgPlace1" presStyleIdx="2" presStyleCnt="5"/>
      <dgm:spPr>
        <a:blipFill>
          <a:blip xmlns:r="http://schemas.openxmlformats.org/officeDocument/2006/relationships" r:embed="rId3"/>
          <a:srcRect/>
          <a:stretch>
            <a:fillRect l="-14000" r="-14000"/>
          </a:stretch>
        </a:blipFill>
      </dgm:spPr>
    </dgm:pt>
    <dgm:pt modelId="{6BFBAD2E-3BA8-451E-AEF0-44C95BF40AEE}" type="pres">
      <dgm:prSet presAssocID="{6E3E0D2A-9A48-4596-AD45-E36342D33AF4}" presName="txShp" presStyleLbl="node1" presStyleIdx="2" presStyleCnt="5">
        <dgm:presLayoutVars>
          <dgm:bulletEnabled val="1"/>
        </dgm:presLayoutVars>
      </dgm:prSet>
      <dgm:spPr/>
    </dgm:pt>
    <dgm:pt modelId="{5DF5643E-5014-46A1-996D-5F65A7773991}" type="pres">
      <dgm:prSet presAssocID="{9653AC1B-BB6D-4698-BA1B-271DCE96CAFA}" presName="spacing" presStyleCnt="0"/>
      <dgm:spPr/>
    </dgm:pt>
    <dgm:pt modelId="{2BD84E15-85A7-4EA0-BE0C-15CACDB71030}" type="pres">
      <dgm:prSet presAssocID="{10DAD0AA-FB84-435D-8B1D-F13E24889E03}" presName="composite" presStyleCnt="0"/>
      <dgm:spPr/>
    </dgm:pt>
    <dgm:pt modelId="{D1C2E5DD-27B8-4851-B77B-AC0EF01C3919}" type="pres">
      <dgm:prSet presAssocID="{10DAD0AA-FB84-435D-8B1D-F13E24889E03}" presName="imgShp" presStyleLbl="fgImgPlace1" presStyleIdx="3" presStyleCnt="5"/>
      <dgm:spPr>
        <a:blipFill>
          <a:blip xmlns:r="http://schemas.openxmlformats.org/officeDocument/2006/relationships" r:embed="rId4"/>
          <a:srcRect/>
          <a:stretch>
            <a:fillRect l="-26000" r="-26000"/>
          </a:stretch>
        </a:blipFill>
      </dgm:spPr>
    </dgm:pt>
    <dgm:pt modelId="{C326F1C4-05C9-47AC-9167-E314EC025C97}" type="pres">
      <dgm:prSet presAssocID="{10DAD0AA-FB84-435D-8B1D-F13E24889E03}" presName="txShp" presStyleLbl="node1" presStyleIdx="3" presStyleCnt="5">
        <dgm:presLayoutVars>
          <dgm:bulletEnabled val="1"/>
        </dgm:presLayoutVars>
      </dgm:prSet>
      <dgm:spPr/>
    </dgm:pt>
    <dgm:pt modelId="{16753CC8-BDF4-461F-B0D9-660253C332B7}" type="pres">
      <dgm:prSet presAssocID="{BAA5B1BA-CC04-4C4C-85DE-C57EF659E666}" presName="spacing" presStyleCnt="0"/>
      <dgm:spPr/>
    </dgm:pt>
    <dgm:pt modelId="{4531F88F-F786-4F6E-A474-B700867B4492}" type="pres">
      <dgm:prSet presAssocID="{C818DA6E-2D20-46A0-A9B8-C2591085B67A}" presName="composite" presStyleCnt="0"/>
      <dgm:spPr/>
    </dgm:pt>
    <dgm:pt modelId="{8DB8583B-99D9-4BEC-B95C-A1D35377F8A5}" type="pres">
      <dgm:prSet presAssocID="{C818DA6E-2D20-46A0-A9B8-C2591085B67A}" presName="imgShp" presStyleLbl="fgImgPlace1" presStyleIdx="4" presStyleCnt="5"/>
      <dgm:spPr>
        <a:blipFill>
          <a:blip xmlns:r="http://schemas.openxmlformats.org/officeDocument/2006/relationships" r:embed="rId5"/>
          <a:srcRect/>
          <a:stretch>
            <a:fillRect l="-56000" r="-56000"/>
          </a:stretch>
        </a:blipFill>
      </dgm:spPr>
    </dgm:pt>
    <dgm:pt modelId="{02EADA74-ABCF-4123-B26C-5DDAA635637D}" type="pres">
      <dgm:prSet presAssocID="{C818DA6E-2D20-46A0-A9B8-C2591085B67A}" presName="txShp" presStyleLbl="node1" presStyleIdx="4" presStyleCnt="5">
        <dgm:presLayoutVars>
          <dgm:bulletEnabled val="1"/>
        </dgm:presLayoutVars>
      </dgm:prSet>
      <dgm:spPr/>
    </dgm:pt>
  </dgm:ptLst>
  <dgm:cxnLst>
    <dgm:cxn modelId="{94C8D522-F79D-41A0-A2AE-6883A9F06EFE}" srcId="{B45A8CCA-457D-4A53-A9A2-F393C129BE6E}" destId="{10DAD0AA-FB84-435D-8B1D-F13E24889E03}" srcOrd="3" destOrd="0" parTransId="{452DBCDC-F59D-49D8-A6F3-24BE6DA8C2EB}" sibTransId="{BAA5B1BA-CC04-4C4C-85DE-C57EF659E666}"/>
    <dgm:cxn modelId="{64291736-6F9D-41B3-A8C5-D7AA8B257B9E}" srcId="{B45A8CCA-457D-4A53-A9A2-F393C129BE6E}" destId="{C818DA6E-2D20-46A0-A9B8-C2591085B67A}" srcOrd="4" destOrd="0" parTransId="{F353A371-645D-471E-93A5-EB6E95FE5AC1}" sibTransId="{53348577-9809-418E-B85A-784B9C451F99}"/>
    <dgm:cxn modelId="{28E7D23B-E16D-4BA1-8E97-D891777D0023}" type="presOf" srcId="{6E3E0D2A-9A48-4596-AD45-E36342D33AF4}" destId="{6BFBAD2E-3BA8-451E-AEF0-44C95BF40AEE}" srcOrd="0" destOrd="0" presId="urn:microsoft.com/office/officeart/2005/8/layout/vList3"/>
    <dgm:cxn modelId="{D48C1874-D063-4B9B-B575-41FA97B24C26}" type="presOf" srcId="{8E8BA077-2D04-4351-8CE7-19F18D25B4B1}" destId="{A922257A-A3FF-4ABD-B0C2-C719B4A52D5B}" srcOrd="0" destOrd="0" presId="urn:microsoft.com/office/officeart/2005/8/layout/vList3"/>
    <dgm:cxn modelId="{F05FC756-5E1A-4B11-BCC6-500B8070A855}" type="presOf" srcId="{C7FEF082-EE2F-4AEF-BBA8-7569B41A5E34}" destId="{A25513C7-3A63-4A57-995C-4D60C689CF85}" srcOrd="0" destOrd="0" presId="urn:microsoft.com/office/officeart/2005/8/layout/vList3"/>
    <dgm:cxn modelId="{5175B994-5A08-48AB-95D1-CA6FBCBA579C}" type="presOf" srcId="{10DAD0AA-FB84-435D-8B1D-F13E24889E03}" destId="{C326F1C4-05C9-47AC-9167-E314EC025C97}" srcOrd="0" destOrd="0" presId="urn:microsoft.com/office/officeart/2005/8/layout/vList3"/>
    <dgm:cxn modelId="{D7160C9A-DF78-4D69-84BA-2A12C0B14A39}" type="presOf" srcId="{B45A8CCA-457D-4A53-A9A2-F393C129BE6E}" destId="{54CF88CF-592D-458A-B219-C2B03A706773}" srcOrd="0" destOrd="0" presId="urn:microsoft.com/office/officeart/2005/8/layout/vList3"/>
    <dgm:cxn modelId="{47CC9F9E-BFB7-4A4A-AA24-112F391EB6A8}" srcId="{B45A8CCA-457D-4A53-A9A2-F393C129BE6E}" destId="{8E8BA077-2D04-4351-8CE7-19F18D25B4B1}" srcOrd="0" destOrd="0" parTransId="{0B80D567-C41B-402D-8302-ECA1012804AA}" sibTransId="{499C2AEA-EF56-4580-BFC8-743BF4B5DD0A}"/>
    <dgm:cxn modelId="{6A0E04F2-F96F-474E-9B99-A3BEC976EDB3}" srcId="{B45A8CCA-457D-4A53-A9A2-F393C129BE6E}" destId="{C7FEF082-EE2F-4AEF-BBA8-7569B41A5E34}" srcOrd="1" destOrd="0" parTransId="{9FE4D83D-F2B9-4E76-87A9-3630FF765B74}" sibTransId="{08D28209-79FA-4E86-902D-EB977F61D79D}"/>
    <dgm:cxn modelId="{C5193AF2-1819-4B45-B617-3E95DF045BB4}" srcId="{B45A8CCA-457D-4A53-A9A2-F393C129BE6E}" destId="{6E3E0D2A-9A48-4596-AD45-E36342D33AF4}" srcOrd="2" destOrd="0" parTransId="{BCAEF590-F50C-4E13-9786-EBB3F6892CC5}" sibTransId="{9653AC1B-BB6D-4698-BA1B-271DCE96CAFA}"/>
    <dgm:cxn modelId="{481381FC-3235-4C38-9A44-6BAA703AF1CD}" type="presOf" srcId="{C818DA6E-2D20-46A0-A9B8-C2591085B67A}" destId="{02EADA74-ABCF-4123-B26C-5DDAA635637D}" srcOrd="0" destOrd="0" presId="urn:microsoft.com/office/officeart/2005/8/layout/vList3"/>
    <dgm:cxn modelId="{B2EA57D1-3DB0-48A1-836F-2E6F91FEE271}" type="presParOf" srcId="{54CF88CF-592D-458A-B219-C2B03A706773}" destId="{35049989-6E38-4B63-8B51-27E95E5F3A9F}" srcOrd="0" destOrd="0" presId="urn:microsoft.com/office/officeart/2005/8/layout/vList3"/>
    <dgm:cxn modelId="{80540920-737A-46CE-904D-078DE0D2A38A}" type="presParOf" srcId="{35049989-6E38-4B63-8B51-27E95E5F3A9F}" destId="{BA414971-EC80-4107-90B4-E59E72F7A0EC}" srcOrd="0" destOrd="0" presId="urn:microsoft.com/office/officeart/2005/8/layout/vList3"/>
    <dgm:cxn modelId="{B8439E17-D30C-46FA-AB34-D1EEEBA689EF}" type="presParOf" srcId="{35049989-6E38-4B63-8B51-27E95E5F3A9F}" destId="{A922257A-A3FF-4ABD-B0C2-C719B4A52D5B}" srcOrd="1" destOrd="0" presId="urn:microsoft.com/office/officeart/2005/8/layout/vList3"/>
    <dgm:cxn modelId="{5A4523F1-7967-44D1-BE8B-6FFD98C11C2C}" type="presParOf" srcId="{54CF88CF-592D-458A-B219-C2B03A706773}" destId="{F530FF3F-6FB9-4E42-BBA2-4B243D2E18A1}" srcOrd="1" destOrd="0" presId="urn:microsoft.com/office/officeart/2005/8/layout/vList3"/>
    <dgm:cxn modelId="{EFE0F047-8D2D-40CC-9D08-1369716C92B8}" type="presParOf" srcId="{54CF88CF-592D-458A-B219-C2B03A706773}" destId="{8BDFA758-D9AD-4134-B7A5-DCB09255E5FB}" srcOrd="2" destOrd="0" presId="urn:microsoft.com/office/officeart/2005/8/layout/vList3"/>
    <dgm:cxn modelId="{C75716F5-B403-478B-9BF9-BA40CFCA3838}" type="presParOf" srcId="{8BDFA758-D9AD-4134-B7A5-DCB09255E5FB}" destId="{0F23E00C-960B-400C-9131-04BC8C4E2DAC}" srcOrd="0" destOrd="0" presId="urn:microsoft.com/office/officeart/2005/8/layout/vList3"/>
    <dgm:cxn modelId="{7EBABDF1-9347-469B-B57A-F8F8959B9385}" type="presParOf" srcId="{8BDFA758-D9AD-4134-B7A5-DCB09255E5FB}" destId="{A25513C7-3A63-4A57-995C-4D60C689CF85}" srcOrd="1" destOrd="0" presId="urn:microsoft.com/office/officeart/2005/8/layout/vList3"/>
    <dgm:cxn modelId="{D327A1E5-7620-404C-83FF-456D373639F6}" type="presParOf" srcId="{54CF88CF-592D-458A-B219-C2B03A706773}" destId="{1052EEE2-A960-4E92-B344-E9F82D8912F1}" srcOrd="3" destOrd="0" presId="urn:microsoft.com/office/officeart/2005/8/layout/vList3"/>
    <dgm:cxn modelId="{4F214505-9669-4322-8EC0-AAF80826C0E9}" type="presParOf" srcId="{54CF88CF-592D-458A-B219-C2B03A706773}" destId="{014D2F45-B086-4FAE-B3B2-F76D4D1202CB}" srcOrd="4" destOrd="0" presId="urn:microsoft.com/office/officeart/2005/8/layout/vList3"/>
    <dgm:cxn modelId="{CDA14628-E59A-44B3-AD21-1188A165FA71}" type="presParOf" srcId="{014D2F45-B086-4FAE-B3B2-F76D4D1202CB}" destId="{62F8E136-7F77-4F35-8BBF-B7F064B250FF}" srcOrd="0" destOrd="0" presId="urn:microsoft.com/office/officeart/2005/8/layout/vList3"/>
    <dgm:cxn modelId="{58D66157-58AE-4310-9DD8-6303144B841D}" type="presParOf" srcId="{014D2F45-B086-4FAE-B3B2-F76D4D1202CB}" destId="{6BFBAD2E-3BA8-451E-AEF0-44C95BF40AEE}" srcOrd="1" destOrd="0" presId="urn:microsoft.com/office/officeart/2005/8/layout/vList3"/>
    <dgm:cxn modelId="{8FCAA79A-43C9-46B9-9655-5BEF48B4D0A4}" type="presParOf" srcId="{54CF88CF-592D-458A-B219-C2B03A706773}" destId="{5DF5643E-5014-46A1-996D-5F65A7773991}" srcOrd="5" destOrd="0" presId="urn:microsoft.com/office/officeart/2005/8/layout/vList3"/>
    <dgm:cxn modelId="{68B1023A-E7E4-4EDC-8C0F-097675021F0A}" type="presParOf" srcId="{54CF88CF-592D-458A-B219-C2B03A706773}" destId="{2BD84E15-85A7-4EA0-BE0C-15CACDB71030}" srcOrd="6" destOrd="0" presId="urn:microsoft.com/office/officeart/2005/8/layout/vList3"/>
    <dgm:cxn modelId="{1DAF4012-2F7D-4EED-A6C7-AF30ABE12CF7}" type="presParOf" srcId="{2BD84E15-85A7-4EA0-BE0C-15CACDB71030}" destId="{D1C2E5DD-27B8-4851-B77B-AC0EF01C3919}" srcOrd="0" destOrd="0" presId="urn:microsoft.com/office/officeart/2005/8/layout/vList3"/>
    <dgm:cxn modelId="{35DD7D67-CA24-4671-8C0C-AB5B604BD340}" type="presParOf" srcId="{2BD84E15-85A7-4EA0-BE0C-15CACDB71030}" destId="{C326F1C4-05C9-47AC-9167-E314EC025C97}" srcOrd="1" destOrd="0" presId="urn:microsoft.com/office/officeart/2005/8/layout/vList3"/>
    <dgm:cxn modelId="{BE400BAB-523B-418B-AC01-884B5CC26C9B}" type="presParOf" srcId="{54CF88CF-592D-458A-B219-C2B03A706773}" destId="{16753CC8-BDF4-461F-B0D9-660253C332B7}" srcOrd="7" destOrd="0" presId="urn:microsoft.com/office/officeart/2005/8/layout/vList3"/>
    <dgm:cxn modelId="{CC0D1C59-1828-4F2E-BFE6-2334CEBE5C1B}" type="presParOf" srcId="{54CF88CF-592D-458A-B219-C2B03A706773}" destId="{4531F88F-F786-4F6E-A474-B700867B4492}" srcOrd="8" destOrd="0" presId="urn:microsoft.com/office/officeart/2005/8/layout/vList3"/>
    <dgm:cxn modelId="{A53B9F0F-84B4-4AF0-BECF-790460437F78}" type="presParOf" srcId="{4531F88F-F786-4F6E-A474-B700867B4492}" destId="{8DB8583B-99D9-4BEC-B95C-A1D35377F8A5}" srcOrd="0" destOrd="0" presId="urn:microsoft.com/office/officeart/2005/8/layout/vList3"/>
    <dgm:cxn modelId="{00287079-7171-40A5-90BD-96254D0F88BA}" type="presParOf" srcId="{4531F88F-F786-4F6E-A474-B700867B4492}" destId="{02EADA74-ABCF-4123-B26C-5DDAA635637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DF3FB6-CE91-45DB-97E6-EA984EB81621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DE936FB-7697-49C5-BE39-99969DF36ED7}">
      <dgm:prSet/>
      <dgm:spPr/>
      <dgm:t>
        <a:bodyPr/>
        <a:lstStyle/>
        <a:p>
          <a:r>
            <a:rPr lang="en-IN"/>
            <a:t>Nominal: labels only, no order (e.g., Male/Female, City)</a:t>
          </a:r>
        </a:p>
      </dgm:t>
    </dgm:pt>
    <dgm:pt modelId="{28CCA62F-EFFA-46CD-A694-D7DBFBA6A50B}" type="parTrans" cxnId="{5D7C872C-BCB4-4E1C-8630-D2521BA8E98A}">
      <dgm:prSet/>
      <dgm:spPr/>
      <dgm:t>
        <a:bodyPr/>
        <a:lstStyle/>
        <a:p>
          <a:endParaRPr lang="en-IN"/>
        </a:p>
      </dgm:t>
    </dgm:pt>
    <dgm:pt modelId="{4A14FF3E-8D21-437B-BB3A-807763A77E13}" type="sibTrans" cxnId="{5D7C872C-BCB4-4E1C-8630-D2521BA8E98A}">
      <dgm:prSet/>
      <dgm:spPr/>
      <dgm:t>
        <a:bodyPr/>
        <a:lstStyle/>
        <a:p>
          <a:endParaRPr lang="en-IN"/>
        </a:p>
      </dgm:t>
    </dgm:pt>
    <dgm:pt modelId="{5454CDB1-D655-4B6A-B14A-1B3A377CF631}">
      <dgm:prSet/>
      <dgm:spPr/>
      <dgm:t>
        <a:bodyPr/>
        <a:lstStyle/>
        <a:p>
          <a:r>
            <a:rPr lang="en-IN"/>
            <a:t>Ordinal: order exists, gaps unknown (e.g., 1st, 2nd, 3rd rank)</a:t>
          </a:r>
        </a:p>
      </dgm:t>
    </dgm:pt>
    <dgm:pt modelId="{E5DCD083-2886-499C-840B-D861F5A44A34}" type="parTrans" cxnId="{62E36F76-F960-4A50-9C9A-684F8037388D}">
      <dgm:prSet/>
      <dgm:spPr/>
      <dgm:t>
        <a:bodyPr/>
        <a:lstStyle/>
        <a:p>
          <a:endParaRPr lang="en-IN"/>
        </a:p>
      </dgm:t>
    </dgm:pt>
    <dgm:pt modelId="{B38FDDEC-9968-4B00-947F-74E14EED4206}" type="sibTrans" cxnId="{62E36F76-F960-4A50-9C9A-684F8037388D}">
      <dgm:prSet/>
      <dgm:spPr/>
      <dgm:t>
        <a:bodyPr/>
        <a:lstStyle/>
        <a:p>
          <a:endParaRPr lang="en-IN"/>
        </a:p>
      </dgm:t>
    </dgm:pt>
    <dgm:pt modelId="{09F8CA64-DC84-49CE-9EA5-FC9733E1382F}">
      <dgm:prSet/>
      <dgm:spPr/>
      <dgm:t>
        <a:bodyPr/>
        <a:lstStyle/>
        <a:p>
          <a:r>
            <a:rPr lang="en-IN"/>
            <a:t>Interval: numeric, equal intervals, no true zero (e.g., °C temperature)</a:t>
          </a:r>
        </a:p>
      </dgm:t>
    </dgm:pt>
    <dgm:pt modelId="{9CB15352-2C1F-44E4-B8B1-1E93D799BD4B}" type="parTrans" cxnId="{C6CAA7C6-60BF-4D2E-A884-707EA45718D6}">
      <dgm:prSet/>
      <dgm:spPr/>
      <dgm:t>
        <a:bodyPr/>
        <a:lstStyle/>
        <a:p>
          <a:endParaRPr lang="en-IN"/>
        </a:p>
      </dgm:t>
    </dgm:pt>
    <dgm:pt modelId="{288AB5A6-1224-40BD-A29C-5E29C68EAC2E}" type="sibTrans" cxnId="{C6CAA7C6-60BF-4D2E-A884-707EA45718D6}">
      <dgm:prSet/>
      <dgm:spPr/>
      <dgm:t>
        <a:bodyPr/>
        <a:lstStyle/>
        <a:p>
          <a:endParaRPr lang="en-IN"/>
        </a:p>
      </dgm:t>
    </dgm:pt>
    <dgm:pt modelId="{8451E914-F5FD-47D3-A95B-55B0EC14F696}">
      <dgm:prSet/>
      <dgm:spPr/>
      <dgm:t>
        <a:bodyPr/>
        <a:lstStyle/>
        <a:p>
          <a:r>
            <a:rPr lang="en-IN"/>
            <a:t>Ratio: numeric, equal intervals, true zero (e.g., height, weight, sales)</a:t>
          </a:r>
        </a:p>
      </dgm:t>
    </dgm:pt>
    <dgm:pt modelId="{EE29D056-B21A-422E-AEA7-A907C7EDE0CD}" type="parTrans" cxnId="{AD5A3DC5-690F-4661-AA1F-11AA43ED5CBA}">
      <dgm:prSet/>
      <dgm:spPr/>
      <dgm:t>
        <a:bodyPr/>
        <a:lstStyle/>
        <a:p>
          <a:endParaRPr lang="en-IN"/>
        </a:p>
      </dgm:t>
    </dgm:pt>
    <dgm:pt modelId="{2670AECD-112D-4C98-AF2C-6E80FF1D59BA}" type="sibTrans" cxnId="{AD5A3DC5-690F-4661-AA1F-11AA43ED5CBA}">
      <dgm:prSet/>
      <dgm:spPr/>
      <dgm:t>
        <a:bodyPr/>
        <a:lstStyle/>
        <a:p>
          <a:endParaRPr lang="en-IN"/>
        </a:p>
      </dgm:t>
    </dgm:pt>
    <dgm:pt modelId="{5928EF60-880D-4E72-8F27-D796C68D1CA1}" type="pres">
      <dgm:prSet presAssocID="{67DF3FB6-CE91-45DB-97E6-EA984EB81621}" presName="Name0" presStyleCnt="0">
        <dgm:presLayoutVars>
          <dgm:dir/>
          <dgm:animLvl val="lvl"/>
          <dgm:resizeHandles val="exact"/>
        </dgm:presLayoutVars>
      </dgm:prSet>
      <dgm:spPr/>
    </dgm:pt>
    <dgm:pt modelId="{AEB9A0D5-6DFD-426E-A447-21F1501C5641}" type="pres">
      <dgm:prSet presAssocID="{1DE936FB-7697-49C5-BE39-99969DF36ED7}" presName="linNode" presStyleCnt="0"/>
      <dgm:spPr/>
    </dgm:pt>
    <dgm:pt modelId="{ECF84E1E-4CB7-4595-88CA-D96B6AD8A8B1}" type="pres">
      <dgm:prSet presAssocID="{1DE936FB-7697-49C5-BE39-99969DF36ED7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D948378A-2B09-49D9-B871-9BF7C3D54E18}" type="pres">
      <dgm:prSet presAssocID="{4A14FF3E-8D21-437B-BB3A-807763A77E13}" presName="sp" presStyleCnt="0"/>
      <dgm:spPr/>
    </dgm:pt>
    <dgm:pt modelId="{F7B1991F-9D1D-49F2-B59A-C782506C08C7}" type="pres">
      <dgm:prSet presAssocID="{5454CDB1-D655-4B6A-B14A-1B3A377CF631}" presName="linNode" presStyleCnt="0"/>
      <dgm:spPr/>
    </dgm:pt>
    <dgm:pt modelId="{10B4B5DB-0735-4C8B-9FF4-1E0CA5923506}" type="pres">
      <dgm:prSet presAssocID="{5454CDB1-D655-4B6A-B14A-1B3A377CF631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2177F2FF-8238-4F87-8744-D03BB61F6666}" type="pres">
      <dgm:prSet presAssocID="{B38FDDEC-9968-4B00-947F-74E14EED4206}" presName="sp" presStyleCnt="0"/>
      <dgm:spPr/>
    </dgm:pt>
    <dgm:pt modelId="{365DDDD1-8F46-43EA-A3E1-464EFB8FD8D2}" type="pres">
      <dgm:prSet presAssocID="{09F8CA64-DC84-49CE-9EA5-FC9733E1382F}" presName="linNode" presStyleCnt="0"/>
      <dgm:spPr/>
    </dgm:pt>
    <dgm:pt modelId="{C1D6E096-A0AF-4BDC-B7D1-B0795292A2A1}" type="pres">
      <dgm:prSet presAssocID="{09F8CA64-DC84-49CE-9EA5-FC9733E1382F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F45C1C3B-F73D-4DA7-AC15-9DCD3FD02C3F}" type="pres">
      <dgm:prSet presAssocID="{288AB5A6-1224-40BD-A29C-5E29C68EAC2E}" presName="sp" presStyleCnt="0"/>
      <dgm:spPr/>
    </dgm:pt>
    <dgm:pt modelId="{1076461B-B5C8-4C13-ACD9-02883E842C72}" type="pres">
      <dgm:prSet presAssocID="{8451E914-F5FD-47D3-A95B-55B0EC14F696}" presName="linNode" presStyleCnt="0"/>
      <dgm:spPr/>
    </dgm:pt>
    <dgm:pt modelId="{8B42D8DD-51CB-4E4F-9A47-125A0671DA98}" type="pres">
      <dgm:prSet presAssocID="{8451E914-F5FD-47D3-A95B-55B0EC14F696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6F352325-7D62-45C0-BCF9-AA2EBF6B79A0}" type="presOf" srcId="{67DF3FB6-CE91-45DB-97E6-EA984EB81621}" destId="{5928EF60-880D-4E72-8F27-D796C68D1CA1}" srcOrd="0" destOrd="0" presId="urn:microsoft.com/office/officeart/2005/8/layout/vList5"/>
    <dgm:cxn modelId="{5D7C872C-BCB4-4E1C-8630-D2521BA8E98A}" srcId="{67DF3FB6-CE91-45DB-97E6-EA984EB81621}" destId="{1DE936FB-7697-49C5-BE39-99969DF36ED7}" srcOrd="0" destOrd="0" parTransId="{28CCA62F-EFFA-46CD-A694-D7DBFBA6A50B}" sibTransId="{4A14FF3E-8D21-437B-BB3A-807763A77E13}"/>
    <dgm:cxn modelId="{5AB78E72-9E19-4261-AAFD-61FB3574CDA4}" type="presOf" srcId="{1DE936FB-7697-49C5-BE39-99969DF36ED7}" destId="{ECF84E1E-4CB7-4595-88CA-D96B6AD8A8B1}" srcOrd="0" destOrd="0" presId="urn:microsoft.com/office/officeart/2005/8/layout/vList5"/>
    <dgm:cxn modelId="{62E36F76-F960-4A50-9C9A-684F8037388D}" srcId="{67DF3FB6-CE91-45DB-97E6-EA984EB81621}" destId="{5454CDB1-D655-4B6A-B14A-1B3A377CF631}" srcOrd="1" destOrd="0" parTransId="{E5DCD083-2886-499C-840B-D861F5A44A34}" sibTransId="{B38FDDEC-9968-4B00-947F-74E14EED4206}"/>
    <dgm:cxn modelId="{04D10297-341D-4794-BA59-D7AFC36B889A}" type="presOf" srcId="{5454CDB1-D655-4B6A-B14A-1B3A377CF631}" destId="{10B4B5DB-0735-4C8B-9FF4-1E0CA5923506}" srcOrd="0" destOrd="0" presId="urn:microsoft.com/office/officeart/2005/8/layout/vList5"/>
    <dgm:cxn modelId="{DA6595B0-ACAA-492B-BE34-85A7D681498E}" type="presOf" srcId="{09F8CA64-DC84-49CE-9EA5-FC9733E1382F}" destId="{C1D6E096-A0AF-4BDC-B7D1-B0795292A2A1}" srcOrd="0" destOrd="0" presId="urn:microsoft.com/office/officeart/2005/8/layout/vList5"/>
    <dgm:cxn modelId="{AD5A3DC5-690F-4661-AA1F-11AA43ED5CBA}" srcId="{67DF3FB6-CE91-45DB-97E6-EA984EB81621}" destId="{8451E914-F5FD-47D3-A95B-55B0EC14F696}" srcOrd="3" destOrd="0" parTransId="{EE29D056-B21A-422E-AEA7-A907C7EDE0CD}" sibTransId="{2670AECD-112D-4C98-AF2C-6E80FF1D59BA}"/>
    <dgm:cxn modelId="{C6CAA7C6-60BF-4D2E-A884-707EA45718D6}" srcId="{67DF3FB6-CE91-45DB-97E6-EA984EB81621}" destId="{09F8CA64-DC84-49CE-9EA5-FC9733E1382F}" srcOrd="2" destOrd="0" parTransId="{9CB15352-2C1F-44E4-B8B1-1E93D799BD4B}" sibTransId="{288AB5A6-1224-40BD-A29C-5E29C68EAC2E}"/>
    <dgm:cxn modelId="{6F9F64F4-064B-431A-B833-72EE7C54589C}" type="presOf" srcId="{8451E914-F5FD-47D3-A95B-55B0EC14F696}" destId="{8B42D8DD-51CB-4E4F-9A47-125A0671DA98}" srcOrd="0" destOrd="0" presId="urn:microsoft.com/office/officeart/2005/8/layout/vList5"/>
    <dgm:cxn modelId="{6C671912-EFD0-4C8B-99D2-13CDCFEBC7B5}" type="presParOf" srcId="{5928EF60-880D-4E72-8F27-D796C68D1CA1}" destId="{AEB9A0D5-6DFD-426E-A447-21F1501C5641}" srcOrd="0" destOrd="0" presId="urn:microsoft.com/office/officeart/2005/8/layout/vList5"/>
    <dgm:cxn modelId="{747D4D30-B262-483A-9099-F35E9C196B16}" type="presParOf" srcId="{AEB9A0D5-6DFD-426E-A447-21F1501C5641}" destId="{ECF84E1E-4CB7-4595-88CA-D96B6AD8A8B1}" srcOrd="0" destOrd="0" presId="urn:microsoft.com/office/officeart/2005/8/layout/vList5"/>
    <dgm:cxn modelId="{8CE34675-71B7-4A35-BAD4-56832DE3BF08}" type="presParOf" srcId="{5928EF60-880D-4E72-8F27-D796C68D1CA1}" destId="{D948378A-2B09-49D9-B871-9BF7C3D54E18}" srcOrd="1" destOrd="0" presId="urn:microsoft.com/office/officeart/2005/8/layout/vList5"/>
    <dgm:cxn modelId="{4F095AC0-B8F4-4804-BC45-6B9A2E1D2A3D}" type="presParOf" srcId="{5928EF60-880D-4E72-8F27-D796C68D1CA1}" destId="{F7B1991F-9D1D-49F2-B59A-C782506C08C7}" srcOrd="2" destOrd="0" presId="urn:microsoft.com/office/officeart/2005/8/layout/vList5"/>
    <dgm:cxn modelId="{B66E0222-C091-4C45-99A6-3138302D8EC8}" type="presParOf" srcId="{F7B1991F-9D1D-49F2-B59A-C782506C08C7}" destId="{10B4B5DB-0735-4C8B-9FF4-1E0CA5923506}" srcOrd="0" destOrd="0" presId="urn:microsoft.com/office/officeart/2005/8/layout/vList5"/>
    <dgm:cxn modelId="{B2D110F5-1E80-475D-B6AF-CF47793695E0}" type="presParOf" srcId="{5928EF60-880D-4E72-8F27-D796C68D1CA1}" destId="{2177F2FF-8238-4F87-8744-D03BB61F6666}" srcOrd="3" destOrd="0" presId="urn:microsoft.com/office/officeart/2005/8/layout/vList5"/>
    <dgm:cxn modelId="{89AC8FDD-62A4-49FA-A3D0-837BA0225B33}" type="presParOf" srcId="{5928EF60-880D-4E72-8F27-D796C68D1CA1}" destId="{365DDDD1-8F46-43EA-A3E1-464EFB8FD8D2}" srcOrd="4" destOrd="0" presId="urn:microsoft.com/office/officeart/2005/8/layout/vList5"/>
    <dgm:cxn modelId="{2A02DE10-5D9D-4296-8933-E04EF362C1E7}" type="presParOf" srcId="{365DDDD1-8F46-43EA-A3E1-464EFB8FD8D2}" destId="{C1D6E096-A0AF-4BDC-B7D1-B0795292A2A1}" srcOrd="0" destOrd="0" presId="urn:microsoft.com/office/officeart/2005/8/layout/vList5"/>
    <dgm:cxn modelId="{397EF1F6-9711-4AB7-8871-29D0AA7210B8}" type="presParOf" srcId="{5928EF60-880D-4E72-8F27-D796C68D1CA1}" destId="{F45C1C3B-F73D-4DA7-AC15-9DCD3FD02C3F}" srcOrd="5" destOrd="0" presId="urn:microsoft.com/office/officeart/2005/8/layout/vList5"/>
    <dgm:cxn modelId="{73ACD3A3-72F9-49E9-8131-595582D21BC1}" type="presParOf" srcId="{5928EF60-880D-4E72-8F27-D796C68D1CA1}" destId="{1076461B-B5C8-4C13-ACD9-02883E842C72}" srcOrd="6" destOrd="0" presId="urn:microsoft.com/office/officeart/2005/8/layout/vList5"/>
    <dgm:cxn modelId="{20483210-3AC8-49CF-A8CB-C2912BB8FC1D}" type="presParOf" srcId="{1076461B-B5C8-4C13-ACD9-02883E842C72}" destId="{8B42D8DD-51CB-4E4F-9A47-125A0671DA98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E4FC201-D1E2-476F-AF6E-6BABA0E09858}" type="doc">
      <dgm:prSet loTypeId="urn:microsoft.com/office/officeart/2005/8/layout/vList5" loCatId="list" qsTypeId="urn:microsoft.com/office/officeart/2005/8/quickstyle/3d2" qsCatId="3D" csTypeId="urn:microsoft.com/office/officeart/2005/8/colors/accent6_3" csCatId="accent6" phldr="1"/>
      <dgm:spPr/>
      <dgm:t>
        <a:bodyPr/>
        <a:lstStyle/>
        <a:p>
          <a:endParaRPr lang="en-IN"/>
        </a:p>
      </dgm:t>
    </dgm:pt>
    <dgm:pt modelId="{B322BEEE-83FA-43BA-BC4C-020FA61AE209}">
      <dgm:prSet/>
      <dgm:spPr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</a:gradFill>
      </dgm:spPr>
      <dgm:t>
        <a:bodyPr/>
        <a:lstStyle/>
        <a:p>
          <a:r>
            <a:rPr lang="en-IN"/>
            <a:t>Descriptive Statistics</a:t>
          </a:r>
        </a:p>
      </dgm:t>
    </dgm:pt>
    <dgm:pt modelId="{6FC7C146-8C18-48CB-A92A-9395760B6A56}" type="parTrans" cxnId="{719E71DE-1785-4EEA-8BD5-5AD5E235BEF4}">
      <dgm:prSet/>
      <dgm:spPr/>
      <dgm:t>
        <a:bodyPr/>
        <a:lstStyle/>
        <a:p>
          <a:endParaRPr lang="en-IN"/>
        </a:p>
      </dgm:t>
    </dgm:pt>
    <dgm:pt modelId="{D384B5FE-9435-4C0C-B77E-E56ED5378508}" type="sibTrans" cxnId="{719E71DE-1785-4EEA-8BD5-5AD5E235BEF4}">
      <dgm:prSet/>
      <dgm:spPr/>
      <dgm:t>
        <a:bodyPr/>
        <a:lstStyle/>
        <a:p>
          <a:endParaRPr lang="en-IN"/>
        </a:p>
      </dgm:t>
    </dgm:pt>
    <dgm:pt modelId="{AC803A1B-55C6-455F-8505-FE55FF7DAD35}">
      <dgm:prSet/>
      <dgm:spPr/>
      <dgm:t>
        <a:bodyPr/>
        <a:lstStyle/>
        <a:p>
          <a:r>
            <a:rPr lang="en-IN" dirty="0"/>
            <a:t>Summarize and describe the dataset you have</a:t>
          </a:r>
        </a:p>
      </dgm:t>
    </dgm:pt>
    <dgm:pt modelId="{216AD803-3C04-4367-842C-D226DA1B1144}" type="parTrans" cxnId="{2B61A39D-6FD2-430E-BDCF-4E04679DB457}">
      <dgm:prSet/>
      <dgm:spPr/>
      <dgm:t>
        <a:bodyPr/>
        <a:lstStyle/>
        <a:p>
          <a:endParaRPr lang="en-IN"/>
        </a:p>
      </dgm:t>
    </dgm:pt>
    <dgm:pt modelId="{7B95281A-5BB6-49E9-953F-C14343EF1AC3}" type="sibTrans" cxnId="{2B61A39D-6FD2-430E-BDCF-4E04679DB457}">
      <dgm:prSet/>
      <dgm:spPr/>
      <dgm:t>
        <a:bodyPr/>
        <a:lstStyle/>
        <a:p>
          <a:endParaRPr lang="en-IN"/>
        </a:p>
      </dgm:t>
    </dgm:pt>
    <dgm:pt modelId="{0343F628-B907-4C1E-A545-F615397B909E}">
      <dgm:prSet/>
      <dgm:spPr/>
      <dgm:t>
        <a:bodyPr/>
        <a:lstStyle/>
        <a:p>
          <a:r>
            <a:rPr lang="en-IN" dirty="0"/>
            <a:t>Examples: mean, median, standard deviation, histogram, boxplot</a:t>
          </a:r>
        </a:p>
      </dgm:t>
    </dgm:pt>
    <dgm:pt modelId="{1B479B8F-1CE8-45F2-A4CB-D8BE658B150C}" type="parTrans" cxnId="{36DB1EA4-C2B1-41A1-9D43-7F082678555B}">
      <dgm:prSet/>
      <dgm:spPr/>
      <dgm:t>
        <a:bodyPr/>
        <a:lstStyle/>
        <a:p>
          <a:endParaRPr lang="en-IN"/>
        </a:p>
      </dgm:t>
    </dgm:pt>
    <dgm:pt modelId="{F9E706DF-B2BB-4AFE-906A-BCC610457762}" type="sibTrans" cxnId="{36DB1EA4-C2B1-41A1-9D43-7F082678555B}">
      <dgm:prSet/>
      <dgm:spPr/>
      <dgm:t>
        <a:bodyPr/>
        <a:lstStyle/>
        <a:p>
          <a:endParaRPr lang="en-IN"/>
        </a:p>
      </dgm:t>
    </dgm:pt>
    <dgm:pt modelId="{AD3B3BBC-870D-4985-AA66-CDF733B2A6BF}">
      <dgm:prSet/>
      <dgm:spPr/>
      <dgm:t>
        <a:bodyPr/>
        <a:lstStyle/>
        <a:p>
          <a:r>
            <a:rPr lang="en-IN"/>
            <a:t>Inferential Statistics</a:t>
          </a:r>
        </a:p>
      </dgm:t>
    </dgm:pt>
    <dgm:pt modelId="{58AC7FAA-6F9E-4837-A7B6-DD54B9535D3F}" type="parTrans" cxnId="{92986F7B-4903-4E59-99B6-95B58819DD66}">
      <dgm:prSet/>
      <dgm:spPr/>
      <dgm:t>
        <a:bodyPr/>
        <a:lstStyle/>
        <a:p>
          <a:endParaRPr lang="en-IN"/>
        </a:p>
      </dgm:t>
    </dgm:pt>
    <dgm:pt modelId="{20B04C82-84FD-4025-99FE-AE2BA80B1A7F}" type="sibTrans" cxnId="{92986F7B-4903-4E59-99B6-95B58819DD66}">
      <dgm:prSet/>
      <dgm:spPr/>
      <dgm:t>
        <a:bodyPr/>
        <a:lstStyle/>
        <a:p>
          <a:endParaRPr lang="en-IN"/>
        </a:p>
      </dgm:t>
    </dgm:pt>
    <dgm:pt modelId="{DF28CBD1-FB56-4E78-8B40-44E2BF8A77D9}">
      <dgm:prSet/>
      <dgm:spPr/>
      <dgm:t>
        <a:bodyPr/>
        <a:lstStyle/>
        <a:p>
          <a:r>
            <a:rPr lang="en-IN" dirty="0"/>
            <a:t>Use sample data to draw conclusions about a larger population</a:t>
          </a:r>
        </a:p>
      </dgm:t>
    </dgm:pt>
    <dgm:pt modelId="{4CD9D374-324C-4A0C-A7A8-9042ACDA9700}" type="parTrans" cxnId="{F2EB9A2C-29EF-4B82-B4B5-11F7134AC6F3}">
      <dgm:prSet/>
      <dgm:spPr/>
      <dgm:t>
        <a:bodyPr/>
        <a:lstStyle/>
        <a:p>
          <a:endParaRPr lang="en-IN"/>
        </a:p>
      </dgm:t>
    </dgm:pt>
    <dgm:pt modelId="{D93D13C2-2DF5-4241-9133-580FAD483777}" type="sibTrans" cxnId="{F2EB9A2C-29EF-4B82-B4B5-11F7134AC6F3}">
      <dgm:prSet/>
      <dgm:spPr/>
      <dgm:t>
        <a:bodyPr/>
        <a:lstStyle/>
        <a:p>
          <a:endParaRPr lang="en-IN"/>
        </a:p>
      </dgm:t>
    </dgm:pt>
    <dgm:pt modelId="{71842BC8-BDC7-40AC-8EB0-40677BE5CA55}">
      <dgm:prSet/>
      <dgm:spPr/>
      <dgm:t>
        <a:bodyPr/>
        <a:lstStyle/>
        <a:p>
          <a:r>
            <a:rPr lang="en-IN" dirty="0"/>
            <a:t>Examples: confidence intervals, hypothesis tests, t-test, chi-square</a:t>
          </a:r>
        </a:p>
      </dgm:t>
    </dgm:pt>
    <dgm:pt modelId="{7BCBE6BE-D6A5-4B5F-A043-1E0CF148E834}" type="parTrans" cxnId="{3245193E-C542-4E18-A008-880A59E0F278}">
      <dgm:prSet/>
      <dgm:spPr/>
      <dgm:t>
        <a:bodyPr/>
        <a:lstStyle/>
        <a:p>
          <a:endParaRPr lang="en-IN"/>
        </a:p>
      </dgm:t>
    </dgm:pt>
    <dgm:pt modelId="{80847826-6171-49C1-9CC2-819291AA577D}" type="sibTrans" cxnId="{3245193E-C542-4E18-A008-880A59E0F278}">
      <dgm:prSet/>
      <dgm:spPr/>
      <dgm:t>
        <a:bodyPr/>
        <a:lstStyle/>
        <a:p>
          <a:endParaRPr lang="en-IN"/>
        </a:p>
      </dgm:t>
    </dgm:pt>
    <dgm:pt modelId="{B7770F08-EF80-4B14-B7E7-6324AEA48D19}" type="pres">
      <dgm:prSet presAssocID="{5E4FC201-D1E2-476F-AF6E-6BABA0E09858}" presName="Name0" presStyleCnt="0">
        <dgm:presLayoutVars>
          <dgm:dir/>
          <dgm:animLvl val="lvl"/>
          <dgm:resizeHandles val="exact"/>
        </dgm:presLayoutVars>
      </dgm:prSet>
      <dgm:spPr/>
    </dgm:pt>
    <dgm:pt modelId="{01FF53C7-785D-413D-AA7E-C5A8FCACAC43}" type="pres">
      <dgm:prSet presAssocID="{B322BEEE-83FA-43BA-BC4C-020FA61AE209}" presName="linNode" presStyleCnt="0"/>
      <dgm:spPr/>
    </dgm:pt>
    <dgm:pt modelId="{DD5C6618-5ED0-40AA-9B9B-2EF042E25604}" type="pres">
      <dgm:prSet presAssocID="{B322BEEE-83FA-43BA-BC4C-020FA61AE209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7B69E4F7-E639-4441-9768-1A29738F5AE6}" type="pres">
      <dgm:prSet presAssocID="{B322BEEE-83FA-43BA-BC4C-020FA61AE209}" presName="descendantText" presStyleLbl="alignAccFollowNode1" presStyleIdx="0" presStyleCnt="2">
        <dgm:presLayoutVars>
          <dgm:bulletEnabled val="1"/>
        </dgm:presLayoutVars>
      </dgm:prSet>
      <dgm:spPr/>
    </dgm:pt>
    <dgm:pt modelId="{10EFAD27-EDFF-4889-9CA1-84AC31A99D7A}" type="pres">
      <dgm:prSet presAssocID="{D384B5FE-9435-4C0C-B77E-E56ED5378508}" presName="sp" presStyleCnt="0"/>
      <dgm:spPr/>
    </dgm:pt>
    <dgm:pt modelId="{77B39C44-59A0-49BE-94DF-ABED35BE2343}" type="pres">
      <dgm:prSet presAssocID="{AD3B3BBC-870D-4985-AA66-CDF733B2A6BF}" presName="linNode" presStyleCnt="0"/>
      <dgm:spPr/>
    </dgm:pt>
    <dgm:pt modelId="{3E910F40-716C-447C-8FCC-C86A4528F9DE}" type="pres">
      <dgm:prSet presAssocID="{AD3B3BBC-870D-4985-AA66-CDF733B2A6BF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0EAF3687-2BB9-457E-9B9F-6280BCC2D446}" type="pres">
      <dgm:prSet presAssocID="{AD3B3BBC-870D-4985-AA66-CDF733B2A6BF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7E934A0F-5558-4CD4-B376-95FAD2CCF07D}" type="presOf" srcId="{5E4FC201-D1E2-476F-AF6E-6BABA0E09858}" destId="{B7770F08-EF80-4B14-B7E7-6324AEA48D19}" srcOrd="0" destOrd="0" presId="urn:microsoft.com/office/officeart/2005/8/layout/vList5"/>
    <dgm:cxn modelId="{E094C311-6AD0-456F-A303-45E925E1A48D}" type="presOf" srcId="{0343F628-B907-4C1E-A545-F615397B909E}" destId="{7B69E4F7-E639-4441-9768-1A29738F5AE6}" srcOrd="0" destOrd="1" presId="urn:microsoft.com/office/officeart/2005/8/layout/vList5"/>
    <dgm:cxn modelId="{F2EB9A2C-29EF-4B82-B4B5-11F7134AC6F3}" srcId="{AD3B3BBC-870D-4985-AA66-CDF733B2A6BF}" destId="{DF28CBD1-FB56-4E78-8B40-44E2BF8A77D9}" srcOrd="0" destOrd="0" parTransId="{4CD9D374-324C-4A0C-A7A8-9042ACDA9700}" sibTransId="{D93D13C2-2DF5-4241-9133-580FAD483777}"/>
    <dgm:cxn modelId="{3245193E-C542-4E18-A008-880A59E0F278}" srcId="{AD3B3BBC-870D-4985-AA66-CDF733B2A6BF}" destId="{71842BC8-BDC7-40AC-8EB0-40677BE5CA55}" srcOrd="1" destOrd="0" parTransId="{7BCBE6BE-D6A5-4B5F-A043-1E0CF148E834}" sibTransId="{80847826-6171-49C1-9CC2-819291AA577D}"/>
    <dgm:cxn modelId="{932FAF5B-052A-41DE-96FD-1E31E007BA6F}" type="presOf" srcId="{AC803A1B-55C6-455F-8505-FE55FF7DAD35}" destId="{7B69E4F7-E639-4441-9768-1A29738F5AE6}" srcOrd="0" destOrd="0" presId="urn:microsoft.com/office/officeart/2005/8/layout/vList5"/>
    <dgm:cxn modelId="{5F3D925E-9AEA-4D2D-ADC9-3E73AD8168F9}" type="presOf" srcId="{B322BEEE-83FA-43BA-BC4C-020FA61AE209}" destId="{DD5C6618-5ED0-40AA-9B9B-2EF042E25604}" srcOrd="0" destOrd="0" presId="urn:microsoft.com/office/officeart/2005/8/layout/vList5"/>
    <dgm:cxn modelId="{CF3A0466-7697-47FE-8F83-8F6421009023}" type="presOf" srcId="{71842BC8-BDC7-40AC-8EB0-40677BE5CA55}" destId="{0EAF3687-2BB9-457E-9B9F-6280BCC2D446}" srcOrd="0" destOrd="1" presId="urn:microsoft.com/office/officeart/2005/8/layout/vList5"/>
    <dgm:cxn modelId="{B6CA6F57-34F8-404F-9C84-2833E96E57DF}" type="presOf" srcId="{DF28CBD1-FB56-4E78-8B40-44E2BF8A77D9}" destId="{0EAF3687-2BB9-457E-9B9F-6280BCC2D446}" srcOrd="0" destOrd="0" presId="urn:microsoft.com/office/officeart/2005/8/layout/vList5"/>
    <dgm:cxn modelId="{92986F7B-4903-4E59-99B6-95B58819DD66}" srcId="{5E4FC201-D1E2-476F-AF6E-6BABA0E09858}" destId="{AD3B3BBC-870D-4985-AA66-CDF733B2A6BF}" srcOrd="1" destOrd="0" parTransId="{58AC7FAA-6F9E-4837-A7B6-DD54B9535D3F}" sibTransId="{20B04C82-84FD-4025-99FE-AE2BA80B1A7F}"/>
    <dgm:cxn modelId="{0342228E-CAE6-49EB-BAFA-1D4669ECA0E5}" type="presOf" srcId="{AD3B3BBC-870D-4985-AA66-CDF733B2A6BF}" destId="{3E910F40-716C-447C-8FCC-C86A4528F9DE}" srcOrd="0" destOrd="0" presId="urn:microsoft.com/office/officeart/2005/8/layout/vList5"/>
    <dgm:cxn modelId="{2B61A39D-6FD2-430E-BDCF-4E04679DB457}" srcId="{B322BEEE-83FA-43BA-BC4C-020FA61AE209}" destId="{AC803A1B-55C6-455F-8505-FE55FF7DAD35}" srcOrd="0" destOrd="0" parTransId="{216AD803-3C04-4367-842C-D226DA1B1144}" sibTransId="{7B95281A-5BB6-49E9-953F-C14343EF1AC3}"/>
    <dgm:cxn modelId="{36DB1EA4-C2B1-41A1-9D43-7F082678555B}" srcId="{B322BEEE-83FA-43BA-BC4C-020FA61AE209}" destId="{0343F628-B907-4C1E-A545-F615397B909E}" srcOrd="1" destOrd="0" parTransId="{1B479B8F-1CE8-45F2-A4CB-D8BE658B150C}" sibTransId="{F9E706DF-B2BB-4AFE-906A-BCC610457762}"/>
    <dgm:cxn modelId="{719E71DE-1785-4EEA-8BD5-5AD5E235BEF4}" srcId="{5E4FC201-D1E2-476F-AF6E-6BABA0E09858}" destId="{B322BEEE-83FA-43BA-BC4C-020FA61AE209}" srcOrd="0" destOrd="0" parTransId="{6FC7C146-8C18-48CB-A92A-9395760B6A56}" sibTransId="{D384B5FE-9435-4C0C-B77E-E56ED5378508}"/>
    <dgm:cxn modelId="{68AFE829-D886-49A2-B33A-3090AE450AB4}" type="presParOf" srcId="{B7770F08-EF80-4B14-B7E7-6324AEA48D19}" destId="{01FF53C7-785D-413D-AA7E-C5A8FCACAC43}" srcOrd="0" destOrd="0" presId="urn:microsoft.com/office/officeart/2005/8/layout/vList5"/>
    <dgm:cxn modelId="{E8E5D7F2-9267-41D8-BF18-E4AE888AAFA5}" type="presParOf" srcId="{01FF53C7-785D-413D-AA7E-C5A8FCACAC43}" destId="{DD5C6618-5ED0-40AA-9B9B-2EF042E25604}" srcOrd="0" destOrd="0" presId="urn:microsoft.com/office/officeart/2005/8/layout/vList5"/>
    <dgm:cxn modelId="{3742022F-F640-4EEF-A7F8-393211F602FA}" type="presParOf" srcId="{01FF53C7-785D-413D-AA7E-C5A8FCACAC43}" destId="{7B69E4F7-E639-4441-9768-1A29738F5AE6}" srcOrd="1" destOrd="0" presId="urn:microsoft.com/office/officeart/2005/8/layout/vList5"/>
    <dgm:cxn modelId="{E55D4D38-2C8D-439E-9E96-0346038384FF}" type="presParOf" srcId="{B7770F08-EF80-4B14-B7E7-6324AEA48D19}" destId="{10EFAD27-EDFF-4889-9CA1-84AC31A99D7A}" srcOrd="1" destOrd="0" presId="urn:microsoft.com/office/officeart/2005/8/layout/vList5"/>
    <dgm:cxn modelId="{F0C381F4-1E87-453E-981D-DF70D6C39F15}" type="presParOf" srcId="{B7770F08-EF80-4B14-B7E7-6324AEA48D19}" destId="{77B39C44-59A0-49BE-94DF-ABED35BE2343}" srcOrd="2" destOrd="0" presId="urn:microsoft.com/office/officeart/2005/8/layout/vList5"/>
    <dgm:cxn modelId="{6490B5DA-8817-4F7E-9F36-A112881D043F}" type="presParOf" srcId="{77B39C44-59A0-49BE-94DF-ABED35BE2343}" destId="{3E910F40-716C-447C-8FCC-C86A4528F9DE}" srcOrd="0" destOrd="0" presId="urn:microsoft.com/office/officeart/2005/8/layout/vList5"/>
    <dgm:cxn modelId="{67C64A65-87CF-45BF-A835-7C015C260A7D}" type="presParOf" srcId="{77B39C44-59A0-49BE-94DF-ABED35BE2343}" destId="{0EAF3687-2BB9-457E-9B9F-6280BCC2D44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A71D2AA-0603-403E-8DBA-F63F24ED8F2D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5EB7A684-8DAB-4625-8E53-8CFA9100A519}">
      <dgm:prSet/>
      <dgm:spPr/>
      <dgm:t>
        <a:bodyPr/>
        <a:lstStyle/>
        <a:p>
          <a:r>
            <a:rPr lang="en-IN"/>
            <a:t>Start with descriptive </a:t>
          </a:r>
        </a:p>
      </dgm:t>
    </dgm:pt>
    <dgm:pt modelId="{46C731BF-5BB0-48D3-848E-E9CE689F3095}" type="parTrans" cxnId="{7CA8A0B0-7A77-4A4F-8D21-A864AD765F45}">
      <dgm:prSet/>
      <dgm:spPr/>
      <dgm:t>
        <a:bodyPr/>
        <a:lstStyle/>
        <a:p>
          <a:endParaRPr lang="en-IN"/>
        </a:p>
      </dgm:t>
    </dgm:pt>
    <dgm:pt modelId="{8F763823-E914-4C7F-87AF-79EA55690361}" type="sibTrans" cxnId="{7CA8A0B0-7A77-4A4F-8D21-A864AD765F45}">
      <dgm:prSet/>
      <dgm:spPr/>
      <dgm:t>
        <a:bodyPr/>
        <a:lstStyle/>
        <a:p>
          <a:endParaRPr lang="en-IN"/>
        </a:p>
      </dgm:t>
    </dgm:pt>
    <dgm:pt modelId="{AE312B00-3960-47AB-B0C8-8C7871C439DD}">
      <dgm:prSet/>
      <dgm:spPr/>
      <dgm:t>
        <a:bodyPr/>
        <a:lstStyle/>
        <a:p>
          <a:r>
            <a:rPr lang="en-IN"/>
            <a:t>then inferential </a:t>
          </a:r>
        </a:p>
      </dgm:t>
    </dgm:pt>
    <dgm:pt modelId="{0A0F4CC6-9E7E-418F-96D7-C60A7DF3DE95}" type="parTrans" cxnId="{3F4032BC-177A-4B6D-B596-B858E909DFDE}">
      <dgm:prSet/>
      <dgm:spPr/>
      <dgm:t>
        <a:bodyPr/>
        <a:lstStyle/>
        <a:p>
          <a:endParaRPr lang="en-IN"/>
        </a:p>
      </dgm:t>
    </dgm:pt>
    <dgm:pt modelId="{8548EB25-2C58-4659-8BE5-50250E951C89}" type="sibTrans" cxnId="{3F4032BC-177A-4B6D-B596-B858E909DFDE}">
      <dgm:prSet/>
      <dgm:spPr/>
      <dgm:t>
        <a:bodyPr/>
        <a:lstStyle/>
        <a:p>
          <a:endParaRPr lang="en-IN"/>
        </a:p>
      </dgm:t>
    </dgm:pt>
    <dgm:pt modelId="{FF4C2DDA-488B-4186-83FD-B8A98E0E3626}">
      <dgm:prSet/>
      <dgm:spPr/>
      <dgm:t>
        <a:bodyPr/>
        <a:lstStyle/>
        <a:p>
          <a:r>
            <a:rPr lang="en-IN"/>
            <a:t>then modelling.</a:t>
          </a:r>
        </a:p>
      </dgm:t>
    </dgm:pt>
    <dgm:pt modelId="{9CB7B9EC-32C1-44BB-8C95-F21F2F2ADE8C}" type="parTrans" cxnId="{8DE779BA-8598-4085-BDE3-4934E71E38EB}">
      <dgm:prSet/>
      <dgm:spPr/>
      <dgm:t>
        <a:bodyPr/>
        <a:lstStyle/>
        <a:p>
          <a:endParaRPr lang="en-IN"/>
        </a:p>
      </dgm:t>
    </dgm:pt>
    <dgm:pt modelId="{DBC739D7-2D99-4828-B79A-2C11C9EB6215}" type="sibTrans" cxnId="{8DE779BA-8598-4085-BDE3-4934E71E38EB}">
      <dgm:prSet/>
      <dgm:spPr/>
      <dgm:t>
        <a:bodyPr/>
        <a:lstStyle/>
        <a:p>
          <a:endParaRPr lang="en-IN"/>
        </a:p>
      </dgm:t>
    </dgm:pt>
    <dgm:pt modelId="{0B1FEBA5-0619-48EE-B6FE-E32AFCFCC2CE}" type="pres">
      <dgm:prSet presAssocID="{8A71D2AA-0603-403E-8DBA-F63F24ED8F2D}" presName="arrowDiagram" presStyleCnt="0">
        <dgm:presLayoutVars>
          <dgm:chMax val="5"/>
          <dgm:dir/>
          <dgm:resizeHandles val="exact"/>
        </dgm:presLayoutVars>
      </dgm:prSet>
      <dgm:spPr/>
    </dgm:pt>
    <dgm:pt modelId="{116DA1DB-5412-4237-8250-99B45827F0CF}" type="pres">
      <dgm:prSet presAssocID="{8A71D2AA-0603-403E-8DBA-F63F24ED8F2D}" presName="arrow" presStyleLbl="bgShp" presStyleIdx="0" presStyleCnt="1"/>
      <dgm:spPr/>
    </dgm:pt>
    <dgm:pt modelId="{F527DF03-BD39-4D60-A6C6-FF76190FF7AC}" type="pres">
      <dgm:prSet presAssocID="{8A71D2AA-0603-403E-8DBA-F63F24ED8F2D}" presName="arrowDiagram3" presStyleCnt="0"/>
      <dgm:spPr/>
    </dgm:pt>
    <dgm:pt modelId="{794F15F5-915B-45C0-B8A8-3B41FFECCA51}" type="pres">
      <dgm:prSet presAssocID="{5EB7A684-8DAB-4625-8E53-8CFA9100A519}" presName="bullet3a" presStyleLbl="node1" presStyleIdx="0" presStyleCnt="3"/>
      <dgm:spPr/>
    </dgm:pt>
    <dgm:pt modelId="{27C84D4A-D7B4-4E56-B541-E25111CA3A5A}" type="pres">
      <dgm:prSet presAssocID="{5EB7A684-8DAB-4625-8E53-8CFA9100A519}" presName="textBox3a" presStyleLbl="revTx" presStyleIdx="0" presStyleCnt="3">
        <dgm:presLayoutVars>
          <dgm:bulletEnabled val="1"/>
        </dgm:presLayoutVars>
      </dgm:prSet>
      <dgm:spPr/>
    </dgm:pt>
    <dgm:pt modelId="{B2A8869F-037E-4D52-82D1-565A43E191B7}" type="pres">
      <dgm:prSet presAssocID="{AE312B00-3960-47AB-B0C8-8C7871C439DD}" presName="bullet3b" presStyleLbl="node1" presStyleIdx="1" presStyleCnt="3"/>
      <dgm:spPr/>
    </dgm:pt>
    <dgm:pt modelId="{FC2048AB-6207-4830-8339-14F1E2F1FBAE}" type="pres">
      <dgm:prSet presAssocID="{AE312B00-3960-47AB-B0C8-8C7871C439DD}" presName="textBox3b" presStyleLbl="revTx" presStyleIdx="1" presStyleCnt="3">
        <dgm:presLayoutVars>
          <dgm:bulletEnabled val="1"/>
        </dgm:presLayoutVars>
      </dgm:prSet>
      <dgm:spPr/>
    </dgm:pt>
    <dgm:pt modelId="{84826AC8-F925-4631-BAB5-6AD0744D531C}" type="pres">
      <dgm:prSet presAssocID="{FF4C2DDA-488B-4186-83FD-B8A98E0E3626}" presName="bullet3c" presStyleLbl="node1" presStyleIdx="2" presStyleCnt="3"/>
      <dgm:spPr/>
    </dgm:pt>
    <dgm:pt modelId="{04DBFA57-B135-42C7-B13B-CDAEE711A22F}" type="pres">
      <dgm:prSet presAssocID="{FF4C2DDA-488B-4186-83FD-B8A98E0E3626}" presName="textBox3c" presStyleLbl="revTx" presStyleIdx="2" presStyleCnt="3">
        <dgm:presLayoutVars>
          <dgm:bulletEnabled val="1"/>
        </dgm:presLayoutVars>
      </dgm:prSet>
      <dgm:spPr/>
    </dgm:pt>
  </dgm:ptLst>
  <dgm:cxnLst>
    <dgm:cxn modelId="{7CA8A0B0-7A77-4A4F-8D21-A864AD765F45}" srcId="{8A71D2AA-0603-403E-8DBA-F63F24ED8F2D}" destId="{5EB7A684-8DAB-4625-8E53-8CFA9100A519}" srcOrd="0" destOrd="0" parTransId="{46C731BF-5BB0-48D3-848E-E9CE689F3095}" sibTransId="{8F763823-E914-4C7F-87AF-79EA55690361}"/>
    <dgm:cxn modelId="{8DE779BA-8598-4085-BDE3-4934E71E38EB}" srcId="{8A71D2AA-0603-403E-8DBA-F63F24ED8F2D}" destId="{FF4C2DDA-488B-4186-83FD-B8A98E0E3626}" srcOrd="2" destOrd="0" parTransId="{9CB7B9EC-32C1-44BB-8C95-F21F2F2ADE8C}" sibTransId="{DBC739D7-2D99-4828-B79A-2C11C9EB6215}"/>
    <dgm:cxn modelId="{3F4032BC-177A-4B6D-B596-B858E909DFDE}" srcId="{8A71D2AA-0603-403E-8DBA-F63F24ED8F2D}" destId="{AE312B00-3960-47AB-B0C8-8C7871C439DD}" srcOrd="1" destOrd="0" parTransId="{0A0F4CC6-9E7E-418F-96D7-C60A7DF3DE95}" sibTransId="{8548EB25-2C58-4659-8BE5-50250E951C89}"/>
    <dgm:cxn modelId="{D55B00D8-511E-42BF-816E-014195EB29E3}" type="presOf" srcId="{8A71D2AA-0603-403E-8DBA-F63F24ED8F2D}" destId="{0B1FEBA5-0619-48EE-B6FE-E32AFCFCC2CE}" srcOrd="0" destOrd="0" presId="urn:microsoft.com/office/officeart/2005/8/layout/arrow2"/>
    <dgm:cxn modelId="{F0B0C7DA-F39E-49EC-9CFD-2EF499B44266}" type="presOf" srcId="{5EB7A684-8DAB-4625-8E53-8CFA9100A519}" destId="{27C84D4A-D7B4-4E56-B541-E25111CA3A5A}" srcOrd="0" destOrd="0" presId="urn:microsoft.com/office/officeart/2005/8/layout/arrow2"/>
    <dgm:cxn modelId="{929ADAF1-DAAA-4A68-859F-9D78102906A4}" type="presOf" srcId="{FF4C2DDA-488B-4186-83FD-B8A98E0E3626}" destId="{04DBFA57-B135-42C7-B13B-CDAEE711A22F}" srcOrd="0" destOrd="0" presId="urn:microsoft.com/office/officeart/2005/8/layout/arrow2"/>
    <dgm:cxn modelId="{44E49DFA-00D0-410B-A0E1-B1ED88BF9CFF}" type="presOf" srcId="{AE312B00-3960-47AB-B0C8-8C7871C439DD}" destId="{FC2048AB-6207-4830-8339-14F1E2F1FBAE}" srcOrd="0" destOrd="0" presId="urn:microsoft.com/office/officeart/2005/8/layout/arrow2"/>
    <dgm:cxn modelId="{F5CF9E33-499B-4747-A80A-DB839E1E469D}" type="presParOf" srcId="{0B1FEBA5-0619-48EE-B6FE-E32AFCFCC2CE}" destId="{116DA1DB-5412-4237-8250-99B45827F0CF}" srcOrd="0" destOrd="0" presId="urn:microsoft.com/office/officeart/2005/8/layout/arrow2"/>
    <dgm:cxn modelId="{6A60D976-F657-46C1-8DAD-7392EF7B5869}" type="presParOf" srcId="{0B1FEBA5-0619-48EE-B6FE-E32AFCFCC2CE}" destId="{F527DF03-BD39-4D60-A6C6-FF76190FF7AC}" srcOrd="1" destOrd="0" presId="urn:microsoft.com/office/officeart/2005/8/layout/arrow2"/>
    <dgm:cxn modelId="{9CD39DE2-A01D-411B-914F-A8D680CB0A15}" type="presParOf" srcId="{F527DF03-BD39-4D60-A6C6-FF76190FF7AC}" destId="{794F15F5-915B-45C0-B8A8-3B41FFECCA51}" srcOrd="0" destOrd="0" presId="urn:microsoft.com/office/officeart/2005/8/layout/arrow2"/>
    <dgm:cxn modelId="{F170874F-4818-4A21-AE70-2D6DE324E3C8}" type="presParOf" srcId="{F527DF03-BD39-4D60-A6C6-FF76190FF7AC}" destId="{27C84D4A-D7B4-4E56-B541-E25111CA3A5A}" srcOrd="1" destOrd="0" presId="urn:microsoft.com/office/officeart/2005/8/layout/arrow2"/>
    <dgm:cxn modelId="{92D7EE22-0B2A-4184-B671-2B0885F2292C}" type="presParOf" srcId="{F527DF03-BD39-4D60-A6C6-FF76190FF7AC}" destId="{B2A8869F-037E-4D52-82D1-565A43E191B7}" srcOrd="2" destOrd="0" presId="urn:microsoft.com/office/officeart/2005/8/layout/arrow2"/>
    <dgm:cxn modelId="{B226D79B-2206-442D-8047-6E5FFE972948}" type="presParOf" srcId="{F527DF03-BD39-4D60-A6C6-FF76190FF7AC}" destId="{FC2048AB-6207-4830-8339-14F1E2F1FBAE}" srcOrd="3" destOrd="0" presId="urn:microsoft.com/office/officeart/2005/8/layout/arrow2"/>
    <dgm:cxn modelId="{827930F4-A638-41F5-84B3-74E628FBA38F}" type="presParOf" srcId="{F527DF03-BD39-4D60-A6C6-FF76190FF7AC}" destId="{84826AC8-F925-4631-BAB5-6AD0744D531C}" srcOrd="4" destOrd="0" presId="urn:microsoft.com/office/officeart/2005/8/layout/arrow2"/>
    <dgm:cxn modelId="{5D8C064B-F9ED-4F68-857F-45282BAF7973}" type="presParOf" srcId="{F527DF03-BD39-4D60-A6C6-FF76190FF7AC}" destId="{04DBFA57-B135-42C7-B13B-CDAEE711A22F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56116C1-C5C4-4B27-8E63-AFEE4CF38AB1}" type="doc">
      <dgm:prSet loTypeId="urn:microsoft.com/office/officeart/2005/8/layout/hProcess9" loCatId="process" qsTypeId="urn:microsoft.com/office/officeart/2005/8/quickstyle/simple1" qsCatId="simple" csTypeId="urn:microsoft.com/office/officeart/2005/8/colors/accent2_5" csCatId="accent2"/>
      <dgm:spPr/>
      <dgm:t>
        <a:bodyPr/>
        <a:lstStyle/>
        <a:p>
          <a:endParaRPr lang="en-IN"/>
        </a:p>
      </dgm:t>
    </dgm:pt>
    <dgm:pt modelId="{187C4F99-3148-49A4-AB56-0ACCE51D7986}">
      <dgm:prSet/>
      <dgm:spPr/>
      <dgm:t>
        <a:bodyPr/>
        <a:lstStyle/>
        <a:p>
          <a:r>
            <a:rPr lang="en-IN"/>
            <a:t>1. Central Tendency: Mean, Median, Mode</a:t>
          </a:r>
        </a:p>
      </dgm:t>
    </dgm:pt>
    <dgm:pt modelId="{10D0D2ED-5F57-47D9-B28E-180B218341C9}" type="parTrans" cxnId="{F7BAADC1-9ABB-43E7-AB1A-1C11F8EA0D6D}">
      <dgm:prSet/>
      <dgm:spPr/>
      <dgm:t>
        <a:bodyPr/>
        <a:lstStyle/>
        <a:p>
          <a:endParaRPr lang="en-IN"/>
        </a:p>
      </dgm:t>
    </dgm:pt>
    <dgm:pt modelId="{28505BC9-0BC7-4199-BC2A-E3EED879EEB0}" type="sibTrans" cxnId="{F7BAADC1-9ABB-43E7-AB1A-1C11F8EA0D6D}">
      <dgm:prSet/>
      <dgm:spPr/>
      <dgm:t>
        <a:bodyPr/>
        <a:lstStyle/>
        <a:p>
          <a:endParaRPr lang="en-IN"/>
        </a:p>
      </dgm:t>
    </dgm:pt>
    <dgm:pt modelId="{23A80CA2-579B-4408-AA63-2192F8B1D64D}">
      <dgm:prSet/>
      <dgm:spPr/>
      <dgm:t>
        <a:bodyPr/>
        <a:lstStyle/>
        <a:p>
          <a:r>
            <a:rPr lang="en-IN" dirty="0"/>
            <a:t>2. Dispersion: Variance, Std Dev, Range, Quartiles, Percentiles, IQR, CV</a:t>
          </a:r>
        </a:p>
      </dgm:t>
    </dgm:pt>
    <dgm:pt modelId="{8511F3C6-5F73-473E-A777-4579C9AF2B4C}" type="parTrans" cxnId="{347BA6CB-B858-4838-9EEF-671DE5FBC48D}">
      <dgm:prSet/>
      <dgm:spPr/>
      <dgm:t>
        <a:bodyPr/>
        <a:lstStyle/>
        <a:p>
          <a:endParaRPr lang="en-IN"/>
        </a:p>
      </dgm:t>
    </dgm:pt>
    <dgm:pt modelId="{E3897434-9DD8-431B-AC09-6E4C8A5CA2BE}" type="sibTrans" cxnId="{347BA6CB-B858-4838-9EEF-671DE5FBC48D}">
      <dgm:prSet/>
      <dgm:spPr/>
      <dgm:t>
        <a:bodyPr/>
        <a:lstStyle/>
        <a:p>
          <a:endParaRPr lang="en-IN"/>
        </a:p>
      </dgm:t>
    </dgm:pt>
    <dgm:pt modelId="{2AB1C9E6-C582-4C3C-A351-879E3DF59E29}">
      <dgm:prSet/>
      <dgm:spPr/>
      <dgm:t>
        <a:bodyPr/>
        <a:lstStyle/>
        <a:p>
          <a:r>
            <a:rPr lang="en-IN" dirty="0"/>
            <a:t>3. Shape: Skewness, Kurtosis, Normal distribution check</a:t>
          </a:r>
        </a:p>
      </dgm:t>
    </dgm:pt>
    <dgm:pt modelId="{4D294FC7-CE4F-46B7-BE93-BA80CC2F375D}" type="parTrans" cxnId="{240D30F9-3568-4135-8610-F966208A1DF2}">
      <dgm:prSet/>
      <dgm:spPr/>
      <dgm:t>
        <a:bodyPr/>
        <a:lstStyle/>
        <a:p>
          <a:endParaRPr lang="en-IN"/>
        </a:p>
      </dgm:t>
    </dgm:pt>
    <dgm:pt modelId="{360331BE-DE04-4A25-842A-1086A7C801E1}" type="sibTrans" cxnId="{240D30F9-3568-4135-8610-F966208A1DF2}">
      <dgm:prSet/>
      <dgm:spPr/>
      <dgm:t>
        <a:bodyPr/>
        <a:lstStyle/>
        <a:p>
          <a:endParaRPr lang="en-IN"/>
        </a:p>
      </dgm:t>
    </dgm:pt>
    <dgm:pt modelId="{96240356-40E4-496A-AA7E-737B72D8900B}">
      <dgm:prSet/>
      <dgm:spPr/>
      <dgm:t>
        <a:bodyPr/>
        <a:lstStyle/>
        <a:p>
          <a:r>
            <a:rPr lang="en-IN"/>
            <a:t>4. Data Visualization: Histogram, Boxplot, Bar chart, Scatter plot, Frequency table</a:t>
          </a:r>
        </a:p>
      </dgm:t>
    </dgm:pt>
    <dgm:pt modelId="{B3C611AD-0EE2-446B-B612-6F41FF962411}" type="parTrans" cxnId="{E76CBA9E-7061-4487-823D-0100C271618B}">
      <dgm:prSet/>
      <dgm:spPr/>
      <dgm:t>
        <a:bodyPr/>
        <a:lstStyle/>
        <a:p>
          <a:endParaRPr lang="en-IN"/>
        </a:p>
      </dgm:t>
    </dgm:pt>
    <dgm:pt modelId="{BDB1C9FC-991A-4B71-AA11-4999167C5B4D}" type="sibTrans" cxnId="{E76CBA9E-7061-4487-823D-0100C271618B}">
      <dgm:prSet/>
      <dgm:spPr/>
      <dgm:t>
        <a:bodyPr/>
        <a:lstStyle/>
        <a:p>
          <a:endParaRPr lang="en-IN"/>
        </a:p>
      </dgm:t>
    </dgm:pt>
    <dgm:pt modelId="{E295350B-2260-42C8-8B0E-9AE6D1E36BD8}" type="pres">
      <dgm:prSet presAssocID="{756116C1-C5C4-4B27-8E63-AFEE4CF38AB1}" presName="CompostProcess" presStyleCnt="0">
        <dgm:presLayoutVars>
          <dgm:dir/>
          <dgm:resizeHandles val="exact"/>
        </dgm:presLayoutVars>
      </dgm:prSet>
      <dgm:spPr/>
    </dgm:pt>
    <dgm:pt modelId="{9A9F8775-42E0-4B93-BF1C-1AB421C40A8E}" type="pres">
      <dgm:prSet presAssocID="{756116C1-C5C4-4B27-8E63-AFEE4CF38AB1}" presName="arrow" presStyleLbl="bgShp" presStyleIdx="0" presStyleCnt="1"/>
      <dgm:spPr>
        <a:solidFill>
          <a:schemeClr val="accent2">
            <a:tint val="40000"/>
            <a:hueOff val="0"/>
            <a:satOff val="0"/>
            <a:lumOff val="0"/>
            <a:alpha val="49000"/>
          </a:schemeClr>
        </a:solidFill>
      </dgm:spPr>
    </dgm:pt>
    <dgm:pt modelId="{6FF2C7D4-B482-4D51-8077-5F97273AD830}" type="pres">
      <dgm:prSet presAssocID="{756116C1-C5C4-4B27-8E63-AFEE4CF38AB1}" presName="linearProcess" presStyleCnt="0"/>
      <dgm:spPr/>
    </dgm:pt>
    <dgm:pt modelId="{7E210120-917C-42D7-81B4-F5BF141F0D90}" type="pres">
      <dgm:prSet presAssocID="{187C4F99-3148-49A4-AB56-0ACCE51D7986}" presName="textNode" presStyleLbl="node1" presStyleIdx="0" presStyleCnt="4">
        <dgm:presLayoutVars>
          <dgm:bulletEnabled val="1"/>
        </dgm:presLayoutVars>
      </dgm:prSet>
      <dgm:spPr/>
    </dgm:pt>
    <dgm:pt modelId="{00E58125-28A4-46D0-B06E-DCD7B5D8550C}" type="pres">
      <dgm:prSet presAssocID="{28505BC9-0BC7-4199-BC2A-E3EED879EEB0}" presName="sibTrans" presStyleCnt="0"/>
      <dgm:spPr/>
    </dgm:pt>
    <dgm:pt modelId="{35A8A100-62F0-4418-8666-F735A4C040E6}" type="pres">
      <dgm:prSet presAssocID="{23A80CA2-579B-4408-AA63-2192F8B1D64D}" presName="textNode" presStyleLbl="node1" presStyleIdx="1" presStyleCnt="4">
        <dgm:presLayoutVars>
          <dgm:bulletEnabled val="1"/>
        </dgm:presLayoutVars>
      </dgm:prSet>
      <dgm:spPr/>
    </dgm:pt>
    <dgm:pt modelId="{A3418920-2DE0-4740-9946-2DEF7E2B366A}" type="pres">
      <dgm:prSet presAssocID="{E3897434-9DD8-431B-AC09-6E4C8A5CA2BE}" presName="sibTrans" presStyleCnt="0"/>
      <dgm:spPr/>
    </dgm:pt>
    <dgm:pt modelId="{8A8B4F12-9193-4103-8807-ABCEDD38638C}" type="pres">
      <dgm:prSet presAssocID="{2AB1C9E6-C582-4C3C-A351-879E3DF59E29}" presName="textNode" presStyleLbl="node1" presStyleIdx="2" presStyleCnt="4">
        <dgm:presLayoutVars>
          <dgm:bulletEnabled val="1"/>
        </dgm:presLayoutVars>
      </dgm:prSet>
      <dgm:spPr/>
    </dgm:pt>
    <dgm:pt modelId="{99223D61-7ADD-4537-9DD0-96498BB1DB29}" type="pres">
      <dgm:prSet presAssocID="{360331BE-DE04-4A25-842A-1086A7C801E1}" presName="sibTrans" presStyleCnt="0"/>
      <dgm:spPr/>
    </dgm:pt>
    <dgm:pt modelId="{340F5CEF-2D81-4779-B08A-7B2ECD5C7D8D}" type="pres">
      <dgm:prSet presAssocID="{96240356-40E4-496A-AA7E-737B72D8900B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176BED07-55F8-4D3B-803E-5880FADDCD4D}" type="presOf" srcId="{23A80CA2-579B-4408-AA63-2192F8B1D64D}" destId="{35A8A100-62F0-4418-8666-F735A4C040E6}" srcOrd="0" destOrd="0" presId="urn:microsoft.com/office/officeart/2005/8/layout/hProcess9"/>
    <dgm:cxn modelId="{7F340266-1D00-4B3A-9818-14534BF874C4}" type="presOf" srcId="{756116C1-C5C4-4B27-8E63-AFEE4CF38AB1}" destId="{E295350B-2260-42C8-8B0E-9AE6D1E36BD8}" srcOrd="0" destOrd="0" presId="urn:microsoft.com/office/officeart/2005/8/layout/hProcess9"/>
    <dgm:cxn modelId="{F5A06997-B0BB-47A6-BB9F-E5C664344131}" type="presOf" srcId="{187C4F99-3148-49A4-AB56-0ACCE51D7986}" destId="{7E210120-917C-42D7-81B4-F5BF141F0D90}" srcOrd="0" destOrd="0" presId="urn:microsoft.com/office/officeart/2005/8/layout/hProcess9"/>
    <dgm:cxn modelId="{E76CBA9E-7061-4487-823D-0100C271618B}" srcId="{756116C1-C5C4-4B27-8E63-AFEE4CF38AB1}" destId="{96240356-40E4-496A-AA7E-737B72D8900B}" srcOrd="3" destOrd="0" parTransId="{B3C611AD-0EE2-446B-B612-6F41FF962411}" sibTransId="{BDB1C9FC-991A-4B71-AA11-4999167C5B4D}"/>
    <dgm:cxn modelId="{F7BAADC1-9ABB-43E7-AB1A-1C11F8EA0D6D}" srcId="{756116C1-C5C4-4B27-8E63-AFEE4CF38AB1}" destId="{187C4F99-3148-49A4-AB56-0ACCE51D7986}" srcOrd="0" destOrd="0" parTransId="{10D0D2ED-5F57-47D9-B28E-180B218341C9}" sibTransId="{28505BC9-0BC7-4199-BC2A-E3EED879EEB0}"/>
    <dgm:cxn modelId="{347BA6CB-B858-4838-9EEF-671DE5FBC48D}" srcId="{756116C1-C5C4-4B27-8E63-AFEE4CF38AB1}" destId="{23A80CA2-579B-4408-AA63-2192F8B1D64D}" srcOrd="1" destOrd="0" parTransId="{8511F3C6-5F73-473E-A777-4579C9AF2B4C}" sibTransId="{E3897434-9DD8-431B-AC09-6E4C8A5CA2BE}"/>
    <dgm:cxn modelId="{B8AE89D4-81E8-470B-9E4F-EE5585734188}" type="presOf" srcId="{96240356-40E4-496A-AA7E-737B72D8900B}" destId="{340F5CEF-2D81-4779-B08A-7B2ECD5C7D8D}" srcOrd="0" destOrd="0" presId="urn:microsoft.com/office/officeart/2005/8/layout/hProcess9"/>
    <dgm:cxn modelId="{B6A34FEB-9A99-4BB6-B8E1-ECD0DF9C4DED}" type="presOf" srcId="{2AB1C9E6-C582-4C3C-A351-879E3DF59E29}" destId="{8A8B4F12-9193-4103-8807-ABCEDD38638C}" srcOrd="0" destOrd="0" presId="urn:microsoft.com/office/officeart/2005/8/layout/hProcess9"/>
    <dgm:cxn modelId="{240D30F9-3568-4135-8610-F966208A1DF2}" srcId="{756116C1-C5C4-4B27-8E63-AFEE4CF38AB1}" destId="{2AB1C9E6-C582-4C3C-A351-879E3DF59E29}" srcOrd="2" destOrd="0" parTransId="{4D294FC7-CE4F-46B7-BE93-BA80CC2F375D}" sibTransId="{360331BE-DE04-4A25-842A-1086A7C801E1}"/>
    <dgm:cxn modelId="{314BA18D-1EAD-45D8-BE71-4E61D0C14E89}" type="presParOf" srcId="{E295350B-2260-42C8-8B0E-9AE6D1E36BD8}" destId="{9A9F8775-42E0-4B93-BF1C-1AB421C40A8E}" srcOrd="0" destOrd="0" presId="urn:microsoft.com/office/officeart/2005/8/layout/hProcess9"/>
    <dgm:cxn modelId="{63E5E5E5-9B1C-4F6D-A101-F2E382F3CB90}" type="presParOf" srcId="{E295350B-2260-42C8-8B0E-9AE6D1E36BD8}" destId="{6FF2C7D4-B482-4D51-8077-5F97273AD830}" srcOrd="1" destOrd="0" presId="urn:microsoft.com/office/officeart/2005/8/layout/hProcess9"/>
    <dgm:cxn modelId="{10C21268-2843-414C-9135-E22CD5561BA9}" type="presParOf" srcId="{6FF2C7D4-B482-4D51-8077-5F97273AD830}" destId="{7E210120-917C-42D7-81B4-F5BF141F0D90}" srcOrd="0" destOrd="0" presId="urn:microsoft.com/office/officeart/2005/8/layout/hProcess9"/>
    <dgm:cxn modelId="{99686242-A07D-4E44-B351-DBB65AA35759}" type="presParOf" srcId="{6FF2C7D4-B482-4D51-8077-5F97273AD830}" destId="{00E58125-28A4-46D0-B06E-DCD7B5D8550C}" srcOrd="1" destOrd="0" presId="urn:microsoft.com/office/officeart/2005/8/layout/hProcess9"/>
    <dgm:cxn modelId="{7290C2B5-CE49-49B6-B4B2-24BEF17A4EC2}" type="presParOf" srcId="{6FF2C7D4-B482-4D51-8077-5F97273AD830}" destId="{35A8A100-62F0-4418-8666-F735A4C040E6}" srcOrd="2" destOrd="0" presId="urn:microsoft.com/office/officeart/2005/8/layout/hProcess9"/>
    <dgm:cxn modelId="{1749F2B1-4B05-425E-AE81-0D746308DF4B}" type="presParOf" srcId="{6FF2C7D4-B482-4D51-8077-5F97273AD830}" destId="{A3418920-2DE0-4740-9946-2DEF7E2B366A}" srcOrd="3" destOrd="0" presId="urn:microsoft.com/office/officeart/2005/8/layout/hProcess9"/>
    <dgm:cxn modelId="{C2A45A4A-B7B3-467D-940B-6E5BB6F0827B}" type="presParOf" srcId="{6FF2C7D4-B482-4D51-8077-5F97273AD830}" destId="{8A8B4F12-9193-4103-8807-ABCEDD38638C}" srcOrd="4" destOrd="0" presId="urn:microsoft.com/office/officeart/2005/8/layout/hProcess9"/>
    <dgm:cxn modelId="{8C48F9A4-837F-4E35-B757-B47BB03BFB51}" type="presParOf" srcId="{6FF2C7D4-B482-4D51-8077-5F97273AD830}" destId="{99223D61-7ADD-4537-9DD0-96498BB1DB29}" srcOrd="5" destOrd="0" presId="urn:microsoft.com/office/officeart/2005/8/layout/hProcess9"/>
    <dgm:cxn modelId="{FBBD2E8B-032B-43A5-B6FD-146D97E4ACB2}" type="presParOf" srcId="{6FF2C7D4-B482-4D51-8077-5F97273AD830}" destId="{340F5CEF-2D81-4779-B08A-7B2ECD5C7D8D}" srcOrd="6" destOrd="0" presId="urn:microsoft.com/office/officeart/2005/8/layout/hProcess9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C23C351-E62A-4976-B3C9-B3C291AD5360}" type="doc">
      <dgm:prSet loTypeId="urn:microsoft.com/office/officeart/2005/8/layout/chart3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625CF6DD-BAE3-4AC1-9CE4-1FF9357CF7CD}">
      <dgm:prSet/>
      <dgm:spPr/>
      <dgm:t>
        <a:bodyPr/>
        <a:lstStyle/>
        <a:p>
          <a:r>
            <a:rPr lang="en-IN" b="1" dirty="0"/>
            <a:t>Range</a:t>
          </a:r>
          <a:r>
            <a:rPr lang="en-IN" dirty="0"/>
            <a:t> </a:t>
          </a:r>
        </a:p>
      </dgm:t>
    </dgm:pt>
    <dgm:pt modelId="{189BE424-6A0A-4694-86B9-02BA415F9B4A}" type="parTrans" cxnId="{AF64D558-84AC-4C7A-A304-6E1E0A336E7C}">
      <dgm:prSet/>
      <dgm:spPr/>
      <dgm:t>
        <a:bodyPr/>
        <a:lstStyle/>
        <a:p>
          <a:endParaRPr lang="en-IN"/>
        </a:p>
      </dgm:t>
    </dgm:pt>
    <dgm:pt modelId="{C59E45AC-41CE-418F-B1DE-E21592A59B3C}" type="sibTrans" cxnId="{AF64D558-84AC-4C7A-A304-6E1E0A336E7C}">
      <dgm:prSet/>
      <dgm:spPr/>
      <dgm:t>
        <a:bodyPr/>
        <a:lstStyle/>
        <a:p>
          <a:endParaRPr lang="en-IN"/>
        </a:p>
      </dgm:t>
    </dgm:pt>
    <dgm:pt modelId="{91B5D7BA-2AA4-4144-9451-5EF83C95EED9}">
      <dgm:prSet/>
      <dgm:spPr/>
      <dgm:t>
        <a:bodyPr/>
        <a:lstStyle/>
        <a:p>
          <a:r>
            <a:rPr lang="en-IN" b="1" dirty="0"/>
            <a:t>Interquartile Range (IQR)</a:t>
          </a:r>
          <a:r>
            <a:rPr lang="en-IN" dirty="0"/>
            <a:t> </a:t>
          </a:r>
        </a:p>
      </dgm:t>
    </dgm:pt>
    <dgm:pt modelId="{0B87404B-DEF4-4C36-89B5-33BC74909D59}" type="parTrans" cxnId="{EDEEB67E-EDE7-4A16-8446-69DFFE99D940}">
      <dgm:prSet/>
      <dgm:spPr/>
      <dgm:t>
        <a:bodyPr/>
        <a:lstStyle/>
        <a:p>
          <a:endParaRPr lang="en-IN"/>
        </a:p>
      </dgm:t>
    </dgm:pt>
    <dgm:pt modelId="{F6D5F631-5ECF-464C-8BAA-A60DA31C0A55}" type="sibTrans" cxnId="{EDEEB67E-EDE7-4A16-8446-69DFFE99D940}">
      <dgm:prSet/>
      <dgm:spPr/>
      <dgm:t>
        <a:bodyPr/>
        <a:lstStyle/>
        <a:p>
          <a:endParaRPr lang="en-IN"/>
        </a:p>
      </dgm:t>
    </dgm:pt>
    <dgm:pt modelId="{A7FE8A61-4170-4003-8393-83E580CD3A02}">
      <dgm:prSet/>
      <dgm:spPr/>
      <dgm:t>
        <a:bodyPr/>
        <a:lstStyle/>
        <a:p>
          <a:r>
            <a:rPr lang="en-IN" b="1"/>
            <a:t>Variance</a:t>
          </a:r>
          <a:r>
            <a:rPr lang="en-IN"/>
            <a:t> </a:t>
          </a:r>
        </a:p>
      </dgm:t>
    </dgm:pt>
    <dgm:pt modelId="{B0C152E7-3563-4C96-B18F-B149D756E2E7}" type="parTrans" cxnId="{74D0DC5D-D291-4996-8142-A282B3CE8093}">
      <dgm:prSet/>
      <dgm:spPr/>
      <dgm:t>
        <a:bodyPr/>
        <a:lstStyle/>
        <a:p>
          <a:endParaRPr lang="en-IN"/>
        </a:p>
      </dgm:t>
    </dgm:pt>
    <dgm:pt modelId="{6375FCEE-9365-4292-BE0A-CE5FE0FE40B9}" type="sibTrans" cxnId="{74D0DC5D-D291-4996-8142-A282B3CE8093}">
      <dgm:prSet/>
      <dgm:spPr/>
      <dgm:t>
        <a:bodyPr/>
        <a:lstStyle/>
        <a:p>
          <a:endParaRPr lang="en-IN"/>
        </a:p>
      </dgm:t>
    </dgm:pt>
    <dgm:pt modelId="{6CF4B43D-5D25-4803-B242-05AB800DD610}">
      <dgm:prSet/>
      <dgm:spPr/>
      <dgm:t>
        <a:bodyPr/>
        <a:lstStyle/>
        <a:p>
          <a:r>
            <a:rPr lang="en-IN"/>
            <a:t>Standard Deviation (SD)</a:t>
          </a:r>
        </a:p>
      </dgm:t>
    </dgm:pt>
    <dgm:pt modelId="{7284C44D-CC80-42AF-9FC7-BF98BF277D6E}" type="parTrans" cxnId="{743D315A-EDD4-4272-9C5D-8B2160B47416}">
      <dgm:prSet/>
      <dgm:spPr/>
      <dgm:t>
        <a:bodyPr/>
        <a:lstStyle/>
        <a:p>
          <a:endParaRPr lang="en-IN"/>
        </a:p>
      </dgm:t>
    </dgm:pt>
    <dgm:pt modelId="{FFC88439-07F1-4F6F-AB0A-E07B9B51D1A5}" type="sibTrans" cxnId="{743D315A-EDD4-4272-9C5D-8B2160B47416}">
      <dgm:prSet/>
      <dgm:spPr/>
      <dgm:t>
        <a:bodyPr/>
        <a:lstStyle/>
        <a:p>
          <a:endParaRPr lang="en-IN"/>
        </a:p>
      </dgm:t>
    </dgm:pt>
    <dgm:pt modelId="{43EA43A0-F190-4159-93DF-1FAAB796514E}">
      <dgm:prSet/>
      <dgm:spPr/>
      <dgm:t>
        <a:bodyPr/>
        <a:lstStyle/>
        <a:p>
          <a:r>
            <a:rPr lang="en-IN"/>
            <a:t>Coefficient of Variation (CV</a:t>
          </a:r>
        </a:p>
      </dgm:t>
    </dgm:pt>
    <dgm:pt modelId="{31598B76-18D9-4309-A6BC-80ED984194E1}" type="parTrans" cxnId="{6AC7243B-EF56-4D5F-9EE3-3AB3FA4DADF8}">
      <dgm:prSet/>
      <dgm:spPr/>
      <dgm:t>
        <a:bodyPr/>
        <a:lstStyle/>
        <a:p>
          <a:endParaRPr lang="en-IN"/>
        </a:p>
      </dgm:t>
    </dgm:pt>
    <dgm:pt modelId="{4BA76FB0-7F82-4A49-8DA9-986BA5EBB8D2}" type="sibTrans" cxnId="{6AC7243B-EF56-4D5F-9EE3-3AB3FA4DADF8}">
      <dgm:prSet/>
      <dgm:spPr/>
      <dgm:t>
        <a:bodyPr/>
        <a:lstStyle/>
        <a:p>
          <a:endParaRPr lang="en-IN"/>
        </a:p>
      </dgm:t>
    </dgm:pt>
    <dgm:pt modelId="{7C940E62-D398-4EBE-A6E5-D19E20DCA2AA}" type="pres">
      <dgm:prSet presAssocID="{CC23C351-E62A-4976-B3C9-B3C291AD5360}" presName="compositeShape" presStyleCnt="0">
        <dgm:presLayoutVars>
          <dgm:chMax val="7"/>
          <dgm:dir/>
          <dgm:resizeHandles val="exact"/>
        </dgm:presLayoutVars>
      </dgm:prSet>
      <dgm:spPr/>
    </dgm:pt>
    <dgm:pt modelId="{1575542A-481B-4C13-A66F-363156AE8C44}" type="pres">
      <dgm:prSet presAssocID="{CC23C351-E62A-4976-B3C9-B3C291AD5360}" presName="wedge1" presStyleLbl="node1" presStyleIdx="0" presStyleCnt="5"/>
      <dgm:spPr/>
    </dgm:pt>
    <dgm:pt modelId="{FC6BB9A1-9E8F-41E9-B432-F13EE30686A4}" type="pres">
      <dgm:prSet presAssocID="{CC23C351-E62A-4976-B3C9-B3C291AD5360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CBD3FF-F7E3-486B-869F-F200CE5748F3}" type="pres">
      <dgm:prSet presAssocID="{CC23C351-E62A-4976-B3C9-B3C291AD5360}" presName="wedge2" presStyleLbl="node1" presStyleIdx="1" presStyleCnt="5"/>
      <dgm:spPr/>
    </dgm:pt>
    <dgm:pt modelId="{F8258DB3-F3CD-46B7-8CB1-E400F1ADF5D4}" type="pres">
      <dgm:prSet presAssocID="{CC23C351-E62A-4976-B3C9-B3C291AD5360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82E4CFA5-75FA-490A-B675-D830B8212594}" type="pres">
      <dgm:prSet presAssocID="{CC23C351-E62A-4976-B3C9-B3C291AD5360}" presName="wedge3" presStyleLbl="node1" presStyleIdx="2" presStyleCnt="5"/>
      <dgm:spPr/>
    </dgm:pt>
    <dgm:pt modelId="{B2030B48-35E6-46CD-AE77-90D887A5A531}" type="pres">
      <dgm:prSet presAssocID="{CC23C351-E62A-4976-B3C9-B3C291AD5360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511CA36C-686E-49FF-986B-CBC20C394F32}" type="pres">
      <dgm:prSet presAssocID="{CC23C351-E62A-4976-B3C9-B3C291AD5360}" presName="wedge4" presStyleLbl="node1" presStyleIdx="3" presStyleCnt="5"/>
      <dgm:spPr/>
    </dgm:pt>
    <dgm:pt modelId="{E6654808-F976-46BC-9A62-65EA3864D238}" type="pres">
      <dgm:prSet presAssocID="{CC23C351-E62A-4976-B3C9-B3C291AD5360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89C672CB-7A6E-4CF1-8CFA-8700437BAC1E}" type="pres">
      <dgm:prSet presAssocID="{CC23C351-E62A-4976-B3C9-B3C291AD5360}" presName="wedge5" presStyleLbl="node1" presStyleIdx="4" presStyleCnt="5"/>
      <dgm:spPr/>
    </dgm:pt>
    <dgm:pt modelId="{FAB524EB-7BA1-4CE6-857D-B6C0397AABC7}" type="pres">
      <dgm:prSet presAssocID="{CC23C351-E62A-4976-B3C9-B3C291AD5360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CC7BC700-E603-4B13-BF7D-490A4E562E2A}" type="presOf" srcId="{625CF6DD-BAE3-4AC1-9CE4-1FF9357CF7CD}" destId="{FC6BB9A1-9E8F-41E9-B432-F13EE30686A4}" srcOrd="1" destOrd="0" presId="urn:microsoft.com/office/officeart/2005/8/layout/chart3"/>
    <dgm:cxn modelId="{21D8701D-D90F-4E21-A020-EB7BE25FCFE8}" type="presOf" srcId="{91B5D7BA-2AA4-4144-9451-5EF83C95EED9}" destId="{F8258DB3-F3CD-46B7-8CB1-E400F1ADF5D4}" srcOrd="1" destOrd="0" presId="urn:microsoft.com/office/officeart/2005/8/layout/chart3"/>
    <dgm:cxn modelId="{4ACA211E-4949-4C07-B3A1-BD4B65FFA479}" type="presOf" srcId="{A7FE8A61-4170-4003-8393-83E580CD3A02}" destId="{B2030B48-35E6-46CD-AE77-90D887A5A531}" srcOrd="1" destOrd="0" presId="urn:microsoft.com/office/officeart/2005/8/layout/chart3"/>
    <dgm:cxn modelId="{5A0B8433-733B-41FD-B62F-D999BBA01F35}" type="presOf" srcId="{43EA43A0-F190-4159-93DF-1FAAB796514E}" destId="{FAB524EB-7BA1-4CE6-857D-B6C0397AABC7}" srcOrd="1" destOrd="0" presId="urn:microsoft.com/office/officeart/2005/8/layout/chart3"/>
    <dgm:cxn modelId="{BF826135-187D-4F7A-A57D-8F69943C2A37}" type="presOf" srcId="{A7FE8A61-4170-4003-8393-83E580CD3A02}" destId="{82E4CFA5-75FA-490A-B675-D830B8212594}" srcOrd="0" destOrd="0" presId="urn:microsoft.com/office/officeart/2005/8/layout/chart3"/>
    <dgm:cxn modelId="{6AC7243B-EF56-4D5F-9EE3-3AB3FA4DADF8}" srcId="{CC23C351-E62A-4976-B3C9-B3C291AD5360}" destId="{43EA43A0-F190-4159-93DF-1FAAB796514E}" srcOrd="4" destOrd="0" parTransId="{31598B76-18D9-4309-A6BC-80ED984194E1}" sibTransId="{4BA76FB0-7F82-4A49-8DA9-986BA5EBB8D2}"/>
    <dgm:cxn modelId="{74D0DC5D-D291-4996-8142-A282B3CE8093}" srcId="{CC23C351-E62A-4976-B3C9-B3C291AD5360}" destId="{A7FE8A61-4170-4003-8393-83E580CD3A02}" srcOrd="2" destOrd="0" parTransId="{B0C152E7-3563-4C96-B18F-B149D756E2E7}" sibTransId="{6375FCEE-9365-4292-BE0A-CE5FE0FE40B9}"/>
    <dgm:cxn modelId="{1C12566C-70B0-4BF6-9FD4-F893F1F4408C}" type="presOf" srcId="{CC23C351-E62A-4976-B3C9-B3C291AD5360}" destId="{7C940E62-D398-4EBE-A6E5-D19E20DCA2AA}" srcOrd="0" destOrd="0" presId="urn:microsoft.com/office/officeart/2005/8/layout/chart3"/>
    <dgm:cxn modelId="{AF64D558-84AC-4C7A-A304-6E1E0A336E7C}" srcId="{CC23C351-E62A-4976-B3C9-B3C291AD5360}" destId="{625CF6DD-BAE3-4AC1-9CE4-1FF9357CF7CD}" srcOrd="0" destOrd="0" parTransId="{189BE424-6A0A-4694-86B9-02BA415F9B4A}" sibTransId="{C59E45AC-41CE-418F-B1DE-E21592A59B3C}"/>
    <dgm:cxn modelId="{743D315A-EDD4-4272-9C5D-8B2160B47416}" srcId="{CC23C351-E62A-4976-B3C9-B3C291AD5360}" destId="{6CF4B43D-5D25-4803-B242-05AB800DD610}" srcOrd="3" destOrd="0" parTransId="{7284C44D-CC80-42AF-9FC7-BF98BF277D6E}" sibTransId="{FFC88439-07F1-4F6F-AB0A-E07B9B51D1A5}"/>
    <dgm:cxn modelId="{A47BAA7B-354D-4B3E-9608-965D546E91F5}" type="presOf" srcId="{91B5D7BA-2AA4-4144-9451-5EF83C95EED9}" destId="{06CBD3FF-F7E3-486B-869F-F200CE5748F3}" srcOrd="0" destOrd="0" presId="urn:microsoft.com/office/officeart/2005/8/layout/chart3"/>
    <dgm:cxn modelId="{EDEEB67E-EDE7-4A16-8446-69DFFE99D940}" srcId="{CC23C351-E62A-4976-B3C9-B3C291AD5360}" destId="{91B5D7BA-2AA4-4144-9451-5EF83C95EED9}" srcOrd="1" destOrd="0" parTransId="{0B87404B-DEF4-4C36-89B5-33BC74909D59}" sibTransId="{F6D5F631-5ECF-464C-8BAA-A60DA31C0A55}"/>
    <dgm:cxn modelId="{DB5F778A-A2FB-4FAF-AFEF-770C2E6AD661}" type="presOf" srcId="{6CF4B43D-5D25-4803-B242-05AB800DD610}" destId="{E6654808-F976-46BC-9A62-65EA3864D238}" srcOrd="1" destOrd="0" presId="urn:microsoft.com/office/officeart/2005/8/layout/chart3"/>
    <dgm:cxn modelId="{EC0299BD-EA41-4946-BE5D-EEE6F7AFF9DA}" type="presOf" srcId="{43EA43A0-F190-4159-93DF-1FAAB796514E}" destId="{89C672CB-7A6E-4CF1-8CFA-8700437BAC1E}" srcOrd="0" destOrd="0" presId="urn:microsoft.com/office/officeart/2005/8/layout/chart3"/>
    <dgm:cxn modelId="{9103D5D3-254E-4D14-AC6A-8F394FA95C6A}" type="presOf" srcId="{625CF6DD-BAE3-4AC1-9CE4-1FF9357CF7CD}" destId="{1575542A-481B-4C13-A66F-363156AE8C44}" srcOrd="0" destOrd="0" presId="urn:microsoft.com/office/officeart/2005/8/layout/chart3"/>
    <dgm:cxn modelId="{D9A134FB-F1B3-4D45-B106-C60A20A7C6CF}" type="presOf" srcId="{6CF4B43D-5D25-4803-B242-05AB800DD610}" destId="{511CA36C-686E-49FF-986B-CBC20C394F32}" srcOrd="0" destOrd="0" presId="urn:microsoft.com/office/officeart/2005/8/layout/chart3"/>
    <dgm:cxn modelId="{00908422-3B69-4CB0-AC17-F08400A97FFC}" type="presParOf" srcId="{7C940E62-D398-4EBE-A6E5-D19E20DCA2AA}" destId="{1575542A-481B-4C13-A66F-363156AE8C44}" srcOrd="0" destOrd="0" presId="urn:microsoft.com/office/officeart/2005/8/layout/chart3"/>
    <dgm:cxn modelId="{8AD0BDD5-F145-4E4D-ACA7-599CD3DB6419}" type="presParOf" srcId="{7C940E62-D398-4EBE-A6E5-D19E20DCA2AA}" destId="{FC6BB9A1-9E8F-41E9-B432-F13EE30686A4}" srcOrd="1" destOrd="0" presId="urn:microsoft.com/office/officeart/2005/8/layout/chart3"/>
    <dgm:cxn modelId="{F023D1CC-C96C-4238-AA0D-CB5791AE178F}" type="presParOf" srcId="{7C940E62-D398-4EBE-A6E5-D19E20DCA2AA}" destId="{06CBD3FF-F7E3-486B-869F-F200CE5748F3}" srcOrd="2" destOrd="0" presId="urn:microsoft.com/office/officeart/2005/8/layout/chart3"/>
    <dgm:cxn modelId="{17C4E8C7-5394-48E4-A81B-370A7E28096E}" type="presParOf" srcId="{7C940E62-D398-4EBE-A6E5-D19E20DCA2AA}" destId="{F8258DB3-F3CD-46B7-8CB1-E400F1ADF5D4}" srcOrd="3" destOrd="0" presId="urn:microsoft.com/office/officeart/2005/8/layout/chart3"/>
    <dgm:cxn modelId="{E26285DE-28C2-47F3-8066-A2641FC9D563}" type="presParOf" srcId="{7C940E62-D398-4EBE-A6E5-D19E20DCA2AA}" destId="{82E4CFA5-75FA-490A-B675-D830B8212594}" srcOrd="4" destOrd="0" presId="urn:microsoft.com/office/officeart/2005/8/layout/chart3"/>
    <dgm:cxn modelId="{7E0BDA1C-790D-4DFC-BD23-828BC5150E14}" type="presParOf" srcId="{7C940E62-D398-4EBE-A6E5-D19E20DCA2AA}" destId="{B2030B48-35E6-46CD-AE77-90D887A5A531}" srcOrd="5" destOrd="0" presId="urn:microsoft.com/office/officeart/2005/8/layout/chart3"/>
    <dgm:cxn modelId="{9B1F8C8B-6118-48BE-9E38-6E4A5FE1FCA0}" type="presParOf" srcId="{7C940E62-D398-4EBE-A6E5-D19E20DCA2AA}" destId="{511CA36C-686E-49FF-986B-CBC20C394F32}" srcOrd="6" destOrd="0" presId="urn:microsoft.com/office/officeart/2005/8/layout/chart3"/>
    <dgm:cxn modelId="{62815ABE-6EEA-4DCD-A448-D61E0F6131AB}" type="presParOf" srcId="{7C940E62-D398-4EBE-A6E5-D19E20DCA2AA}" destId="{E6654808-F976-46BC-9A62-65EA3864D238}" srcOrd="7" destOrd="0" presId="urn:microsoft.com/office/officeart/2005/8/layout/chart3"/>
    <dgm:cxn modelId="{B8623E13-572F-4C4D-8C85-49F56D0C6435}" type="presParOf" srcId="{7C940E62-D398-4EBE-A6E5-D19E20DCA2AA}" destId="{89C672CB-7A6E-4CF1-8CFA-8700437BAC1E}" srcOrd="8" destOrd="0" presId="urn:microsoft.com/office/officeart/2005/8/layout/chart3"/>
    <dgm:cxn modelId="{2FFE292A-1348-43A3-BC3F-F5C4E4236174}" type="presParOf" srcId="{7C940E62-D398-4EBE-A6E5-D19E20DCA2AA}" destId="{FAB524EB-7BA1-4CE6-857D-B6C0397AABC7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22257A-A3FF-4ABD-B0C2-C719B4A52D5B}">
      <dsp:nvSpPr>
        <dsp:cNvPr id="0" name=""/>
        <dsp:cNvSpPr/>
      </dsp:nvSpPr>
      <dsp:spPr>
        <a:xfrm rot="10800000">
          <a:off x="2087388" y="1274"/>
          <a:ext cx="7561718" cy="73098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342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Turn raw data into meaningful information and insights</a:t>
          </a:r>
        </a:p>
      </dsp:txBody>
      <dsp:txXfrm rot="10800000">
        <a:off x="2270133" y="1274"/>
        <a:ext cx="7378973" cy="730981"/>
      </dsp:txXfrm>
    </dsp:sp>
    <dsp:sp modelId="{BA414971-EC80-4107-90B4-E59E72F7A0EC}">
      <dsp:nvSpPr>
        <dsp:cNvPr id="0" name=""/>
        <dsp:cNvSpPr/>
      </dsp:nvSpPr>
      <dsp:spPr>
        <a:xfrm>
          <a:off x="1721898" y="1274"/>
          <a:ext cx="730981" cy="730981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23000" r="-2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5513C7-3A63-4A57-995C-4D60C689CF85}">
      <dsp:nvSpPr>
        <dsp:cNvPr id="0" name=""/>
        <dsp:cNvSpPr/>
      </dsp:nvSpPr>
      <dsp:spPr>
        <a:xfrm rot="10800000">
          <a:off x="2087388" y="949382"/>
          <a:ext cx="7561718" cy="73098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342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Summarize data: What is typical? How much variation?</a:t>
          </a:r>
        </a:p>
      </dsp:txBody>
      <dsp:txXfrm rot="10800000">
        <a:off x="2270133" y="949382"/>
        <a:ext cx="7378973" cy="730981"/>
      </dsp:txXfrm>
    </dsp:sp>
    <dsp:sp modelId="{0F23E00C-960B-400C-9131-04BC8C4E2DAC}">
      <dsp:nvSpPr>
        <dsp:cNvPr id="0" name=""/>
        <dsp:cNvSpPr/>
      </dsp:nvSpPr>
      <dsp:spPr>
        <a:xfrm>
          <a:off x="1721898" y="949382"/>
          <a:ext cx="730981" cy="730981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 l="-16000" r="-16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FBAD2E-3BA8-451E-AEF0-44C95BF40AEE}">
      <dsp:nvSpPr>
        <dsp:cNvPr id="0" name=""/>
        <dsp:cNvSpPr/>
      </dsp:nvSpPr>
      <dsp:spPr>
        <a:xfrm rot="10800000">
          <a:off x="2087388" y="1897490"/>
          <a:ext cx="7561718" cy="73098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342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Understand relationships between variables</a:t>
          </a:r>
        </a:p>
      </dsp:txBody>
      <dsp:txXfrm rot="10800000">
        <a:off x="2270133" y="1897490"/>
        <a:ext cx="7378973" cy="730981"/>
      </dsp:txXfrm>
    </dsp:sp>
    <dsp:sp modelId="{62F8E136-7F77-4F35-8BBF-B7F064B250FF}">
      <dsp:nvSpPr>
        <dsp:cNvPr id="0" name=""/>
        <dsp:cNvSpPr/>
      </dsp:nvSpPr>
      <dsp:spPr>
        <a:xfrm>
          <a:off x="1721898" y="1897490"/>
          <a:ext cx="730981" cy="730981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l="-14000" r="-1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26F1C4-05C9-47AC-9167-E314EC025C97}">
      <dsp:nvSpPr>
        <dsp:cNvPr id="0" name=""/>
        <dsp:cNvSpPr/>
      </dsp:nvSpPr>
      <dsp:spPr>
        <a:xfrm rot="10800000">
          <a:off x="2087388" y="2845599"/>
          <a:ext cx="7561718" cy="73098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342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Make decisions under uncertainty using samples</a:t>
          </a:r>
        </a:p>
      </dsp:txBody>
      <dsp:txXfrm rot="10800000">
        <a:off x="2270133" y="2845599"/>
        <a:ext cx="7378973" cy="730981"/>
      </dsp:txXfrm>
    </dsp:sp>
    <dsp:sp modelId="{D1C2E5DD-27B8-4851-B77B-AC0EF01C3919}">
      <dsp:nvSpPr>
        <dsp:cNvPr id="0" name=""/>
        <dsp:cNvSpPr/>
      </dsp:nvSpPr>
      <dsp:spPr>
        <a:xfrm>
          <a:off x="1721898" y="2845599"/>
          <a:ext cx="730981" cy="730981"/>
        </a:xfrm>
        <a:prstGeom prst="ellipse">
          <a:avLst/>
        </a:prstGeom>
        <a:blipFill>
          <a:blip xmlns:r="http://schemas.openxmlformats.org/officeDocument/2006/relationships" r:embed="rId4"/>
          <a:srcRect/>
          <a:stretch>
            <a:fillRect l="-26000" r="-26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EADA74-ABCF-4123-B26C-5DDAA635637D}">
      <dsp:nvSpPr>
        <dsp:cNvPr id="0" name=""/>
        <dsp:cNvSpPr/>
      </dsp:nvSpPr>
      <dsp:spPr>
        <a:xfrm rot="10800000">
          <a:off x="2087388" y="3793707"/>
          <a:ext cx="7561718" cy="73098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342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Foundation for ML models: feature understanding, assumptions, evaluation</a:t>
          </a:r>
        </a:p>
      </dsp:txBody>
      <dsp:txXfrm rot="10800000">
        <a:off x="2270133" y="3793707"/>
        <a:ext cx="7378973" cy="730981"/>
      </dsp:txXfrm>
    </dsp:sp>
    <dsp:sp modelId="{8DB8583B-99D9-4BEC-B95C-A1D35377F8A5}">
      <dsp:nvSpPr>
        <dsp:cNvPr id="0" name=""/>
        <dsp:cNvSpPr/>
      </dsp:nvSpPr>
      <dsp:spPr>
        <a:xfrm>
          <a:off x="1721898" y="3793707"/>
          <a:ext cx="730981" cy="730981"/>
        </a:xfrm>
        <a:prstGeom prst="ellipse">
          <a:avLst/>
        </a:prstGeom>
        <a:blipFill>
          <a:blip xmlns:r="http://schemas.openxmlformats.org/officeDocument/2006/relationships" r:embed="rId5"/>
          <a:srcRect/>
          <a:stretch>
            <a:fillRect l="-56000" r="-56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F84E1E-4CB7-4595-88CA-D96B6AD8A8B1}">
      <dsp:nvSpPr>
        <dsp:cNvPr id="0" name=""/>
        <dsp:cNvSpPr/>
      </dsp:nvSpPr>
      <dsp:spPr>
        <a:xfrm>
          <a:off x="1803907" y="2356"/>
          <a:ext cx="2029396" cy="11334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Nominal: labels only, no order (e.g., Male/Female, City)</a:t>
          </a:r>
        </a:p>
      </dsp:txBody>
      <dsp:txXfrm>
        <a:off x="1859237" y="57686"/>
        <a:ext cx="1918736" cy="1022788"/>
      </dsp:txXfrm>
    </dsp:sp>
    <dsp:sp modelId="{10B4B5DB-0735-4C8B-9FF4-1E0CA5923506}">
      <dsp:nvSpPr>
        <dsp:cNvPr id="0" name=""/>
        <dsp:cNvSpPr/>
      </dsp:nvSpPr>
      <dsp:spPr>
        <a:xfrm>
          <a:off x="1803907" y="1192477"/>
          <a:ext cx="2029396" cy="11334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Ordinal: order exists, gaps unknown (e.g., 1st, 2nd, 3rd rank)</a:t>
          </a:r>
        </a:p>
      </dsp:txBody>
      <dsp:txXfrm>
        <a:off x="1859237" y="1247807"/>
        <a:ext cx="1918736" cy="1022788"/>
      </dsp:txXfrm>
    </dsp:sp>
    <dsp:sp modelId="{C1D6E096-A0AF-4BDC-B7D1-B0795292A2A1}">
      <dsp:nvSpPr>
        <dsp:cNvPr id="0" name=""/>
        <dsp:cNvSpPr/>
      </dsp:nvSpPr>
      <dsp:spPr>
        <a:xfrm>
          <a:off x="1803907" y="2382598"/>
          <a:ext cx="2029396" cy="11334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Interval: numeric, equal intervals, no true zero (e.g., °C temperature)</a:t>
          </a:r>
        </a:p>
      </dsp:txBody>
      <dsp:txXfrm>
        <a:off x="1859237" y="2437928"/>
        <a:ext cx="1918736" cy="1022788"/>
      </dsp:txXfrm>
    </dsp:sp>
    <dsp:sp modelId="{8B42D8DD-51CB-4E4F-9A47-125A0671DA98}">
      <dsp:nvSpPr>
        <dsp:cNvPr id="0" name=""/>
        <dsp:cNvSpPr/>
      </dsp:nvSpPr>
      <dsp:spPr>
        <a:xfrm>
          <a:off x="1803907" y="3572719"/>
          <a:ext cx="2029396" cy="11334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Ratio: numeric, equal intervals, true zero (e.g., height, weight, sales)</a:t>
          </a:r>
        </a:p>
      </dsp:txBody>
      <dsp:txXfrm>
        <a:off x="1859237" y="3628049"/>
        <a:ext cx="1918736" cy="10227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69E4F7-E639-4441-9768-1A29738F5AE6}">
      <dsp:nvSpPr>
        <dsp:cNvPr id="0" name=""/>
        <dsp:cNvSpPr/>
      </dsp:nvSpPr>
      <dsp:spPr>
        <a:xfrm rot="5400000">
          <a:off x="5512118" y="-2077659"/>
          <a:ext cx="1324684" cy="5811257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 dirty="0"/>
            <a:t>Summarize and describe the dataset you have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 dirty="0"/>
            <a:t>Examples: mean, median, standard deviation, histogram, boxplot</a:t>
          </a:r>
        </a:p>
      </dsp:txBody>
      <dsp:txXfrm rot="-5400000">
        <a:off x="3268832" y="230293"/>
        <a:ext cx="5746591" cy="1195352"/>
      </dsp:txXfrm>
    </dsp:sp>
    <dsp:sp modelId="{DD5C6618-5ED0-40AA-9B9B-2EF042E25604}">
      <dsp:nvSpPr>
        <dsp:cNvPr id="0" name=""/>
        <dsp:cNvSpPr/>
      </dsp:nvSpPr>
      <dsp:spPr>
        <a:xfrm>
          <a:off x="0" y="41"/>
          <a:ext cx="3268832" cy="1655855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500" kern="1200"/>
            <a:t>Descriptive Statistics</a:t>
          </a:r>
        </a:p>
      </dsp:txBody>
      <dsp:txXfrm>
        <a:off x="80832" y="80873"/>
        <a:ext cx="3107168" cy="1494191"/>
      </dsp:txXfrm>
    </dsp:sp>
    <dsp:sp modelId="{0EAF3687-2BB9-457E-9B9F-6280BCC2D446}">
      <dsp:nvSpPr>
        <dsp:cNvPr id="0" name=""/>
        <dsp:cNvSpPr/>
      </dsp:nvSpPr>
      <dsp:spPr>
        <a:xfrm rot="5400000">
          <a:off x="5512118" y="-339011"/>
          <a:ext cx="1324684" cy="5811257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 dirty="0"/>
            <a:t>Use sample data to draw conclusions about a larger population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 dirty="0"/>
            <a:t>Examples: confidence intervals, hypothesis tests, t-test, chi-square</a:t>
          </a:r>
        </a:p>
      </dsp:txBody>
      <dsp:txXfrm rot="-5400000">
        <a:off x="3268832" y="1968941"/>
        <a:ext cx="5746591" cy="1195352"/>
      </dsp:txXfrm>
    </dsp:sp>
    <dsp:sp modelId="{3E910F40-716C-447C-8FCC-C86A4528F9DE}">
      <dsp:nvSpPr>
        <dsp:cNvPr id="0" name=""/>
        <dsp:cNvSpPr/>
      </dsp:nvSpPr>
      <dsp:spPr>
        <a:xfrm>
          <a:off x="0" y="1738689"/>
          <a:ext cx="3268832" cy="1655855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-381692"/>
                <a:satOff val="17009"/>
                <a:lumOff val="2377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shade val="80000"/>
                <a:hueOff val="-381692"/>
                <a:satOff val="17009"/>
                <a:lumOff val="2377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500" kern="1200"/>
            <a:t>Inferential Statistics</a:t>
          </a:r>
        </a:p>
      </dsp:txBody>
      <dsp:txXfrm>
        <a:off x="80832" y="1819521"/>
        <a:ext cx="3107168" cy="149419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6DA1DB-5412-4237-8250-99B45827F0CF}">
      <dsp:nvSpPr>
        <dsp:cNvPr id="0" name=""/>
        <dsp:cNvSpPr/>
      </dsp:nvSpPr>
      <dsp:spPr>
        <a:xfrm>
          <a:off x="3780107" y="0"/>
          <a:ext cx="3048790" cy="1905494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4F15F5-915B-45C0-B8A8-3B41FFECCA51}">
      <dsp:nvSpPr>
        <dsp:cNvPr id="0" name=""/>
        <dsp:cNvSpPr/>
      </dsp:nvSpPr>
      <dsp:spPr>
        <a:xfrm>
          <a:off x="4167304" y="1315171"/>
          <a:ext cx="79268" cy="792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C84D4A-D7B4-4E56-B541-E25111CA3A5A}">
      <dsp:nvSpPr>
        <dsp:cNvPr id="0" name=""/>
        <dsp:cNvSpPr/>
      </dsp:nvSpPr>
      <dsp:spPr>
        <a:xfrm>
          <a:off x="4206938" y="1354806"/>
          <a:ext cx="710368" cy="550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003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Start with descriptive </a:t>
          </a:r>
        </a:p>
      </dsp:txBody>
      <dsp:txXfrm>
        <a:off x="4206938" y="1354806"/>
        <a:ext cx="710368" cy="550687"/>
      </dsp:txXfrm>
    </dsp:sp>
    <dsp:sp modelId="{B2A8869F-037E-4D52-82D1-565A43E191B7}">
      <dsp:nvSpPr>
        <dsp:cNvPr id="0" name=""/>
        <dsp:cNvSpPr/>
      </dsp:nvSpPr>
      <dsp:spPr>
        <a:xfrm>
          <a:off x="4867001" y="797258"/>
          <a:ext cx="143293" cy="1432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2048AB-6207-4830-8339-14F1E2F1FBAE}">
      <dsp:nvSpPr>
        <dsp:cNvPr id="0" name=""/>
        <dsp:cNvSpPr/>
      </dsp:nvSpPr>
      <dsp:spPr>
        <a:xfrm>
          <a:off x="4938648" y="868905"/>
          <a:ext cx="731709" cy="1036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928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then inferential </a:t>
          </a:r>
        </a:p>
      </dsp:txBody>
      <dsp:txXfrm>
        <a:off x="4938648" y="868905"/>
        <a:ext cx="731709" cy="1036588"/>
      </dsp:txXfrm>
    </dsp:sp>
    <dsp:sp modelId="{84826AC8-F925-4631-BAB5-6AD0744D531C}">
      <dsp:nvSpPr>
        <dsp:cNvPr id="0" name=""/>
        <dsp:cNvSpPr/>
      </dsp:nvSpPr>
      <dsp:spPr>
        <a:xfrm>
          <a:off x="5708467" y="482089"/>
          <a:ext cx="198171" cy="1981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DBFA57-B135-42C7-B13B-CDAEE711A22F}">
      <dsp:nvSpPr>
        <dsp:cNvPr id="0" name=""/>
        <dsp:cNvSpPr/>
      </dsp:nvSpPr>
      <dsp:spPr>
        <a:xfrm>
          <a:off x="5807553" y="581175"/>
          <a:ext cx="731709" cy="1324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007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then modelling.</a:t>
          </a:r>
        </a:p>
      </dsp:txBody>
      <dsp:txXfrm>
        <a:off x="5807553" y="581175"/>
        <a:ext cx="731709" cy="13243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9F8775-42E0-4B93-BF1C-1AB421C40A8E}">
      <dsp:nvSpPr>
        <dsp:cNvPr id="0" name=""/>
        <dsp:cNvSpPr/>
      </dsp:nvSpPr>
      <dsp:spPr>
        <a:xfrm>
          <a:off x="617219" y="0"/>
          <a:ext cx="6995160" cy="4525963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 val="49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210120-917C-42D7-81B4-F5BF141F0D90}">
      <dsp:nvSpPr>
        <dsp:cNvPr id="0" name=""/>
        <dsp:cNvSpPr/>
      </dsp:nvSpPr>
      <dsp:spPr>
        <a:xfrm>
          <a:off x="4118" y="1357788"/>
          <a:ext cx="1981051" cy="1810385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1. Central Tendency: Mean, Median, Mode</a:t>
          </a:r>
        </a:p>
      </dsp:txBody>
      <dsp:txXfrm>
        <a:off x="92494" y="1446164"/>
        <a:ext cx="1804299" cy="1633633"/>
      </dsp:txXfrm>
    </dsp:sp>
    <dsp:sp modelId="{35A8A100-62F0-4418-8666-F735A4C040E6}">
      <dsp:nvSpPr>
        <dsp:cNvPr id="0" name=""/>
        <dsp:cNvSpPr/>
      </dsp:nvSpPr>
      <dsp:spPr>
        <a:xfrm>
          <a:off x="2084222" y="1357788"/>
          <a:ext cx="1981051" cy="1810385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-13333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2. Dispersion: Variance, Std Dev, Range, Quartiles, Percentiles, IQR, CV</a:t>
          </a:r>
        </a:p>
      </dsp:txBody>
      <dsp:txXfrm>
        <a:off x="2172598" y="1446164"/>
        <a:ext cx="1804299" cy="1633633"/>
      </dsp:txXfrm>
    </dsp:sp>
    <dsp:sp modelId="{8A8B4F12-9193-4103-8807-ABCEDD38638C}">
      <dsp:nvSpPr>
        <dsp:cNvPr id="0" name=""/>
        <dsp:cNvSpPr/>
      </dsp:nvSpPr>
      <dsp:spPr>
        <a:xfrm>
          <a:off x="4164326" y="1357788"/>
          <a:ext cx="1981051" cy="1810385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-2666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3. Shape: Skewness, Kurtosis, Normal distribution check</a:t>
          </a:r>
        </a:p>
      </dsp:txBody>
      <dsp:txXfrm>
        <a:off x="4252702" y="1446164"/>
        <a:ext cx="1804299" cy="1633633"/>
      </dsp:txXfrm>
    </dsp:sp>
    <dsp:sp modelId="{340F5CEF-2D81-4779-B08A-7B2ECD5C7D8D}">
      <dsp:nvSpPr>
        <dsp:cNvPr id="0" name=""/>
        <dsp:cNvSpPr/>
      </dsp:nvSpPr>
      <dsp:spPr>
        <a:xfrm>
          <a:off x="6244430" y="1357788"/>
          <a:ext cx="1981051" cy="1810385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4. Data Visualization: Histogram, Boxplot, Bar chart, Scatter plot, Frequency table</a:t>
          </a:r>
        </a:p>
      </dsp:txBody>
      <dsp:txXfrm>
        <a:off x="6332806" y="1446164"/>
        <a:ext cx="1804299" cy="163363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75542A-481B-4C13-A66F-363156AE8C44}">
      <dsp:nvSpPr>
        <dsp:cNvPr id="0" name=""/>
        <dsp:cNvSpPr/>
      </dsp:nvSpPr>
      <dsp:spPr>
        <a:xfrm>
          <a:off x="3153600" y="232200"/>
          <a:ext cx="3264408" cy="3264408"/>
        </a:xfrm>
        <a:prstGeom prst="pie">
          <a:avLst>
            <a:gd name="adj1" fmla="val 16200000"/>
            <a:gd name="adj2" fmla="val 2052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Range</a:t>
          </a:r>
          <a:r>
            <a:rPr lang="en-IN" sz="1400" kern="1200" dirty="0"/>
            <a:t> </a:t>
          </a:r>
        </a:p>
      </dsp:txBody>
      <dsp:txXfrm>
        <a:off x="4826998" y="719918"/>
        <a:ext cx="1107567" cy="757809"/>
      </dsp:txXfrm>
    </dsp:sp>
    <dsp:sp modelId="{06CBD3FF-F7E3-486B-869F-F200CE5748F3}">
      <dsp:nvSpPr>
        <dsp:cNvPr id="0" name=""/>
        <dsp:cNvSpPr/>
      </dsp:nvSpPr>
      <dsp:spPr>
        <a:xfrm>
          <a:off x="3039346" y="389591"/>
          <a:ext cx="3264408" cy="3264408"/>
        </a:xfrm>
        <a:prstGeom prst="pie">
          <a:avLst>
            <a:gd name="adj1" fmla="val 20520000"/>
            <a:gd name="adj2" fmla="val 324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Interquartile Range (IQR)</a:t>
          </a:r>
          <a:r>
            <a:rPr lang="en-IN" sz="1400" kern="1200" dirty="0"/>
            <a:t> </a:t>
          </a:r>
        </a:p>
      </dsp:txBody>
      <dsp:txXfrm>
        <a:off x="5172870" y="1866347"/>
        <a:ext cx="971550" cy="819988"/>
      </dsp:txXfrm>
    </dsp:sp>
    <dsp:sp modelId="{82E4CFA5-75FA-490A-B675-D830B8212594}">
      <dsp:nvSpPr>
        <dsp:cNvPr id="0" name=""/>
        <dsp:cNvSpPr/>
      </dsp:nvSpPr>
      <dsp:spPr>
        <a:xfrm>
          <a:off x="3039346" y="389591"/>
          <a:ext cx="3264408" cy="3264408"/>
        </a:xfrm>
        <a:prstGeom prst="pie">
          <a:avLst>
            <a:gd name="adj1" fmla="val 3240000"/>
            <a:gd name="adj2" fmla="val 756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Variance</a:t>
          </a:r>
          <a:r>
            <a:rPr lang="en-IN" sz="1400" kern="1200"/>
            <a:t> </a:t>
          </a:r>
        </a:p>
      </dsp:txBody>
      <dsp:txXfrm>
        <a:off x="4088620" y="2837897"/>
        <a:ext cx="1165860" cy="699516"/>
      </dsp:txXfrm>
    </dsp:sp>
    <dsp:sp modelId="{511CA36C-686E-49FF-986B-CBC20C394F32}">
      <dsp:nvSpPr>
        <dsp:cNvPr id="0" name=""/>
        <dsp:cNvSpPr/>
      </dsp:nvSpPr>
      <dsp:spPr>
        <a:xfrm>
          <a:off x="3039346" y="389591"/>
          <a:ext cx="3264408" cy="3264408"/>
        </a:xfrm>
        <a:prstGeom prst="pie">
          <a:avLst>
            <a:gd name="adj1" fmla="val 7560000"/>
            <a:gd name="adj2" fmla="val 1188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Standard Deviation (SD)</a:t>
          </a:r>
        </a:p>
      </dsp:txBody>
      <dsp:txXfrm>
        <a:off x="3194794" y="1866347"/>
        <a:ext cx="971550" cy="819988"/>
      </dsp:txXfrm>
    </dsp:sp>
    <dsp:sp modelId="{89C672CB-7A6E-4CF1-8CFA-8700437BAC1E}">
      <dsp:nvSpPr>
        <dsp:cNvPr id="0" name=""/>
        <dsp:cNvSpPr/>
      </dsp:nvSpPr>
      <dsp:spPr>
        <a:xfrm>
          <a:off x="3039346" y="389591"/>
          <a:ext cx="3264408" cy="3264408"/>
        </a:xfrm>
        <a:prstGeom prst="pie">
          <a:avLst>
            <a:gd name="adj1" fmla="val 11880000"/>
            <a:gd name="adj2" fmla="val 162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Coefficient of Variation (CV</a:t>
          </a:r>
        </a:p>
      </dsp:txBody>
      <dsp:txXfrm>
        <a:off x="3515405" y="887025"/>
        <a:ext cx="1107567" cy="7578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26598F-3EE3-4F81-9C85-45EAADDB5E2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764EB5-68CD-44BC-ABEF-DBB4694CC2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385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statistics is the language of data; before ML, we must understand and summarize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764EB5-68CD-44BC-ABEF-DBB4694CC21C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273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764EB5-68CD-44BC-ABEF-DBB4694CC21C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773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diagramLayout" Target="../diagrams/layout2.xml"/><Relationship Id="rId7" Type="http://schemas.openxmlformats.org/officeDocument/2006/relationships/hyperlink" Target="https://www.statology.org/levels-of-measurement-nominal-ordinal-interval-and-ratio/" TargetMode="Externa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8211" y="1442883"/>
            <a:ext cx="8577775" cy="2226955"/>
          </a:xfrm>
        </p:spPr>
        <p:txBody>
          <a:bodyPr>
            <a:noAutofit/>
          </a:bodyPr>
          <a:lstStyle/>
          <a:p>
            <a:r>
              <a:rPr lang="en-I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</a:rPr>
              <a:t>STATISTICS FOR DATA SCIENCE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4012" y="3878826"/>
            <a:ext cx="6400800" cy="1752600"/>
          </a:xfrm>
        </p:spPr>
        <p:txBody>
          <a:bodyPr/>
          <a:lstStyle/>
          <a:p>
            <a:r>
              <a:rPr dirty="0">
                <a:solidFill>
                  <a:schemeClr val="tx1"/>
                </a:solidFill>
              </a:rPr>
              <a:t>Concepts • Formulas • Excel •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2877" y="276431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Why Do We Use Statistics in Data Science?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28FC8A-C972-428A-BC17-4DA8A4772B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3789778"/>
              </p:ext>
            </p:extLst>
          </p:nvPr>
        </p:nvGraphicFramePr>
        <p:xfrm>
          <a:off x="457200" y="1600200"/>
          <a:ext cx="11371006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3316" y="274638"/>
            <a:ext cx="8229600" cy="1143000"/>
          </a:xfrm>
        </p:spPr>
        <p:txBody>
          <a:bodyPr/>
          <a:lstStyle/>
          <a:p>
            <a:r>
              <a:rPr dirty="0"/>
              <a:t>Types of Data – Quick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30160" cy="4525963"/>
          </a:xfrm>
        </p:spPr>
        <p:txBody>
          <a:bodyPr>
            <a:normAutofit/>
          </a:bodyPr>
          <a:lstStyle/>
          <a:p>
            <a:r>
              <a:rPr sz="2400" dirty="0"/>
              <a:t>Qualitative (Categorical)</a:t>
            </a:r>
          </a:p>
          <a:p>
            <a:pPr marL="457200" lvl="1" indent="0">
              <a:buNone/>
            </a:pPr>
            <a:r>
              <a:rPr sz="2400" dirty="0"/>
              <a:t>• </a:t>
            </a:r>
            <a:r>
              <a:rPr sz="2400" b="1" dirty="0"/>
              <a:t>Nominal: </a:t>
            </a:r>
            <a:r>
              <a:rPr sz="2400" dirty="0"/>
              <a:t>categories without order (e.g., gender, color)</a:t>
            </a:r>
          </a:p>
          <a:p>
            <a:pPr marL="457200" lvl="1" indent="0">
              <a:buNone/>
            </a:pPr>
            <a:r>
              <a:rPr sz="2400" dirty="0"/>
              <a:t>• </a:t>
            </a:r>
            <a:r>
              <a:rPr sz="2400" b="1" dirty="0"/>
              <a:t>Ordinal: </a:t>
            </a:r>
            <a:r>
              <a:rPr sz="2400" dirty="0"/>
              <a:t>ordered categories (e.g., Low/Medium/High)</a:t>
            </a:r>
          </a:p>
          <a:p>
            <a:r>
              <a:rPr sz="2400" dirty="0"/>
              <a:t>Quantitative (Numerical)</a:t>
            </a:r>
          </a:p>
          <a:p>
            <a:pPr marL="457200" lvl="1" indent="0">
              <a:buNone/>
            </a:pPr>
            <a:r>
              <a:rPr sz="2400" dirty="0"/>
              <a:t>• </a:t>
            </a:r>
            <a:r>
              <a:rPr sz="2400" b="1" dirty="0"/>
              <a:t>Discrete: </a:t>
            </a:r>
            <a:r>
              <a:rPr sz="2400" dirty="0"/>
              <a:t>counts (e.g., number of items sold)</a:t>
            </a:r>
          </a:p>
          <a:p>
            <a:pPr marL="457200" lvl="1" indent="0">
              <a:buNone/>
            </a:pPr>
            <a:r>
              <a:rPr sz="2400" dirty="0"/>
              <a:t>• </a:t>
            </a:r>
            <a:r>
              <a:rPr sz="2400" b="1" dirty="0"/>
              <a:t>Continuous: </a:t>
            </a:r>
            <a:r>
              <a:rPr sz="2400" dirty="0"/>
              <a:t>measured (e.g., height, weight, temperature)</a:t>
            </a:r>
          </a:p>
        </p:txBody>
      </p:sp>
      <p:pic>
        <p:nvPicPr>
          <p:cNvPr id="1026" name="Picture 2" descr="Quantitative Data Definition Types Analysis And">
            <a:extLst>
              <a:ext uri="{FF2B5EF4-FFF2-40B4-BE49-F238E27FC236}">
                <a16:creationId xmlns:a16="http://schemas.microsoft.com/office/drawing/2014/main" id="{2770BB57-16C4-950F-6A31-6C58FA117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7831" y="3329806"/>
            <a:ext cx="4480424" cy="2033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612" y="230705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Levels of Measurement (Scale Types)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076E26-2025-52CB-9F7E-5484C951A3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2170443"/>
              </p:ext>
            </p:extLst>
          </p:nvPr>
        </p:nvGraphicFramePr>
        <p:xfrm>
          <a:off x="457200" y="1417638"/>
          <a:ext cx="5637212" cy="4708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294E87F-9EC0-8261-BD17-463DD8E371B1}"/>
              </a:ext>
            </a:extLst>
          </p:cNvPr>
          <p:cNvSpPr txBox="1"/>
          <p:nvPr/>
        </p:nvSpPr>
        <p:spPr>
          <a:xfrm>
            <a:off x="3755921" y="62579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7"/>
              </a:rPr>
              <a:t>Levels of Measurement: Nominal, Ordinal, Interval and Ratio</a:t>
            </a:r>
            <a:endParaRPr lang="en-IN" dirty="0"/>
          </a:p>
        </p:txBody>
      </p:sp>
      <p:pic>
        <p:nvPicPr>
          <p:cNvPr id="2050" name="Picture 2" descr="Levels of measurement: nominal, ordinal, interval and ratio">
            <a:extLst>
              <a:ext uri="{FF2B5EF4-FFF2-40B4-BE49-F238E27FC236}">
                <a16:creationId xmlns:a16="http://schemas.microsoft.com/office/drawing/2014/main" id="{65A04BC3-A101-5BE3-4B9D-AD2137568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5813" y="1417638"/>
            <a:ext cx="6525812" cy="381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8181" y="160337"/>
            <a:ext cx="8229600" cy="1143000"/>
          </a:xfrm>
        </p:spPr>
        <p:txBody>
          <a:bodyPr/>
          <a:lstStyle/>
          <a:p>
            <a:r>
              <a:rPr dirty="0"/>
              <a:t>Descriptive vs Inferential Statistics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BCC3445-A740-7413-BF2D-9220AD7C41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4819070"/>
              </p:ext>
            </p:extLst>
          </p:nvPr>
        </p:nvGraphicFramePr>
        <p:xfrm>
          <a:off x="1804220" y="1600200"/>
          <a:ext cx="9080090" cy="3394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5096553B-91C5-A285-8387-86F94D9D3F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483127"/>
              </p:ext>
            </p:extLst>
          </p:nvPr>
        </p:nvGraphicFramePr>
        <p:xfrm>
          <a:off x="1150375" y="4994787"/>
          <a:ext cx="10609006" cy="1905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96450ED2-369F-75D0-018E-F9E0CF65DCA2}"/>
              </a:ext>
            </a:extLst>
          </p:cNvPr>
          <p:cNvSpPr txBox="1"/>
          <p:nvPr/>
        </p:nvSpPr>
        <p:spPr>
          <a:xfrm>
            <a:off x="2158181" y="5947534"/>
            <a:ext cx="1764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In data science</a:t>
            </a:r>
            <a:endParaRPr lang="en-IN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F05C1D47-76A1-6400-FB2B-A89D5901AF7D}"/>
              </a:ext>
            </a:extLst>
          </p:cNvPr>
          <p:cNvSpPr/>
          <p:nvPr/>
        </p:nvSpPr>
        <p:spPr>
          <a:xfrm>
            <a:off x="3726425" y="6007018"/>
            <a:ext cx="825909" cy="25036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736" y="160337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DESCRIPTIVE STATISTICS </a:t>
            </a:r>
            <a:br>
              <a:rPr lang="en-US" dirty="0"/>
            </a:br>
            <a:r>
              <a:rPr dirty="0"/>
              <a:t> 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What Is Included?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B7E7DB1-02C6-1454-348A-DD358DE7B1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273720"/>
              </p:ext>
            </p:extLst>
          </p:nvPr>
        </p:nvGraphicFramePr>
        <p:xfrm>
          <a:off x="1979612" y="151171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612" y="266599"/>
            <a:ext cx="8229600" cy="1143000"/>
          </a:xfrm>
        </p:spPr>
        <p:txBody>
          <a:bodyPr/>
          <a:lstStyle/>
          <a:p>
            <a:r>
              <a:rPr dirty="0"/>
              <a:t>Central Tendency – Mean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772" y="1360456"/>
            <a:ext cx="6849428" cy="4525963"/>
          </a:xfrm>
        </p:spPr>
        <p:txBody>
          <a:bodyPr>
            <a:normAutofit/>
          </a:bodyPr>
          <a:lstStyle/>
          <a:p>
            <a:r>
              <a:rPr sz="2400" dirty="0"/>
              <a:t>Definition: Arithmetic average; </a:t>
            </a:r>
            <a:endParaRPr lang="en-US" sz="2400" dirty="0"/>
          </a:p>
          <a:p>
            <a:pPr marL="0" indent="0">
              <a:buNone/>
            </a:pPr>
            <a:r>
              <a:rPr lang="en-IN" sz="2400" dirty="0"/>
              <a:t>			</a:t>
            </a:r>
            <a:r>
              <a:rPr sz="2400" dirty="0"/>
              <a:t>sum of values ÷ number of values.</a:t>
            </a:r>
          </a:p>
          <a:p>
            <a:r>
              <a:rPr sz="2400" dirty="0"/>
              <a:t>Formula (sample): x̄ = (Σ xi) / n</a:t>
            </a:r>
          </a:p>
          <a:p>
            <a:r>
              <a:rPr sz="2400" dirty="0"/>
              <a:t>Example: Values = 10, 12, 15, 13, 20 → x̄ = (10+12+15+13+20)/5 = 14</a:t>
            </a:r>
          </a:p>
          <a:p>
            <a:r>
              <a:rPr sz="2400" dirty="0"/>
              <a:t>In Excel: =AVERAGE(A2:A6)</a:t>
            </a:r>
          </a:p>
          <a:p>
            <a:r>
              <a:rPr sz="2400" dirty="0"/>
              <a:t>Use when: data is roughly symmetric and no extreme outliers.</a:t>
            </a:r>
          </a:p>
        </p:txBody>
      </p:sp>
      <p:pic>
        <p:nvPicPr>
          <p:cNvPr id="3076" name="Picture 4" descr="Mean as a Balance Point">
            <a:extLst>
              <a:ext uri="{FF2B5EF4-FFF2-40B4-BE49-F238E27FC236}">
                <a16:creationId xmlns:a16="http://schemas.microsoft.com/office/drawing/2014/main" id="{6218D6DD-226F-149E-F919-CC4E8059A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143" y="5210175"/>
            <a:ext cx="6734175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32DCCD-2D17-216B-2844-43B12C4BA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130079" y="1360456"/>
            <a:ext cx="6058746" cy="36485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612" y="160337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Central Tendency </a:t>
            </a:r>
            <a:b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b="1" dirty="0"/>
              <a:t>Median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431" y="1597742"/>
            <a:ext cx="6054049" cy="4525963"/>
          </a:xfrm>
        </p:spPr>
        <p:txBody>
          <a:bodyPr>
            <a:normAutofit/>
          </a:bodyPr>
          <a:lstStyle/>
          <a:p>
            <a:r>
              <a:rPr sz="2400" dirty="0"/>
              <a:t>Definition: Middle value when data is sorted.</a:t>
            </a:r>
          </a:p>
          <a:p>
            <a:r>
              <a:rPr sz="2400" dirty="0"/>
              <a:t>If n is odd: median is middle value; if even: average of two middle values.</a:t>
            </a:r>
          </a:p>
          <a:p>
            <a:r>
              <a:rPr sz="2400" dirty="0"/>
              <a:t>Example: 5, 7, 9, 12, 100 → Median = 9 (more robust than mean with outlier 100)</a:t>
            </a:r>
          </a:p>
          <a:p>
            <a:r>
              <a:rPr sz="2400" dirty="0"/>
              <a:t>In Excel: =MEDIAN(A2:A6)</a:t>
            </a:r>
          </a:p>
          <a:p>
            <a:r>
              <a:rPr sz="2400" dirty="0"/>
              <a:t>Use when: data is skewed or has outliers.</a:t>
            </a:r>
          </a:p>
        </p:txBody>
      </p:sp>
      <p:pic>
        <p:nvPicPr>
          <p:cNvPr id="4098" name="Picture 2" descr="Box plot">
            <a:extLst>
              <a:ext uri="{FF2B5EF4-FFF2-40B4-BE49-F238E27FC236}">
                <a16:creationId xmlns:a16="http://schemas.microsoft.com/office/drawing/2014/main" id="{640A5396-5F91-B357-E608-723EF5EB1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400" y="5103660"/>
            <a:ext cx="4762500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4F6E06DB-6F84-D402-D8D4-A235A3DD585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68589" y="1513840"/>
            <a:ext cx="4820235" cy="53441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612" y="160337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Central Tendency </a:t>
            </a:r>
            <a:br>
              <a:rPr lang="en-US" dirty="0"/>
            </a:br>
            <a:r>
              <a:rPr b="1" dirty="0"/>
              <a:t>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5548948" cy="4525963"/>
          </a:xfrm>
        </p:spPr>
        <p:txBody>
          <a:bodyPr>
            <a:normAutofit/>
          </a:bodyPr>
          <a:lstStyle/>
          <a:p>
            <a:r>
              <a:rPr sz="2400" dirty="0"/>
              <a:t>Definition: Most frequently occurring value in the dataset.</a:t>
            </a:r>
          </a:p>
          <a:p>
            <a:r>
              <a:rPr sz="2400" dirty="0"/>
              <a:t>Example: 1, 1, 2, 3, 3, 3, 4 → Mode = 3</a:t>
            </a:r>
          </a:p>
          <a:p>
            <a:r>
              <a:rPr sz="2400" dirty="0"/>
              <a:t>Useful for: categorical data (e.g., most common category).</a:t>
            </a:r>
          </a:p>
          <a:p>
            <a:r>
              <a:rPr sz="2400" dirty="0"/>
              <a:t>In Excel: =MODE.SNGL(A2:A8)</a:t>
            </a:r>
          </a:p>
          <a:p>
            <a:r>
              <a:rPr sz="2400" dirty="0"/>
              <a:t>Can have: no mode, one mode, or multiple modes.</a:t>
            </a:r>
          </a:p>
        </p:txBody>
      </p:sp>
      <p:pic>
        <p:nvPicPr>
          <p:cNvPr id="5122" name="Picture 2" descr="Mean, Mode and Median - Measures of Central Tendency - When to use with ...">
            <a:extLst>
              <a:ext uri="{FF2B5EF4-FFF2-40B4-BE49-F238E27FC236}">
                <a16:creationId xmlns:a16="http://schemas.microsoft.com/office/drawing/2014/main" id="{FAA8687D-616B-050D-FAC0-ECDD03AF3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2929" y="4489169"/>
            <a:ext cx="4552991" cy="2368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ack background with white text">
            <a:extLst>
              <a:ext uri="{FF2B5EF4-FFF2-40B4-BE49-F238E27FC236}">
                <a16:creationId xmlns:a16="http://schemas.microsoft.com/office/drawing/2014/main" id="{C156E11F-834A-4BBC-7FE9-4B1A9365F9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39878" y="1730051"/>
            <a:ext cx="5563376" cy="26292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181AB-B9B4-EB0A-69BD-E55B91A2F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A6BCD-119F-AD1A-20AE-7B2E9075A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12" y="266599"/>
            <a:ext cx="8229600" cy="1143000"/>
          </a:xfrm>
        </p:spPr>
        <p:txBody>
          <a:bodyPr/>
          <a:lstStyle/>
          <a:p>
            <a:r>
              <a:rPr lang="en-IN" dirty="0"/>
              <a:t>continuous </a:t>
            </a:r>
            <a:r>
              <a:rPr dirty="0"/>
              <a:t> </a:t>
            </a:r>
            <a:r>
              <a:rPr lang="en-IN" dirty="0"/>
              <a:t>Data</a:t>
            </a:r>
            <a:r>
              <a:rPr dirty="0"/>
              <a:t> – 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92FE9A-8572-944A-5FEE-1EEC4E02A0E1}"/>
                  </a:ext>
                </a:extLst>
              </p:cNvPr>
              <p:cNvSpPr txBox="1"/>
              <p:nvPr/>
            </p:nvSpPr>
            <p:spPr>
              <a:xfrm>
                <a:off x="3392128" y="4086409"/>
                <a:ext cx="6096000" cy="2287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⭐ 1️⃣ Mean (Grouped Data)</a:t>
                </a:r>
              </a:p>
              <a:p>
                <a:pPr>
                  <a:buNone/>
                </a:pPr>
                <a:r>
                  <a:rPr lang="en-IN" b="1" dirty="0"/>
                  <a:t>Formula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lim/>
                      </m:limUp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nary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:r>
                  <a:rPr lang="en-IN" dirty="0"/>
                  <a:t>F – Means Frequency</a:t>
                </a:r>
              </a:p>
              <a:p>
                <a:pPr>
                  <a:buNone/>
                </a:pPr>
                <a:r>
                  <a:rPr lang="en-IN" dirty="0"/>
                  <a:t>M – mid value of class</a:t>
                </a:r>
              </a:p>
              <a:p>
                <a:pPr>
                  <a:buNone/>
                </a:pPr>
                <a:r>
                  <a:rPr lang="en-IN" dirty="0"/>
                  <a:t>N – sum of frequency</a:t>
                </a:r>
                <a:endParaRPr lang="ar-AE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92FE9A-8572-944A-5FEE-1EEC4E02A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2128" y="4086409"/>
                <a:ext cx="6096000" cy="2287999"/>
              </a:xfrm>
              <a:prstGeom prst="rect">
                <a:avLst/>
              </a:prstGeom>
              <a:blipFill>
                <a:blip r:embed="rId2"/>
                <a:stretch>
                  <a:fillRect l="-800" t="-1596" b="-31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20FAA63-DC7D-D481-7D42-FCA569D83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957410"/>
              </p:ext>
            </p:extLst>
          </p:nvPr>
        </p:nvGraphicFramePr>
        <p:xfrm>
          <a:off x="2325328" y="1627591"/>
          <a:ext cx="8229600" cy="21945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145572224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4887924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 Interval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Frequency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58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0–10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8155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10–20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7481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20–30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1260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30–40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7368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40–50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1489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1907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D3AC1B9-2808-9492-5DA8-92E5EEAF17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705459"/>
              </p:ext>
            </p:extLst>
          </p:nvPr>
        </p:nvGraphicFramePr>
        <p:xfrm>
          <a:off x="870155" y="1266973"/>
          <a:ext cx="8229600" cy="21945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94292412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74486725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055706763"/>
                    </a:ext>
                  </a:extLst>
                </a:gridCol>
              </a:tblGrid>
              <a:tr h="318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Mid value (m)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61588"/>
                  </a:ext>
                </a:extLst>
              </a:tr>
              <a:tr h="318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0–10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4478398"/>
                  </a:ext>
                </a:extLst>
              </a:tr>
              <a:tr h="318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10–20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5029328"/>
                  </a:ext>
                </a:extLst>
              </a:tr>
              <a:tr h="318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20–30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8432834"/>
                  </a:ext>
                </a:extLst>
              </a:tr>
              <a:tr h="318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30–40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3058222"/>
                  </a:ext>
                </a:extLst>
              </a:tr>
              <a:tr h="318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40–50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501363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DADCCC0-71EE-F9C5-CA88-C053B15C2BBA}"/>
              </a:ext>
            </a:extLst>
          </p:cNvPr>
          <p:cNvSpPr txBox="1"/>
          <p:nvPr/>
        </p:nvSpPr>
        <p:spPr>
          <a:xfrm>
            <a:off x="707922" y="7199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Step-1: Find Mid Values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C8F676-A641-45BB-CD00-D71879E6E900}"/>
              </a:ext>
            </a:extLst>
          </p:cNvPr>
          <p:cNvSpPr txBox="1"/>
          <p:nvPr/>
        </p:nvSpPr>
        <p:spPr>
          <a:xfrm>
            <a:off x="707922" y="38072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Step-2: Find </a:t>
            </a:r>
            <a:r>
              <a:rPr lang="en-IN" b="1" dirty="0" err="1"/>
              <a:t>f×m</a:t>
            </a:r>
            <a:endParaRPr lang="en-IN" b="1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E0195B6-681B-7FCD-FF87-FEBC6A3F6F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269612"/>
              </p:ext>
            </p:extLst>
          </p:nvPr>
        </p:nvGraphicFramePr>
        <p:xfrm>
          <a:off x="870155" y="4289901"/>
          <a:ext cx="8229600" cy="256032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123492439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68445343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60079639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2803530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f×m</a:t>
                      </a:r>
                      <a:endParaRPr lang="en-IN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644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0–10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4294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10–20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165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20–30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6120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30–40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5002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40–50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3517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 = </a:t>
                      </a:r>
                      <a:r>
                        <a:rPr lang="el-GR" dirty="0"/>
                        <a:t>Σ</a:t>
                      </a:r>
                      <a:r>
                        <a:rPr lang="en-IN" dirty="0"/>
                        <a:t>F = 30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dirty="0"/>
                        <a:t>Σ</a:t>
                      </a:r>
                      <a:r>
                        <a:rPr lang="en-IN" dirty="0" err="1"/>
                        <a:t>fm</a:t>
                      </a:r>
                      <a:r>
                        <a:rPr lang="en-IN" dirty="0"/>
                        <a:t> = 760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435756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5306692-77C7-454F-DA4C-A6D3E162A7EF}"/>
              </a:ext>
            </a:extLst>
          </p:cNvPr>
          <p:cNvSpPr txBox="1"/>
          <p:nvPr/>
        </p:nvSpPr>
        <p:spPr>
          <a:xfrm>
            <a:off x="9625781" y="4309963"/>
            <a:ext cx="20647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Σ</a:t>
            </a:r>
            <a:r>
              <a:rPr lang="en-IN" dirty="0" err="1"/>
              <a:t>fm</a:t>
            </a:r>
            <a:r>
              <a:rPr lang="en-IN" dirty="0"/>
              <a:t> = 20 + 90 + 250 + 175 + 225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Σ</a:t>
            </a:r>
            <a:r>
              <a:rPr lang="en-IN" dirty="0" err="1"/>
              <a:t>fm</a:t>
            </a:r>
            <a:r>
              <a:rPr lang="en-IN" dirty="0"/>
              <a:t> = </a:t>
            </a:r>
            <a:r>
              <a:rPr lang="en-IN" b="1" dirty="0"/>
              <a:t>760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8440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83F0AE9-42AF-9E6D-2294-7A3A029AE04E}"/>
                  </a:ext>
                </a:extLst>
              </p:cNvPr>
              <p:cNvSpPr txBox="1"/>
              <p:nvPr/>
            </p:nvSpPr>
            <p:spPr>
              <a:xfrm>
                <a:off x="3146322" y="3615009"/>
                <a:ext cx="6096000" cy="17207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Mean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li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ˉ</m:t>
                          </m:r>
                        </m:lim>
                      </m:limUp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760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30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33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:endParaRPr lang="ar-AE" dirty="0"/>
              </a:p>
              <a:p>
                <a:pPr>
                  <a:buNone/>
                </a:pPr>
                <a:r>
                  <a:rPr lang="ar-AE" dirty="0"/>
                  <a:t>✔ </a:t>
                </a:r>
                <a:r>
                  <a:rPr lang="en-IN" b="1" dirty="0"/>
                  <a:t>Mean = 25.33</a:t>
                </a:r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83F0AE9-42AF-9E6D-2294-7A3A029AE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322" y="3615009"/>
                <a:ext cx="6096000" cy="1720727"/>
              </a:xfrm>
              <a:prstGeom prst="rect">
                <a:avLst/>
              </a:prstGeom>
              <a:blipFill>
                <a:blip r:embed="rId2"/>
                <a:stretch>
                  <a:fillRect l="-900" t="-1773" b="-49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7DE3BE-3EDC-9F50-C0A0-76E0DB9CE8E6}"/>
                  </a:ext>
                </a:extLst>
              </p:cNvPr>
              <p:cNvSpPr txBox="1"/>
              <p:nvPr/>
            </p:nvSpPr>
            <p:spPr>
              <a:xfrm>
                <a:off x="3303638" y="458305"/>
                <a:ext cx="6096000" cy="2564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⭐ 1️⃣ Mean </a:t>
                </a:r>
              </a:p>
              <a:p>
                <a:pPr>
                  <a:buNone/>
                </a:pPr>
                <a:endParaRPr lang="en-IN" b="1" dirty="0"/>
              </a:p>
              <a:p>
                <a:pPr>
                  <a:buNone/>
                </a:pPr>
                <a:r>
                  <a:rPr lang="en-IN" b="1" dirty="0"/>
                  <a:t>Formula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lim/>
                      </m:limUp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nary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:r>
                  <a:rPr lang="en-IN" dirty="0"/>
                  <a:t>F – Means Frequency</a:t>
                </a:r>
              </a:p>
              <a:p>
                <a:pPr>
                  <a:buNone/>
                </a:pPr>
                <a:r>
                  <a:rPr lang="en-IN" dirty="0"/>
                  <a:t>M – mid value of class</a:t>
                </a:r>
              </a:p>
              <a:p>
                <a:pPr>
                  <a:buNone/>
                </a:pPr>
                <a:r>
                  <a:rPr lang="en-IN" dirty="0"/>
                  <a:t>N – sum of frequency</a:t>
                </a:r>
                <a:endParaRPr lang="ar-AE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7DE3BE-3EDC-9F50-C0A0-76E0DB9CE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3638" y="458305"/>
                <a:ext cx="6096000" cy="2564998"/>
              </a:xfrm>
              <a:prstGeom prst="rect">
                <a:avLst/>
              </a:prstGeom>
              <a:blipFill>
                <a:blip r:embed="rId3"/>
                <a:stretch>
                  <a:fillRect l="-900" t="-1425" b="-28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8246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306AC-D7BF-672B-7A29-B45018BEA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F5416-EB9C-7274-F7EE-951421829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12" y="160337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Central Tendency </a:t>
            </a:r>
            <a:b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b="1" dirty="0"/>
              <a:t>Median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56D485-696D-1D69-1B8D-C9A3D7046195}"/>
                  </a:ext>
                </a:extLst>
              </p:cNvPr>
              <p:cNvSpPr txBox="1"/>
              <p:nvPr/>
            </p:nvSpPr>
            <p:spPr>
              <a:xfrm>
                <a:off x="4011561" y="1619764"/>
                <a:ext cx="6096000" cy="27778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⭐ 2️⃣ Median (Grouped Data)</a:t>
                </a:r>
              </a:p>
              <a:p>
                <a:pPr>
                  <a:buNone/>
                </a:pPr>
                <a:r>
                  <a:rPr lang="en-IN" b="1" dirty="0"/>
                  <a:t>Formula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𝑀𝑒𝑑𝑖𝑎𝑛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Where</a:t>
                </a:r>
                <a:br>
                  <a:rPr lang="en-IN" dirty="0"/>
                </a:br>
                <a:r>
                  <a:rPr lang="en-IN" dirty="0"/>
                  <a:t>l = lower limit of median class</a:t>
                </a:r>
                <a:br>
                  <a:rPr lang="en-IN" dirty="0"/>
                </a:br>
                <a:r>
                  <a:rPr lang="en-IN" dirty="0" err="1"/>
                  <a:t>cf</a:t>
                </a:r>
                <a:r>
                  <a:rPr lang="en-IN" dirty="0"/>
                  <a:t> = cumulative frequency before median class</a:t>
                </a:r>
                <a:br>
                  <a:rPr lang="en-IN" dirty="0"/>
                </a:br>
                <a:r>
                  <a:rPr lang="en-IN" dirty="0"/>
                  <a:t>f = frequency of median class</a:t>
                </a:r>
                <a:br>
                  <a:rPr lang="en-IN" dirty="0"/>
                </a:br>
                <a:r>
                  <a:rPr lang="en-IN" dirty="0"/>
                  <a:t>h = class width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56D485-696D-1D69-1B8D-C9A3D7046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1561" y="1619764"/>
                <a:ext cx="6096000" cy="2777812"/>
              </a:xfrm>
              <a:prstGeom prst="rect">
                <a:avLst/>
              </a:prstGeom>
              <a:blipFill>
                <a:blip r:embed="rId2"/>
                <a:stretch>
                  <a:fillRect l="-800" t="-1538" b="-26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B3B5EBE-A1D8-10DF-540B-BB9C550C70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961344"/>
              </p:ext>
            </p:extLst>
          </p:nvPr>
        </p:nvGraphicFramePr>
        <p:xfrm>
          <a:off x="2689122" y="4532702"/>
          <a:ext cx="8229600" cy="21945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42154411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1919866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 Interval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Frequency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7291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0–10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324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10–20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7513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20–30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290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30–40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8166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40–50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3754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4282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504FC3-47E9-08E8-15DA-C4E8B34AC367}"/>
              </a:ext>
            </a:extLst>
          </p:cNvPr>
          <p:cNvSpPr txBox="1"/>
          <p:nvPr/>
        </p:nvSpPr>
        <p:spPr>
          <a:xfrm>
            <a:off x="1002890" y="95418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Step-1: N/2</a:t>
            </a:r>
          </a:p>
          <a:p>
            <a:pPr>
              <a:buNone/>
            </a:pPr>
            <a:endParaRPr lang="pt-BR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/>
              <a:t>N = 30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/>
              <a:t>N/2 = 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770A49-7E01-3FDA-061C-02F5635E0FD2}"/>
              </a:ext>
            </a:extLst>
          </p:cNvPr>
          <p:cNvSpPr txBox="1"/>
          <p:nvPr/>
        </p:nvSpPr>
        <p:spPr>
          <a:xfrm>
            <a:off x="1002890" y="24110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Step-2: Find cumulative frequency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405D52C-800F-B3DF-F886-2B530F971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092251"/>
              </p:ext>
            </p:extLst>
          </p:nvPr>
        </p:nvGraphicFramePr>
        <p:xfrm>
          <a:off x="1873045" y="2980339"/>
          <a:ext cx="8229600" cy="219456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403907044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84322734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8960000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c.f</a:t>
                      </a:r>
                      <a:endParaRPr lang="en-IN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623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0–10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7809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10–20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2845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20–30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245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30–40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6027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40–50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779434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DE8CFAD-77C4-5DC4-D3DC-097C475194F0}"/>
              </a:ext>
            </a:extLst>
          </p:cNvPr>
          <p:cNvSpPr txBox="1"/>
          <p:nvPr/>
        </p:nvSpPr>
        <p:spPr>
          <a:xfrm>
            <a:off x="1873045" y="54877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Median class = 20–30</a:t>
            </a:r>
            <a:br>
              <a:rPr lang="en-US" dirty="0"/>
            </a:br>
            <a:r>
              <a:rPr lang="en-US" dirty="0"/>
              <a:t>(because </a:t>
            </a:r>
            <a:r>
              <a:rPr lang="en-US" dirty="0" err="1"/>
              <a:t>c.f</a:t>
            </a:r>
            <a:r>
              <a:rPr lang="en-US" dirty="0"/>
              <a:t> just crosses 15)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7080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C4389-98AA-35AF-C8C1-71A24681A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110768-B957-649F-736A-34C5EEAD4717}"/>
              </a:ext>
            </a:extLst>
          </p:cNvPr>
          <p:cNvSpPr txBox="1"/>
          <p:nvPr/>
        </p:nvSpPr>
        <p:spPr>
          <a:xfrm>
            <a:off x="1248697" y="86399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Assign values</a:t>
            </a:r>
          </a:p>
          <a:p>
            <a:pPr>
              <a:buNone/>
            </a:pPr>
            <a:r>
              <a:rPr lang="en-IN" dirty="0"/>
              <a:t>l = 20</a:t>
            </a:r>
            <a:br>
              <a:rPr lang="en-IN" dirty="0"/>
            </a:br>
            <a:r>
              <a:rPr lang="en-IN" dirty="0" err="1"/>
              <a:t>cf</a:t>
            </a:r>
            <a:r>
              <a:rPr lang="en-IN" dirty="0"/>
              <a:t> = 10</a:t>
            </a:r>
            <a:br>
              <a:rPr lang="en-IN" dirty="0"/>
            </a:br>
            <a:r>
              <a:rPr lang="en-IN" dirty="0"/>
              <a:t>f = 10</a:t>
            </a:r>
            <a:br>
              <a:rPr lang="en-IN" dirty="0"/>
            </a:br>
            <a:r>
              <a:rPr lang="en-IN" dirty="0"/>
              <a:t>h = 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7EDD7DE-D541-153E-5FCB-517918531B92}"/>
                  </a:ext>
                </a:extLst>
              </p:cNvPr>
              <p:cNvSpPr txBox="1"/>
              <p:nvPr/>
            </p:nvSpPr>
            <p:spPr>
              <a:xfrm>
                <a:off x="1248697" y="2939102"/>
                <a:ext cx="6096000" cy="22522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Apply formula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𝑀𝑒𝑑𝑖𝑎𝑛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endParaRPr lang="ar-AE" dirty="0"/>
              </a:p>
              <a:p>
                <a:pPr>
                  <a:buNone/>
                </a:pPr>
                <a:r>
                  <a:rPr lang="ar-AE" dirty="0"/>
                  <a:t>✔ </a:t>
                </a:r>
                <a:r>
                  <a:rPr lang="en-IN" b="1" dirty="0"/>
                  <a:t>Median = 25</a:t>
                </a:r>
                <a:endParaRPr lang="en-IN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7EDD7DE-D541-153E-5FCB-517918531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8697" y="2939102"/>
                <a:ext cx="6096000" cy="2252283"/>
              </a:xfrm>
              <a:prstGeom prst="rect">
                <a:avLst/>
              </a:prstGeom>
              <a:blipFill>
                <a:blip r:embed="rId2"/>
                <a:stretch>
                  <a:fillRect l="-1000" t="-1351" b="-32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D471D42-DE04-0D7F-00D6-C056C9BCF39F}"/>
                  </a:ext>
                </a:extLst>
              </p:cNvPr>
              <p:cNvSpPr txBox="1"/>
              <p:nvPr/>
            </p:nvSpPr>
            <p:spPr>
              <a:xfrm>
                <a:off x="7256206" y="643912"/>
                <a:ext cx="6096000" cy="277781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⭐ 2️⃣ Median (Grouped Data)</a:t>
                </a:r>
              </a:p>
              <a:p>
                <a:pPr>
                  <a:buNone/>
                </a:pPr>
                <a:r>
                  <a:rPr lang="en-IN" b="1" dirty="0"/>
                  <a:t>Formula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𝑀𝑒𝑑𝑖𝑎𝑛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Where</a:t>
                </a:r>
                <a:br>
                  <a:rPr lang="en-IN" dirty="0"/>
                </a:br>
                <a:r>
                  <a:rPr lang="en-IN" dirty="0"/>
                  <a:t>l = lower limit of median class</a:t>
                </a:r>
                <a:br>
                  <a:rPr lang="en-IN" dirty="0"/>
                </a:br>
                <a:r>
                  <a:rPr lang="en-IN" dirty="0" err="1"/>
                  <a:t>cf</a:t>
                </a:r>
                <a:r>
                  <a:rPr lang="en-IN" dirty="0"/>
                  <a:t> = cumulative frequency before median class</a:t>
                </a:r>
                <a:br>
                  <a:rPr lang="en-IN" dirty="0"/>
                </a:br>
                <a:r>
                  <a:rPr lang="en-IN" dirty="0"/>
                  <a:t>f = frequency of median class</a:t>
                </a:r>
                <a:br>
                  <a:rPr lang="en-IN" dirty="0"/>
                </a:br>
                <a:r>
                  <a:rPr lang="en-IN" dirty="0"/>
                  <a:t>h = class width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D471D42-DE04-0D7F-00D6-C056C9BCF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6206" y="643912"/>
                <a:ext cx="6096000" cy="2777812"/>
              </a:xfrm>
              <a:prstGeom prst="rect">
                <a:avLst/>
              </a:prstGeom>
              <a:blipFill>
                <a:blip r:embed="rId3"/>
                <a:stretch>
                  <a:fillRect l="-699" t="-1313" b="-2407"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8818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7A24E-8A9A-45D6-6883-BBE5D450E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E7816-363A-FB08-486B-DFD4F9380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12" y="160337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Central Tendency </a:t>
            </a:r>
            <a:br>
              <a:rPr lang="en-US" dirty="0"/>
            </a:br>
            <a:r>
              <a:rPr b="1" dirty="0"/>
              <a:t>Mode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ACC58C-A613-E64E-8ABD-08B82D8E3B6D}"/>
                  </a:ext>
                </a:extLst>
              </p:cNvPr>
              <p:cNvSpPr txBox="1"/>
              <p:nvPr/>
            </p:nvSpPr>
            <p:spPr>
              <a:xfrm>
                <a:off x="3352800" y="1303337"/>
                <a:ext cx="6096000" cy="12214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Mode (Grouped Data)</a:t>
                </a:r>
              </a:p>
              <a:p>
                <a:pPr>
                  <a:buNone/>
                </a:pPr>
                <a:r>
                  <a:rPr lang="en-IN" b="1" dirty="0"/>
                  <a:t>Formula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𝑀𝑜𝑑𝑒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ACC58C-A613-E64E-8ABD-08B82D8E3B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1303337"/>
                <a:ext cx="6096000" cy="1221488"/>
              </a:xfrm>
              <a:prstGeom prst="rect">
                <a:avLst/>
              </a:prstGeom>
              <a:blipFill>
                <a:blip r:embed="rId2"/>
                <a:stretch>
                  <a:fillRect l="-800" t="-3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A4195BC-F7F3-7E5C-EB15-AFD413E3A1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144201"/>
              </p:ext>
            </p:extLst>
          </p:nvPr>
        </p:nvGraphicFramePr>
        <p:xfrm>
          <a:off x="2286000" y="2564760"/>
          <a:ext cx="8229600" cy="4114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314612382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99443940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8278503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Symbol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How to find it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410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Lower class boundary of the modal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Look at the class with highest frequency; take its lower limit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5890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f₁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Frequency of the modal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Highest frequency in the 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028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f₀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Frequency of the class before modal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Frequency just above the modal 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9668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f₂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Frequency of the class after modal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Frequency just below the modal 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0840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 width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Upper limit – lower limit of any class (all must be equal)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0944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5552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8CBCC6-3161-7B04-BCC3-AF2402F66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589717"/>
              </p:ext>
            </p:extLst>
          </p:nvPr>
        </p:nvGraphicFramePr>
        <p:xfrm>
          <a:off x="1401096" y="4030329"/>
          <a:ext cx="8229600" cy="18288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194278878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8504923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021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0–10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3170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10–20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1945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20–30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 ← highest (modal class)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082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30–40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163745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7E30E0A-1384-02A8-9E00-1554E73ED6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1660"/>
              </p:ext>
            </p:extLst>
          </p:nvPr>
        </p:nvGraphicFramePr>
        <p:xfrm>
          <a:off x="1401096" y="835773"/>
          <a:ext cx="8229600" cy="21945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42154411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1919866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 Interval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Frequency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7291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0–10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324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10–20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 f0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7513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  L –30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 f1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90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30–40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 f2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8166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40–50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37545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6BE3BA1-5599-744C-32A5-6E8647A749AA}"/>
              </a:ext>
            </a:extLst>
          </p:cNvPr>
          <p:cNvSpPr txBox="1"/>
          <p:nvPr/>
        </p:nvSpPr>
        <p:spPr>
          <a:xfrm>
            <a:off x="878164" y="339369"/>
            <a:ext cx="1045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Problem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0CC517-EC5E-59D9-D083-BE4F1E84C833}"/>
              </a:ext>
            </a:extLst>
          </p:cNvPr>
          <p:cNvSpPr txBox="1"/>
          <p:nvPr/>
        </p:nvSpPr>
        <p:spPr>
          <a:xfrm>
            <a:off x="873250" y="3333298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Solution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9BE1EB-AFD3-0594-0E6E-0DB4296A7BE2}"/>
              </a:ext>
            </a:extLst>
          </p:cNvPr>
          <p:cNvSpPr txBox="1"/>
          <p:nvPr/>
        </p:nvSpPr>
        <p:spPr>
          <a:xfrm>
            <a:off x="873250" y="3636263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Step 1</a:t>
            </a:r>
          </a:p>
        </p:txBody>
      </p:sp>
    </p:spTree>
    <p:extLst>
      <p:ext uri="{BB962C8B-B14F-4D97-AF65-F5344CB8AC3E}">
        <p14:creationId xmlns:p14="http://schemas.microsoft.com/office/powerpoint/2010/main" val="2560145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58AF87-E4E7-A1F9-5F5A-6D35A7276A3A}"/>
              </a:ext>
            </a:extLst>
          </p:cNvPr>
          <p:cNvSpPr txBox="1"/>
          <p:nvPr/>
        </p:nvSpPr>
        <p:spPr>
          <a:xfrm>
            <a:off x="2212258" y="1375071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Modal class = class having maximum frequency → 20–30</a:t>
            </a:r>
          </a:p>
          <a:p>
            <a:pPr>
              <a:buNone/>
            </a:pPr>
            <a:r>
              <a:rPr lang="en-US" dirty="0"/>
              <a:t>So</a:t>
            </a:r>
            <a:br>
              <a:rPr lang="en-US" dirty="0"/>
            </a:br>
            <a:r>
              <a:rPr lang="en-US" dirty="0"/>
              <a:t>l = 20</a:t>
            </a:r>
            <a:br>
              <a:rPr lang="en-US" dirty="0"/>
            </a:br>
            <a:r>
              <a:rPr lang="en-US" dirty="0"/>
              <a:t>f1 = 10</a:t>
            </a:r>
            <a:br>
              <a:rPr lang="en-US" dirty="0"/>
            </a:br>
            <a:r>
              <a:rPr lang="en-US" dirty="0"/>
              <a:t>f0 = 6</a:t>
            </a:r>
            <a:br>
              <a:rPr lang="en-US" dirty="0"/>
            </a:br>
            <a:r>
              <a:rPr lang="en-US" dirty="0"/>
              <a:t>f2 = 5</a:t>
            </a:r>
            <a:br>
              <a:rPr lang="en-US" dirty="0"/>
            </a:br>
            <a:r>
              <a:rPr lang="en-US" dirty="0"/>
              <a:t>h =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A8C5FF-5E89-F1E6-4B3B-E4BED703231F}"/>
              </a:ext>
            </a:extLst>
          </p:cNvPr>
          <p:cNvSpPr txBox="1"/>
          <p:nvPr/>
        </p:nvSpPr>
        <p:spPr>
          <a:xfrm>
            <a:off x="1209368" y="589935"/>
            <a:ext cx="779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Step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360017-77C3-AEAF-3FA9-DD84DF58078E}"/>
                  </a:ext>
                </a:extLst>
              </p:cNvPr>
              <p:cNvSpPr txBox="1"/>
              <p:nvPr/>
            </p:nvSpPr>
            <p:spPr>
              <a:xfrm>
                <a:off x="2212258" y="4009232"/>
                <a:ext cx="6096000" cy="25217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Apply formula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𝑀𝑜𝑑𝑒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d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44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24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44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ar-AE" dirty="0"/>
                  <a:t>✔ </a:t>
                </a:r>
                <a:r>
                  <a:rPr lang="en-IN" b="1" dirty="0"/>
                  <a:t>Mode = 24.44</a:t>
                </a:r>
                <a:endParaRPr lang="en-I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360017-77C3-AEAF-3FA9-DD84DF580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2258" y="4009232"/>
                <a:ext cx="6096000" cy="2521716"/>
              </a:xfrm>
              <a:prstGeom prst="rect">
                <a:avLst/>
              </a:prstGeom>
              <a:blipFill>
                <a:blip r:embed="rId2"/>
                <a:stretch>
                  <a:fillRect l="-1000" t="-1453" b="-31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2EA5B1C-CE3F-AF6F-4C95-194130693F34}"/>
              </a:ext>
            </a:extLst>
          </p:cNvPr>
          <p:cNvSpPr txBox="1"/>
          <p:nvPr/>
        </p:nvSpPr>
        <p:spPr>
          <a:xfrm>
            <a:off x="1209367" y="3554361"/>
            <a:ext cx="779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Step 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E2A3D7-9D8F-255E-2527-E32CD1B34244}"/>
              </a:ext>
            </a:extLst>
          </p:cNvPr>
          <p:cNvSpPr txBox="1"/>
          <p:nvPr/>
        </p:nvSpPr>
        <p:spPr>
          <a:xfrm>
            <a:off x="8865521" y="0"/>
            <a:ext cx="3323304" cy="147732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Note: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modal class = last class ⇒ </a:t>
            </a:r>
            <a:r>
              <a:rPr lang="en-US" b="1" dirty="0"/>
              <a:t>f2 = 0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modal class = first class ⇒ </a:t>
            </a:r>
            <a:r>
              <a:rPr lang="en-US" b="1" dirty="0"/>
              <a:t>f0 = 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047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E3384A3-85CF-4502-E7AF-873748DC2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411937"/>
              </p:ext>
            </p:extLst>
          </p:nvPr>
        </p:nvGraphicFramePr>
        <p:xfrm>
          <a:off x="190917" y="599400"/>
          <a:ext cx="5614738" cy="21945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807369">
                  <a:extLst>
                    <a:ext uri="{9D8B030D-6E8A-4147-A177-3AD203B41FA5}">
                      <a16:colId xmlns:a16="http://schemas.microsoft.com/office/drawing/2014/main" val="3376736075"/>
                    </a:ext>
                  </a:extLst>
                </a:gridCol>
                <a:gridCol w="2807369">
                  <a:extLst>
                    <a:ext uri="{9D8B030D-6E8A-4147-A177-3AD203B41FA5}">
                      <a16:colId xmlns:a16="http://schemas.microsoft.com/office/drawing/2014/main" val="27337491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Class Interval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Frequency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6370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0–10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3505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10–20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2329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20–30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8686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30–40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0469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40–50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716222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3146744-4134-B90D-D436-1C3B0CF93F56}"/>
              </a:ext>
            </a:extLst>
          </p:cNvPr>
          <p:cNvSpPr txBox="1"/>
          <p:nvPr/>
        </p:nvSpPr>
        <p:spPr>
          <a:xfrm>
            <a:off x="192505" y="2247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Question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389241-93E1-FAFF-1091-0351625C637D}"/>
              </a:ext>
            </a:extLst>
          </p:cNvPr>
          <p:cNvSpPr txBox="1"/>
          <p:nvPr/>
        </p:nvSpPr>
        <p:spPr>
          <a:xfrm>
            <a:off x="192505" y="31579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Question 2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00E16A3-3C20-8C5E-6210-C108C9630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170021"/>
              </p:ext>
            </p:extLst>
          </p:nvPr>
        </p:nvGraphicFramePr>
        <p:xfrm>
          <a:off x="190917" y="3530838"/>
          <a:ext cx="5768726" cy="256032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884363">
                  <a:extLst>
                    <a:ext uri="{9D8B030D-6E8A-4147-A177-3AD203B41FA5}">
                      <a16:colId xmlns:a16="http://schemas.microsoft.com/office/drawing/2014/main" val="2079723686"/>
                    </a:ext>
                  </a:extLst>
                </a:gridCol>
                <a:gridCol w="2884363">
                  <a:extLst>
                    <a:ext uri="{9D8B030D-6E8A-4147-A177-3AD203B41FA5}">
                      <a16:colId xmlns:a16="http://schemas.microsoft.com/office/drawing/2014/main" val="3009287897"/>
                    </a:ext>
                  </a:extLst>
                </a:gridCol>
              </a:tblGrid>
              <a:tr h="281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 Interval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Frequency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5061133"/>
                  </a:ext>
                </a:extLst>
              </a:tr>
              <a:tr h="281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5–15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4364567"/>
                  </a:ext>
                </a:extLst>
              </a:tr>
              <a:tr h="281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15–25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1126069"/>
                  </a:ext>
                </a:extLst>
              </a:tr>
              <a:tr h="281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25–35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0001794"/>
                  </a:ext>
                </a:extLst>
              </a:tr>
              <a:tr h="281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35–45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0496784"/>
                  </a:ext>
                </a:extLst>
              </a:tr>
              <a:tr h="281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45–55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6991712"/>
                  </a:ext>
                </a:extLst>
              </a:tr>
              <a:tr h="281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55–65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80393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E413070-9492-EB70-383F-11E32B4136BC}"/>
              </a:ext>
            </a:extLst>
          </p:cNvPr>
          <p:cNvSpPr txBox="1"/>
          <p:nvPr/>
        </p:nvSpPr>
        <p:spPr>
          <a:xfrm>
            <a:off x="6288505" y="15243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Question 3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2177323-E27C-710C-BB6D-DE98EC1EB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833222"/>
              </p:ext>
            </p:extLst>
          </p:nvPr>
        </p:nvGraphicFramePr>
        <p:xfrm>
          <a:off x="6497535" y="2060654"/>
          <a:ext cx="5269832" cy="219456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634916">
                  <a:extLst>
                    <a:ext uri="{9D8B030D-6E8A-4147-A177-3AD203B41FA5}">
                      <a16:colId xmlns:a16="http://schemas.microsoft.com/office/drawing/2014/main" val="3565815843"/>
                    </a:ext>
                  </a:extLst>
                </a:gridCol>
                <a:gridCol w="2634916">
                  <a:extLst>
                    <a:ext uri="{9D8B030D-6E8A-4147-A177-3AD203B41FA5}">
                      <a16:colId xmlns:a16="http://schemas.microsoft.com/office/drawing/2014/main" val="3229011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 Interval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Frequency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1890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0–20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7349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20–40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7026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40–60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3568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60–80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348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80–100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638799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731CD4D-321B-C4C8-0AD6-6F0AAA341644}"/>
              </a:ext>
            </a:extLst>
          </p:cNvPr>
          <p:cNvSpPr txBox="1"/>
          <p:nvPr/>
        </p:nvSpPr>
        <p:spPr>
          <a:xfrm>
            <a:off x="6833419" y="481099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Find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Mean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Median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Mode</a:t>
            </a:r>
          </a:p>
        </p:txBody>
      </p:sp>
    </p:spTree>
    <p:extLst>
      <p:ext uri="{BB962C8B-B14F-4D97-AF65-F5344CB8AC3E}">
        <p14:creationId xmlns:p14="http://schemas.microsoft.com/office/powerpoint/2010/main" val="2028614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9305AB1-0C9E-FA77-DD64-66D6AA485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12" y="266599"/>
            <a:ext cx="8229600" cy="1143000"/>
          </a:xfrm>
        </p:spPr>
        <p:txBody>
          <a:bodyPr/>
          <a:lstStyle/>
          <a:p>
            <a:r>
              <a:rPr lang="en-IN" b="1" dirty="0"/>
              <a:t>Dispersion </a:t>
            </a:r>
            <a:endParaRPr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64D611-C1BB-A1C3-45B7-D96DD5229F72}"/>
              </a:ext>
            </a:extLst>
          </p:cNvPr>
          <p:cNvSpPr txBox="1"/>
          <p:nvPr/>
        </p:nvSpPr>
        <p:spPr>
          <a:xfrm>
            <a:off x="469900" y="131726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What is </a:t>
            </a:r>
            <a:r>
              <a:rPr lang="en-IN" i="1" dirty="0"/>
              <a:t>Dispersion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581FAF-82E3-0441-E70A-A31B85958F74}"/>
              </a:ext>
            </a:extLst>
          </p:cNvPr>
          <p:cNvSpPr txBox="1"/>
          <p:nvPr/>
        </p:nvSpPr>
        <p:spPr>
          <a:xfrm>
            <a:off x="1556085" y="17806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Dispersion = how spread out the data are</a:t>
            </a:r>
            <a:endParaRPr lang="en-IN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B9FB41F-FA70-003F-C897-CA687CDC7B3C}"/>
              </a:ext>
            </a:extLst>
          </p:cNvPr>
          <p:cNvGrpSpPr/>
          <p:nvPr/>
        </p:nvGrpSpPr>
        <p:grpSpPr>
          <a:xfrm>
            <a:off x="469900" y="2149971"/>
            <a:ext cx="14218920" cy="4070866"/>
            <a:chOff x="469900" y="2617331"/>
            <a:chExt cx="14218920" cy="4070866"/>
          </a:xfrm>
        </p:grpSpPr>
        <p:graphicFrame>
          <p:nvGraphicFramePr>
            <p:cNvPr id="16" name="Diagram 15">
              <a:extLst>
                <a:ext uri="{FF2B5EF4-FFF2-40B4-BE49-F238E27FC236}">
                  <a16:creationId xmlns:a16="http://schemas.microsoft.com/office/drawing/2014/main" id="{EEF1C97C-99E8-33D8-F916-FA8E54E6A15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788836570"/>
                </p:ext>
              </p:extLst>
            </p:nvPr>
          </p:nvGraphicFramePr>
          <p:xfrm>
            <a:off x="1496730" y="2617331"/>
            <a:ext cx="9457355" cy="38862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A577077-5E20-8EF7-E356-D516F7ED84FB}"/>
                </a:ext>
              </a:extLst>
            </p:cNvPr>
            <p:cNvSpPr txBox="1"/>
            <p:nvPr/>
          </p:nvSpPr>
          <p:spPr>
            <a:xfrm>
              <a:off x="7652085" y="2859762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difference between max and min.</a:t>
              </a:r>
              <a:endParaRPr lang="en-IN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544C693-2019-42F7-982F-AD16E17B54EC}"/>
                </a:ext>
              </a:extLst>
            </p:cNvPr>
            <p:cNvSpPr txBox="1"/>
            <p:nvPr/>
          </p:nvSpPr>
          <p:spPr>
            <a:xfrm>
              <a:off x="7815580" y="5052814"/>
              <a:ext cx="68732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Q3 − Q1 (spread of middle 50%).</a:t>
              </a:r>
              <a:endParaRPr lang="en-IN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544C693-2019-42F7-982F-AD16E17B54EC}"/>
                </a:ext>
              </a:extLst>
            </p:cNvPr>
            <p:cNvSpPr txBox="1"/>
            <p:nvPr/>
          </p:nvSpPr>
          <p:spPr>
            <a:xfrm>
              <a:off x="4378960" y="6318865"/>
              <a:ext cx="68732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average of squared deviations from mean.</a:t>
              </a:r>
              <a:endParaRPr lang="en-IN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F6D5970-7E65-3685-CA50-C109968AD0CE}"/>
                </a:ext>
              </a:extLst>
            </p:cNvPr>
            <p:cNvSpPr txBox="1"/>
            <p:nvPr/>
          </p:nvSpPr>
          <p:spPr>
            <a:xfrm>
              <a:off x="469900" y="4841241"/>
              <a:ext cx="73456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/>
                <a:t>sqrt(variance). Population: </a:t>
              </a:r>
              <a:r>
                <a:rPr lang="el-GR"/>
                <a:t>σ, </a:t>
              </a:r>
              <a:r>
                <a:rPr lang="en-IN"/>
                <a:t>Sample: s.</a:t>
              </a:r>
              <a:endParaRPr lang="en-IN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9F45EB7-FADE-D2FD-CF9E-07B439263481}"/>
                </a:ext>
              </a:extLst>
            </p:cNvPr>
            <p:cNvSpPr txBox="1"/>
            <p:nvPr/>
          </p:nvSpPr>
          <p:spPr>
            <a:xfrm>
              <a:off x="625642" y="3375383"/>
              <a:ext cx="73456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(SD / Mean) × 100%; shows relative spread.</a:t>
              </a: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0D788E0-F36D-18F9-8F1D-C791590DEB8A}"/>
              </a:ext>
            </a:extLst>
          </p:cNvPr>
          <p:cNvCxnSpPr/>
          <p:nvPr/>
        </p:nvCxnSpPr>
        <p:spPr>
          <a:xfrm>
            <a:off x="-39035" y="2204720"/>
            <a:ext cx="130454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18FE301D-6985-0008-3665-7C6C9EECF7CE}"/>
              </a:ext>
            </a:extLst>
          </p:cNvPr>
          <p:cNvCxnSpPr>
            <a:endCxn id="18" idx="1"/>
          </p:cNvCxnSpPr>
          <p:nvPr/>
        </p:nvCxnSpPr>
        <p:spPr>
          <a:xfrm rot="16200000" flipV="1">
            <a:off x="7553894" y="2675260"/>
            <a:ext cx="515621" cy="319237"/>
          </a:xfrm>
          <a:prstGeom prst="curvedConnector4">
            <a:avLst>
              <a:gd name="adj1" fmla="val 32093"/>
              <a:gd name="adj2" fmla="val 17160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1EC7EFB2-B539-BCA2-F9FC-6B5D9EC37FA9}"/>
              </a:ext>
            </a:extLst>
          </p:cNvPr>
          <p:cNvCxnSpPr/>
          <p:nvPr/>
        </p:nvCxnSpPr>
        <p:spPr>
          <a:xfrm rot="16200000" flipH="1">
            <a:off x="6635278" y="5688802"/>
            <a:ext cx="374324" cy="27432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490A6185-76E6-0997-C26F-88B0F75AF059}"/>
              </a:ext>
            </a:extLst>
          </p:cNvPr>
          <p:cNvCxnSpPr>
            <a:cxnSpLocks/>
            <a:endCxn id="45" idx="7"/>
          </p:cNvCxnSpPr>
          <p:nvPr/>
        </p:nvCxnSpPr>
        <p:spPr>
          <a:xfrm rot="16200000" flipV="1">
            <a:off x="4197100" y="2922017"/>
            <a:ext cx="534949" cy="479019"/>
          </a:xfrm>
          <a:prstGeom prst="curvedConnector5">
            <a:avLst>
              <a:gd name="adj1" fmla="val 10437"/>
              <a:gd name="adj2" fmla="val -43815"/>
              <a:gd name="adj3" fmla="val 14273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C1CA027E-B475-CAD8-862D-B369698DAA9A}"/>
              </a:ext>
            </a:extLst>
          </p:cNvPr>
          <p:cNvCxnSpPr>
            <a:cxnSpLocks/>
            <a:endCxn id="46" idx="4"/>
          </p:cNvCxnSpPr>
          <p:nvPr/>
        </p:nvCxnSpPr>
        <p:spPr>
          <a:xfrm rot="10800000">
            <a:off x="2333059" y="4811584"/>
            <a:ext cx="2371024" cy="143204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3">
            <a:extLst>
              <a:ext uri="{FF2B5EF4-FFF2-40B4-BE49-F238E27FC236}">
                <a16:creationId xmlns:a16="http://schemas.microsoft.com/office/drawing/2014/main" id="{8ADDBF4E-719F-7974-C080-E08823697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7730" y="6122768"/>
            <a:ext cx="533190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Population variance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N in denominator (σ²).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Sample variance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(n−1) in denominator (s²)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042294B-FFFA-230B-0305-E91E3391C6E3}"/>
              </a:ext>
            </a:extLst>
          </p:cNvPr>
          <p:cNvSpPr/>
          <p:nvPr/>
        </p:nvSpPr>
        <p:spPr>
          <a:xfrm>
            <a:off x="535538" y="2821427"/>
            <a:ext cx="4322548" cy="495912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B609890-C854-F2CA-BFE7-1B19CB9AB80B}"/>
              </a:ext>
            </a:extLst>
          </p:cNvPr>
          <p:cNvSpPr/>
          <p:nvPr/>
        </p:nvSpPr>
        <p:spPr>
          <a:xfrm>
            <a:off x="171785" y="4315672"/>
            <a:ext cx="4322548" cy="495912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6D524CC-F030-BC22-9C8D-0045C7BBB981}"/>
              </a:ext>
            </a:extLst>
          </p:cNvPr>
          <p:cNvSpPr/>
          <p:nvPr/>
        </p:nvSpPr>
        <p:spPr>
          <a:xfrm>
            <a:off x="7223559" y="4581854"/>
            <a:ext cx="4322548" cy="495912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94C698F-4CCD-69FE-278B-947C292CBC4C}"/>
              </a:ext>
            </a:extLst>
          </p:cNvPr>
          <p:cNvSpPr/>
          <p:nvPr/>
        </p:nvSpPr>
        <p:spPr>
          <a:xfrm>
            <a:off x="7330739" y="2338966"/>
            <a:ext cx="4322548" cy="495912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CCC30A5-852E-1345-DBB9-5874AFEDFF63}"/>
              </a:ext>
            </a:extLst>
          </p:cNvPr>
          <p:cNvSpPr/>
          <p:nvPr/>
        </p:nvSpPr>
        <p:spPr>
          <a:xfrm>
            <a:off x="3515361" y="5756465"/>
            <a:ext cx="5634278" cy="1336248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7" name="Connector: Curved 56">
            <a:extLst>
              <a:ext uri="{FF2B5EF4-FFF2-40B4-BE49-F238E27FC236}">
                <a16:creationId xmlns:a16="http://schemas.microsoft.com/office/drawing/2014/main" id="{3A84F180-C28A-5DC8-1FFC-999833C96EF3}"/>
              </a:ext>
            </a:extLst>
          </p:cNvPr>
          <p:cNvCxnSpPr>
            <a:endCxn id="47" idx="0"/>
          </p:cNvCxnSpPr>
          <p:nvPr/>
        </p:nvCxnSpPr>
        <p:spPr>
          <a:xfrm>
            <a:off x="7815580" y="4114800"/>
            <a:ext cx="1569253" cy="467054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9045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4601" y="101463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Measures of Dispersion – Why We Need Them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060700"/>
          </a:xfrm>
        </p:spPr>
        <p:txBody>
          <a:bodyPr>
            <a:normAutofit/>
          </a:bodyPr>
          <a:lstStyle/>
          <a:p>
            <a:r>
              <a:rPr sz="2400" dirty="0"/>
              <a:t>Two datasets can have same mean but different variability.</a:t>
            </a:r>
          </a:p>
          <a:p>
            <a:r>
              <a:rPr sz="2400" dirty="0"/>
              <a:t>Dispersion tells us how spread out the data is.</a:t>
            </a:r>
          </a:p>
          <a:p>
            <a:r>
              <a:rPr sz="2400" dirty="0"/>
              <a:t>Key measures: Range, Variance, Standard Deviation, Quartiles, IQR, Percentiles, CV.</a:t>
            </a:r>
          </a:p>
        </p:txBody>
      </p:sp>
      <p:pic>
        <p:nvPicPr>
          <p:cNvPr id="11266" name="Picture 2" descr="Normal Distribution">
            <a:extLst>
              <a:ext uri="{FF2B5EF4-FFF2-40B4-BE49-F238E27FC236}">
                <a16:creationId xmlns:a16="http://schemas.microsoft.com/office/drawing/2014/main" id="{C7B97776-1B5E-A6B5-7D83-37A510726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843" y="3454678"/>
            <a:ext cx="9187117" cy="3128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760" y="280036"/>
            <a:ext cx="8229600" cy="1143000"/>
          </a:xfrm>
        </p:spPr>
        <p:txBody>
          <a:bodyPr/>
          <a:lstStyle/>
          <a:p>
            <a:r>
              <a:rPr dirty="0"/>
              <a:t>Dispersion –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5119" y="1279101"/>
            <a:ext cx="8229600" cy="4525963"/>
          </a:xfrm>
        </p:spPr>
        <p:txBody>
          <a:bodyPr>
            <a:normAutofit/>
          </a:bodyPr>
          <a:lstStyle/>
          <a:p>
            <a:r>
              <a:rPr sz="2400" dirty="0"/>
              <a:t>Definition: Difference between maximum and minimum value.</a:t>
            </a:r>
          </a:p>
          <a:p>
            <a:r>
              <a:rPr sz="2400" dirty="0"/>
              <a:t>Formula: Range = Max – Min</a:t>
            </a:r>
          </a:p>
          <a:p>
            <a:r>
              <a:rPr sz="2400" dirty="0"/>
              <a:t>Example: Values = 10, 12, 15, 13, 20 → Range = 20 – 10 = 10</a:t>
            </a:r>
          </a:p>
          <a:p>
            <a:r>
              <a:rPr sz="2400" dirty="0"/>
              <a:t>In Excel: =MAX(A2:A6)-MIN(A2:A6)</a:t>
            </a:r>
          </a:p>
          <a:p>
            <a:r>
              <a:rPr sz="2400" dirty="0"/>
              <a:t>Simple but sensitive to outliers.</a:t>
            </a:r>
          </a:p>
        </p:txBody>
      </p:sp>
      <p:pic>
        <p:nvPicPr>
          <p:cNvPr id="7" name="Picture 2" descr="What Is Range as a Measure of Dispersion?">
            <a:extLst>
              <a:ext uri="{FF2B5EF4-FFF2-40B4-BE49-F238E27FC236}">
                <a16:creationId xmlns:a16="http://schemas.microsoft.com/office/drawing/2014/main" id="{58B00107-8C01-5B15-91B5-3C9F0C957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3921" y="3749355"/>
            <a:ext cx="4582160" cy="3054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87C85E6-F884-34F1-4480-ED4FEA228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451" y="1659212"/>
            <a:ext cx="435888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Formula: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Range = max(X) − min(X)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Excel: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=MAX(range) - MIN(range)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7FC4B95-0855-E3EF-6171-C5DA57D82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9760" y="280036"/>
            <a:ext cx="8229600" cy="1143000"/>
          </a:xfrm>
        </p:spPr>
        <p:txBody>
          <a:bodyPr/>
          <a:lstStyle/>
          <a:p>
            <a:r>
              <a:rPr dirty="0"/>
              <a:t>Dispersion – Range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DD5C13-6369-21F5-49A5-28B4FC144EEF}"/>
              </a:ext>
            </a:extLst>
          </p:cNvPr>
          <p:cNvSpPr txBox="1"/>
          <p:nvPr/>
        </p:nvSpPr>
        <p:spPr>
          <a:xfrm>
            <a:off x="698090" y="2188661"/>
            <a:ext cx="1830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Problem: </a:t>
            </a:r>
            <a:r>
              <a:rPr lang="en-US" b="1" dirty="0" err="1"/>
              <a:t>Discrite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359E74-5E4C-A65D-D5B6-A09A3FEE2FD2}"/>
              </a:ext>
            </a:extLst>
          </p:cNvPr>
          <p:cNvSpPr txBox="1"/>
          <p:nvPr/>
        </p:nvSpPr>
        <p:spPr>
          <a:xfrm>
            <a:off x="1757996" y="262065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5, 8, 2, 4, 8, 6, 8, 5, 4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06D7EB-32E3-A19D-F9E8-B5484D3A98F6}"/>
              </a:ext>
            </a:extLst>
          </p:cNvPr>
          <p:cNvSpPr txBox="1"/>
          <p:nvPr/>
        </p:nvSpPr>
        <p:spPr>
          <a:xfrm>
            <a:off x="698090" y="3261902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Solution: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4874AA-401D-4226-F99D-B8CDD86235E5}"/>
              </a:ext>
            </a:extLst>
          </p:cNvPr>
          <p:cNvSpPr txBox="1"/>
          <p:nvPr/>
        </p:nvSpPr>
        <p:spPr>
          <a:xfrm>
            <a:off x="1741966" y="369389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1 — arrange (sorted)</a:t>
            </a:r>
            <a:br>
              <a:rPr lang="en-US" dirty="0"/>
            </a:br>
            <a:r>
              <a:rPr lang="en-US" dirty="0"/>
              <a:t>Sorted: </a:t>
            </a:r>
            <a:r>
              <a:rPr lang="en-US" dirty="0">
                <a:latin typeface="Courier New" panose="02070309020205020404" pitchFamily="49" charset="0"/>
              </a:rPr>
              <a:t>2, 4, 4, 5, 5, 6, 8, 8, 8</a:t>
            </a:r>
            <a:br>
              <a:rPr lang="en-US" dirty="0"/>
            </a:br>
            <a:r>
              <a:rPr lang="en-US" dirty="0"/>
              <a:t>N = 9</a:t>
            </a:r>
          </a:p>
          <a:p>
            <a:pPr>
              <a:buNone/>
            </a:pPr>
            <a:r>
              <a:rPr lang="en-US" b="1" dirty="0"/>
              <a:t>Range</a:t>
            </a:r>
            <a:br>
              <a:rPr lang="en-US" dirty="0"/>
            </a:br>
            <a:r>
              <a:rPr lang="en-US" dirty="0" err="1">
                <a:latin typeface="Courier New" panose="02070309020205020404" pitchFamily="49" charset="0"/>
              </a:rPr>
              <a:t>Range</a:t>
            </a:r>
            <a:r>
              <a:rPr lang="en-US" dirty="0">
                <a:latin typeface="Courier New" panose="02070309020205020404" pitchFamily="49" charset="0"/>
              </a:rPr>
              <a:t> = max - min = 8 - 2 = 6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14E3FD3-4F73-033C-396E-297BC84DD752}"/>
                  </a:ext>
                </a:extLst>
              </p:cNvPr>
              <p:cNvSpPr txBox="1"/>
              <p:nvPr/>
            </p:nvSpPr>
            <p:spPr>
              <a:xfrm>
                <a:off x="698089" y="5301601"/>
                <a:ext cx="6440647" cy="10055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b="1" dirty="0"/>
                  <a:t>Mean</a:t>
                </a:r>
                <a:br>
                  <a:rPr lang="en-IN" dirty="0"/>
                </a:br>
                <a:r>
                  <a:rPr lang="en-IN" dirty="0"/>
                  <a:t>Sum = 5+8+2+4+8+6+8+5+4 = 50</a:t>
                </a:r>
                <a:br>
                  <a:rPr lang="en-IN" dirty="0"/>
                </a:br>
                <a:r>
                  <a:rPr lang="en-IN" dirty="0"/>
                  <a:t>Mean =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lim>
                        <m:r>
                          <a:rPr lang="ar-AE" i="0">
                            <a:latin typeface="Cambria Math" panose="02040503050406030204" pitchFamily="18" charset="0"/>
                          </a:rPr>
                          <m:t>ˉ</m:t>
                        </m:r>
                      </m:lim>
                    </m:limUp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50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9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groupChr>
                      <m:groupChrPr>
                        <m:chr m:val="‾"/>
                        <m:pos m:val="top"/>
                        <m:vertJc m:val="bot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groupChr>
                  </m:oMath>
                </a14:m>
                <a:r>
                  <a:rPr lang="ar-AE" dirty="0"/>
                  <a:t>≈</a:t>
                </a:r>
                <a:r>
                  <a:rPr lang="en-US" dirty="0"/>
                  <a:t> </a:t>
                </a:r>
                <a:r>
                  <a:rPr lang="ar-AE" dirty="0"/>
                  <a:t> </a:t>
                </a:r>
                <a:r>
                  <a:rPr lang="ar-AE" b="1" dirty="0"/>
                  <a:t>5.</a:t>
                </a:r>
                <a:r>
                  <a:rPr lang="en-US" b="1" dirty="0"/>
                  <a:t> </a:t>
                </a:r>
                <a:r>
                  <a:rPr lang="ar-AE" b="1" dirty="0"/>
                  <a:t>5556</a:t>
                </a:r>
                <a:r>
                  <a:rPr lang="en-US" b="1" dirty="0"/>
                  <a:t> </a:t>
                </a:r>
                <a:r>
                  <a:rPr lang="ar-AE" dirty="0"/>
                  <a:t>≈ </a:t>
                </a:r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14E3FD3-4F73-033C-396E-297BC84DD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089" y="5301601"/>
                <a:ext cx="6440647" cy="1005532"/>
              </a:xfrm>
              <a:prstGeom prst="rect">
                <a:avLst/>
              </a:prstGeom>
              <a:blipFill>
                <a:blip r:embed="rId2"/>
                <a:stretch>
                  <a:fillRect l="-852" t="-3636" b="-90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C8EF8AB-3F0A-EB82-B5D0-053950FA3FE3}"/>
              </a:ext>
            </a:extLst>
          </p:cNvPr>
          <p:cNvSpPr txBox="1"/>
          <p:nvPr/>
        </p:nvSpPr>
        <p:spPr>
          <a:xfrm>
            <a:off x="4370941" y="58751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68396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006A4F-00D2-EABF-A74F-B7C995CF8836}"/>
              </a:ext>
            </a:extLst>
          </p:cNvPr>
          <p:cNvSpPr txBox="1"/>
          <p:nvPr/>
        </p:nvSpPr>
        <p:spPr>
          <a:xfrm>
            <a:off x="365760" y="8668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Range for Continuous (Grouped) Data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BF81C3-E005-ECF3-0001-8D212D3AA3C5}"/>
              </a:ext>
            </a:extLst>
          </p:cNvPr>
          <p:cNvSpPr txBox="1"/>
          <p:nvPr/>
        </p:nvSpPr>
        <p:spPr>
          <a:xfrm>
            <a:off x="1935480" y="193101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Range=Highest Upper Limit−Lowest Lower Limit </a:t>
            </a:r>
          </a:p>
          <a:p>
            <a:pPr>
              <a:buNone/>
            </a:pPr>
            <a:r>
              <a:rPr lang="en-US" dirty="0"/>
              <a:t>Because in grouped data we don’t have exact min and max values—so we use class boundaries.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E8A462C-020E-C747-1748-7D812A19EE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942243"/>
              </p:ext>
            </p:extLst>
          </p:nvPr>
        </p:nvGraphicFramePr>
        <p:xfrm>
          <a:off x="457200" y="3253581"/>
          <a:ext cx="2209800" cy="2194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42740660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 Interval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3278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0–10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8767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10–20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9384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20–30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2304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30–40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141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40–50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242608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B88C31D-BE3B-A77B-F77E-8076BD484664}"/>
              </a:ext>
            </a:extLst>
          </p:cNvPr>
          <p:cNvSpPr txBox="1"/>
          <p:nvPr/>
        </p:nvSpPr>
        <p:spPr>
          <a:xfrm>
            <a:off x="365760" y="5847376"/>
            <a:ext cx="2301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Range = 50 − 0 = </a:t>
            </a:r>
            <a:r>
              <a:rPr lang="en-IN" b="1" dirty="0"/>
              <a:t>50</a:t>
            </a:r>
            <a:endParaRPr lang="en-IN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D4B6340-A953-12ED-9309-EF4A48A6F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442284"/>
              </p:ext>
            </p:extLst>
          </p:nvPr>
        </p:nvGraphicFramePr>
        <p:xfrm>
          <a:off x="4312920" y="3253581"/>
          <a:ext cx="2316480" cy="1463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16480">
                  <a:extLst>
                    <a:ext uri="{9D8B030D-6E8A-4147-A177-3AD203B41FA5}">
                      <a16:colId xmlns:a16="http://schemas.microsoft.com/office/drawing/2014/main" val="17857073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0944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5–15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200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15–25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5670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25–35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292118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156BB54-BD17-3146-515B-F8778207E74D}"/>
              </a:ext>
            </a:extLst>
          </p:cNvPr>
          <p:cNvSpPr txBox="1"/>
          <p:nvPr/>
        </p:nvSpPr>
        <p:spPr>
          <a:xfrm>
            <a:off x="3977640" y="5847376"/>
            <a:ext cx="265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Range = 35 − 5 = </a:t>
            </a:r>
            <a:r>
              <a:rPr lang="en-IN" b="1" dirty="0"/>
              <a:t>30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47028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Quartiles, Percentiles &amp; IQR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Quartiles split data into 4 parts:</a:t>
            </a:r>
          </a:p>
          <a:p>
            <a:pPr lvl="1"/>
            <a:r>
              <a:rPr sz="2000" dirty="0"/>
              <a:t>• Q1: 25th percentile</a:t>
            </a:r>
          </a:p>
          <a:p>
            <a:pPr lvl="1"/>
            <a:r>
              <a:rPr sz="2000" dirty="0"/>
              <a:t>• Q2: 50th percentile (Median)</a:t>
            </a:r>
          </a:p>
          <a:p>
            <a:pPr lvl="1"/>
            <a:r>
              <a:rPr sz="2000" dirty="0"/>
              <a:t>• Q3: 75th percentile</a:t>
            </a:r>
          </a:p>
          <a:p>
            <a:r>
              <a:rPr sz="2000" dirty="0"/>
              <a:t>Percentiles: e.g., 90th percentile (P90) – value below which 90% of data lies.</a:t>
            </a:r>
          </a:p>
          <a:p>
            <a:r>
              <a:rPr sz="2000" dirty="0"/>
              <a:t>Interquartile Range (IQR) = Q3 - Q1; measures middle 50% spread.</a:t>
            </a:r>
          </a:p>
          <a:p>
            <a:r>
              <a:rPr sz="2000" dirty="0"/>
              <a:t>In Excel:</a:t>
            </a:r>
          </a:p>
          <a:p>
            <a:pPr lvl="1"/>
            <a:r>
              <a:rPr sz="2000" dirty="0"/>
              <a:t>• Q1: =QUARTILE.INC(A2:A11,1)</a:t>
            </a:r>
          </a:p>
          <a:p>
            <a:pPr lvl="1"/>
            <a:r>
              <a:rPr sz="2000" dirty="0"/>
              <a:t>• Q2: =QUARTILE.INC(A2:A11,2)</a:t>
            </a:r>
          </a:p>
          <a:p>
            <a:pPr lvl="1"/>
            <a:r>
              <a:rPr sz="2000" dirty="0"/>
              <a:t>• Q3: =QUARTILE.INC(A2:A11,3)</a:t>
            </a:r>
          </a:p>
          <a:p>
            <a:pPr lvl="1"/>
            <a:r>
              <a:rPr sz="2000" dirty="0"/>
              <a:t>• Percentile: =PERCENTILE.INC(A2:A11,0.9)</a:t>
            </a:r>
          </a:p>
        </p:txBody>
      </p:sp>
      <p:pic>
        <p:nvPicPr>
          <p:cNvPr id="3074" name="Picture 2" descr="Box Plot - GeeksforGeeks">
            <a:extLst>
              <a:ext uri="{FF2B5EF4-FFF2-40B4-BE49-F238E27FC236}">
                <a16:creationId xmlns:a16="http://schemas.microsoft.com/office/drawing/2014/main" id="{D974B073-66AD-49E2-11B7-5D985DC11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569" y="4805637"/>
            <a:ext cx="5804067" cy="205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06D732F-C0E8-01E1-DE48-0ACE363A3894}"/>
              </a:ext>
            </a:extLst>
          </p:cNvPr>
          <p:cNvSpPr txBox="1"/>
          <p:nvPr/>
        </p:nvSpPr>
        <p:spPr>
          <a:xfrm>
            <a:off x="4122821" y="2645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IQR = Inter Quartile Range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E8618E-36F4-1DED-A321-DDDA2A592CE3}"/>
              </a:ext>
            </a:extLst>
          </p:cNvPr>
          <p:cNvSpPr txBox="1"/>
          <p:nvPr/>
        </p:nvSpPr>
        <p:spPr>
          <a:xfrm>
            <a:off x="625642" y="1217018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is IQR?</a:t>
            </a:r>
          </a:p>
          <a:p>
            <a:pPr>
              <a:buNone/>
            </a:pPr>
            <a:r>
              <a:rPr lang="en-US" b="1" dirty="0"/>
              <a:t>IQR = Inter Quartile Range</a:t>
            </a:r>
            <a:endParaRPr lang="en-US" dirty="0"/>
          </a:p>
          <a:p>
            <a:pPr>
              <a:buNone/>
            </a:pPr>
            <a:r>
              <a:rPr lang="en-US" dirty="0"/>
              <a:t>It measures how spread out the </a:t>
            </a:r>
            <a:r>
              <a:rPr lang="en-US" b="1" dirty="0"/>
              <a:t>middle 50% of values</a:t>
            </a:r>
            <a:r>
              <a:rPr lang="en-US" dirty="0"/>
              <a:t> are.</a:t>
            </a:r>
          </a:p>
          <a:p>
            <a:pPr>
              <a:buNone/>
            </a:pPr>
            <a:r>
              <a:rPr lang="en-US" dirty="0"/>
              <a:t>So instead of looking at the entire data, IQR only looks at the </a:t>
            </a:r>
            <a:r>
              <a:rPr lang="en-US" b="1" dirty="0"/>
              <a:t>core/central region</a:t>
            </a:r>
            <a:r>
              <a:rPr lang="en-US" dirty="0"/>
              <a:t> of the data (without extremes).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AE2A6F3-9EC9-E991-D6CD-3E6B4670DCB7}"/>
                  </a:ext>
                </a:extLst>
              </p:cNvPr>
              <p:cNvSpPr txBox="1"/>
              <p:nvPr/>
            </p:nvSpPr>
            <p:spPr>
              <a:xfrm>
                <a:off x="625642" y="3296975"/>
                <a:ext cx="6096000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Why “Inter Quartile”?</a:t>
                </a:r>
              </a:p>
              <a:p>
                <a:pPr>
                  <a:buNone/>
                </a:pPr>
                <a:r>
                  <a:rPr lang="en-IN" dirty="0"/>
                  <a:t>The data is divided into </a:t>
                </a:r>
                <a:r>
                  <a:rPr lang="en-IN" b="1" dirty="0"/>
                  <a:t>4 quartiles</a:t>
                </a: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b="1" dirty="0"/>
                  <a:t>Q1 → 25%</a:t>
                </a: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b="1" dirty="0"/>
                  <a:t>Q2 → 50% (median)</a:t>
                </a: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b="1" dirty="0"/>
                  <a:t>Q3 → 75%</a:t>
                </a: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Q4 → 100%</a:t>
                </a:r>
              </a:p>
              <a:p>
                <a:pPr>
                  <a:buNone/>
                </a:pPr>
                <a:r>
                  <a:rPr lang="en-IN" dirty="0"/>
                  <a:t>IQR uses </a:t>
                </a:r>
                <a:r>
                  <a:rPr lang="en-IN" b="1" dirty="0"/>
                  <a:t>Q3 and Q1 only</a:t>
                </a:r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𝐼𝑄𝑅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Meaning:</a:t>
                </a:r>
                <a:br>
                  <a:rPr lang="en-IN" dirty="0"/>
                </a:br>
                <a:r>
                  <a:rPr lang="en-IN" dirty="0"/>
                  <a:t>spread of middle portion = values between 25% and 75%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AE2A6F3-9EC9-E991-D6CD-3E6B4670D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42" y="3296975"/>
                <a:ext cx="6096000" cy="2862322"/>
              </a:xfrm>
              <a:prstGeom prst="rect">
                <a:avLst/>
              </a:prstGeom>
              <a:blipFill>
                <a:blip r:embed="rId2"/>
                <a:stretch>
                  <a:fillRect l="-900" t="-1279" b="-25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90923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7AB62E8-1F67-8C25-0F33-2EF9E78B2E1F}"/>
              </a:ext>
            </a:extLst>
          </p:cNvPr>
          <p:cNvSpPr/>
          <p:nvPr/>
        </p:nvSpPr>
        <p:spPr>
          <a:xfrm>
            <a:off x="7616825" y="4549676"/>
            <a:ext cx="4572000" cy="2308324"/>
          </a:xfrm>
          <a:prstGeom prst="round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31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835F96-D925-F61C-54AF-E42C3E76F32B}"/>
              </a:ext>
            </a:extLst>
          </p:cNvPr>
          <p:cNvSpPr txBox="1"/>
          <p:nvPr/>
        </p:nvSpPr>
        <p:spPr>
          <a:xfrm>
            <a:off x="8819535" y="4353895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✔ Summary in 5 lines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IQR measures central spread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only middle 50%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avoids extreme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ideal for skewed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best method to detect outliers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98708E0-F6E9-B431-E237-F9DC9C29FF23}"/>
              </a:ext>
            </a:extLst>
          </p:cNvPr>
          <p:cNvSpPr/>
          <p:nvPr/>
        </p:nvSpPr>
        <p:spPr>
          <a:xfrm>
            <a:off x="0" y="0"/>
            <a:ext cx="4572000" cy="2308324"/>
          </a:xfrm>
          <a:prstGeom prst="round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31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9D4C00-CA03-27BE-1D2A-55B49DF75DA8}"/>
              </a:ext>
            </a:extLst>
          </p:cNvPr>
          <p:cNvSpPr txBox="1"/>
          <p:nvPr/>
        </p:nvSpPr>
        <p:spPr>
          <a:xfrm>
            <a:off x="127819" y="0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🔷 Why AI and Machine Learning need IQR?</a:t>
            </a:r>
          </a:p>
          <a:p>
            <a:pPr>
              <a:buNone/>
            </a:pPr>
            <a:r>
              <a:rPr lang="en-US" dirty="0"/>
              <a:t>Because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models work best when data is clean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outliers mislead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outliers produce wrong predictions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noise increases errors</a:t>
            </a:r>
          </a:p>
          <a:p>
            <a:pPr>
              <a:buNone/>
            </a:pPr>
            <a:r>
              <a:rPr lang="en-US" dirty="0"/>
              <a:t>So before training:</a:t>
            </a:r>
          </a:p>
          <a:p>
            <a:pPr>
              <a:buNone/>
            </a:pPr>
            <a:r>
              <a:rPr lang="en-US" b="1" dirty="0"/>
              <a:t>we remove outliers using IQR ✔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3A36768-74D8-8503-479E-DE1BD99EF6F1}"/>
              </a:ext>
            </a:extLst>
          </p:cNvPr>
          <p:cNvSpPr/>
          <p:nvPr/>
        </p:nvSpPr>
        <p:spPr>
          <a:xfrm>
            <a:off x="4147536" y="2216569"/>
            <a:ext cx="4572000" cy="2308324"/>
          </a:xfrm>
          <a:prstGeom prst="round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31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2E4843-B872-302E-39F3-C3226340BAE3}"/>
              </a:ext>
            </a:extLst>
          </p:cNvPr>
          <p:cNvSpPr txBox="1"/>
          <p:nvPr/>
        </p:nvSpPr>
        <p:spPr>
          <a:xfrm>
            <a:off x="4565586" y="2307336"/>
            <a:ext cx="772323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🔷 IQR is used everywhere in AI:</a:t>
            </a:r>
          </a:p>
          <a:p>
            <a:pPr>
              <a:buNone/>
            </a:pPr>
            <a:r>
              <a:rPr lang="en-US" dirty="0"/>
              <a:t>✔ anomaly detection</a:t>
            </a:r>
            <a:br>
              <a:rPr lang="en-US" dirty="0"/>
            </a:br>
            <a:r>
              <a:rPr lang="en-US" dirty="0"/>
              <a:t>✔ fraud detection</a:t>
            </a:r>
            <a:br>
              <a:rPr lang="en-US" dirty="0"/>
            </a:br>
            <a:r>
              <a:rPr lang="en-US" dirty="0"/>
              <a:t>✔ feature engineering</a:t>
            </a:r>
            <a:br>
              <a:rPr lang="en-US" dirty="0"/>
            </a:br>
            <a:r>
              <a:rPr lang="en-US" dirty="0"/>
              <a:t>✔ distribution analysis</a:t>
            </a:r>
            <a:br>
              <a:rPr lang="en-US" dirty="0"/>
            </a:br>
            <a:r>
              <a:rPr lang="en-US" dirty="0"/>
              <a:t>✔ data preprocessing</a:t>
            </a:r>
            <a:br>
              <a:rPr lang="en-US" dirty="0"/>
            </a:br>
            <a:r>
              <a:rPr lang="en-US" dirty="0"/>
              <a:t>✔ model performance improvement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5763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D3A21E-B5EF-4AC0-9F73-ABAE0FF62D67}"/>
              </a:ext>
            </a:extLst>
          </p:cNvPr>
          <p:cNvSpPr txBox="1"/>
          <p:nvPr/>
        </p:nvSpPr>
        <p:spPr>
          <a:xfrm>
            <a:off x="368969" y="43669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 A — Odd N</a:t>
            </a:r>
          </a:p>
          <a:p>
            <a:pPr>
              <a:buNone/>
            </a:pPr>
            <a:r>
              <a:rPr lang="en-IN" dirty="0"/>
              <a:t>Data: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5, 8, 2, 4, 8, 6, 8, 5, 4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CC91F7-D6E5-08E0-0C7B-6D59AB34FC45}"/>
              </a:ext>
            </a:extLst>
          </p:cNvPr>
          <p:cNvSpPr txBox="1"/>
          <p:nvPr/>
        </p:nvSpPr>
        <p:spPr>
          <a:xfrm>
            <a:off x="368969" y="1765501"/>
            <a:ext cx="116786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IQR (Q1, Q3)</a:t>
            </a:r>
            <a:r>
              <a:rPr lang="en-IN" dirty="0"/>
              <a:t> — method: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Median (Q2) position = (n+1)/2 = (9+1)/2 = 5 → median is 5th value = </a:t>
            </a:r>
            <a:r>
              <a:rPr lang="en-IN" b="1" dirty="0"/>
              <a:t>5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Lower half (values before median): </a:t>
            </a:r>
            <a:r>
              <a:rPr lang="en-IN" dirty="0">
                <a:latin typeface="Courier New" panose="02070309020205020404" pitchFamily="49" charset="0"/>
              </a:rPr>
              <a:t>2,4,4,5</a:t>
            </a:r>
            <a:r>
              <a:rPr lang="en-IN" dirty="0"/>
              <a:t> → Q1 = median of these 4 values = average of 2nd &amp; 3rd = (4 + 4)/2 = </a:t>
            </a:r>
            <a:r>
              <a:rPr lang="en-IN" b="1" dirty="0"/>
              <a:t>4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Upper half (after median): </a:t>
            </a:r>
            <a:r>
              <a:rPr lang="en-IN" dirty="0">
                <a:latin typeface="Courier New" panose="02070309020205020404" pitchFamily="49" charset="0"/>
              </a:rPr>
              <a:t>6,8,8,8</a:t>
            </a:r>
            <a:r>
              <a:rPr lang="en-IN" dirty="0"/>
              <a:t> → Q3 = median of these 4 = average of 2nd &amp; 3rd = (8 + 8)/2 = </a:t>
            </a:r>
            <a:r>
              <a:rPr lang="en-IN" b="1" dirty="0"/>
              <a:t>8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IQR = Q3 − Q1 = </a:t>
            </a:r>
            <a:r>
              <a:rPr lang="en-IN" b="1" dirty="0"/>
              <a:t>8 − 4 = 4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A18501-A80B-BD2E-EA07-F5ACB25AB364}"/>
              </a:ext>
            </a:extLst>
          </p:cNvPr>
          <p:cNvSpPr txBox="1"/>
          <p:nvPr/>
        </p:nvSpPr>
        <p:spPr>
          <a:xfrm>
            <a:off x="4366557" y="9906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Sorted: </a:t>
            </a:r>
            <a:r>
              <a:rPr lang="en-US" dirty="0">
                <a:latin typeface="Courier New" panose="02070309020205020404" pitchFamily="49" charset="0"/>
              </a:rPr>
              <a:t>2, 4, 4, 5, 5, 6, 8, 8, 8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6CF1FC-2A75-8608-A07D-0E90C3A0F209}"/>
              </a:ext>
            </a:extLst>
          </p:cNvPr>
          <p:cNvSpPr txBox="1"/>
          <p:nvPr/>
        </p:nvSpPr>
        <p:spPr>
          <a:xfrm>
            <a:off x="368969" y="3459941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 B — Even N</a:t>
            </a:r>
          </a:p>
          <a:p>
            <a:pPr>
              <a:buNone/>
            </a:pPr>
            <a:r>
              <a:rPr lang="en-US" dirty="0"/>
              <a:t>Data: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12, 15, 11, 14, 10, 13, 16, 18</a:t>
            </a:r>
          </a:p>
          <a:p>
            <a:pPr>
              <a:buNone/>
            </a:pPr>
            <a:r>
              <a:rPr lang="en-US" b="1" dirty="0"/>
              <a:t>Step 1 — sort</a:t>
            </a:r>
            <a:br>
              <a:rPr lang="en-US" dirty="0"/>
            </a:br>
            <a:r>
              <a:rPr lang="en-US" dirty="0"/>
              <a:t>Sorted: </a:t>
            </a:r>
            <a:r>
              <a:rPr lang="en-US" dirty="0">
                <a:latin typeface="Courier New" panose="02070309020205020404" pitchFamily="49" charset="0"/>
              </a:rPr>
              <a:t>10, 11, 12, 13, 14, 15, 16, 18</a:t>
            </a:r>
            <a:br>
              <a:rPr lang="en-US" dirty="0"/>
            </a:br>
            <a:r>
              <a:rPr lang="en-US" dirty="0"/>
              <a:t>N = 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5275A7-3733-9763-F907-4647D8E8D782}"/>
              </a:ext>
            </a:extLst>
          </p:cNvPr>
          <p:cNvSpPr txBox="1"/>
          <p:nvPr/>
        </p:nvSpPr>
        <p:spPr>
          <a:xfrm>
            <a:off x="368968" y="5130605"/>
            <a:ext cx="114508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IQR (Q1 and Q3)</a:t>
            </a:r>
            <a:r>
              <a:rPr lang="en-US" dirty="0"/>
              <a:t> — using the common method where lower half = first n/2 values and upper half = last n/2 values: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Lower half = </a:t>
            </a:r>
            <a:r>
              <a:rPr lang="en-US" dirty="0">
                <a:latin typeface="Courier New" panose="02070309020205020404" pitchFamily="49" charset="0"/>
              </a:rPr>
              <a:t>10,11,12,13</a:t>
            </a:r>
            <a:r>
              <a:rPr lang="en-US" dirty="0"/>
              <a:t> → Q1 = median of these = (11 + 12)/2 = </a:t>
            </a:r>
            <a:r>
              <a:rPr lang="en-US" b="1" dirty="0"/>
              <a:t>11.5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Upper half = </a:t>
            </a:r>
            <a:r>
              <a:rPr lang="en-US" dirty="0">
                <a:latin typeface="Courier New" panose="02070309020205020404" pitchFamily="49" charset="0"/>
              </a:rPr>
              <a:t>14,15,16,18</a:t>
            </a:r>
            <a:r>
              <a:rPr lang="en-US" dirty="0"/>
              <a:t> → Q3 = (15 + 16)/2 = </a:t>
            </a:r>
            <a:r>
              <a:rPr lang="en-US" b="1" dirty="0"/>
              <a:t>15.5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IQR = 15.5 − 11.5 = </a:t>
            </a:r>
            <a:r>
              <a:rPr lang="en-US" b="1" dirty="0"/>
              <a:t>4.0</a:t>
            </a:r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66E92D1-ABB6-4225-31F3-1779DDB58503}"/>
              </a:ext>
            </a:extLst>
          </p:cNvPr>
          <p:cNvCxnSpPr>
            <a:cxnSpLocks/>
          </p:cNvCxnSpPr>
          <p:nvPr/>
        </p:nvCxnSpPr>
        <p:spPr>
          <a:xfrm flipV="1">
            <a:off x="0" y="3336400"/>
            <a:ext cx="1308673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68626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60D5BE-D8B5-6A80-B842-07E7103CC22E}"/>
              </a:ext>
            </a:extLst>
          </p:cNvPr>
          <p:cNvSpPr txBox="1"/>
          <p:nvPr/>
        </p:nvSpPr>
        <p:spPr>
          <a:xfrm>
            <a:off x="3046412" y="216387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/>
              <a:t>Q1, Q3 and IQR step-by-step</a:t>
            </a:r>
            <a:r>
              <a:rPr lang="en-US" sz="2400" dirty="0"/>
              <a:t> using the grouped formula</a:t>
            </a:r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5E7014-7A4A-4C6C-2B1F-B24A510DCF8D}"/>
              </a:ext>
            </a:extLst>
          </p:cNvPr>
          <p:cNvSpPr txBox="1"/>
          <p:nvPr/>
        </p:nvSpPr>
        <p:spPr>
          <a:xfrm>
            <a:off x="721895" y="29916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DATA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940E0F6-02A0-2508-53B9-24823D894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21399"/>
              </p:ext>
            </p:extLst>
          </p:nvPr>
        </p:nvGraphicFramePr>
        <p:xfrm>
          <a:off x="970547" y="3543703"/>
          <a:ext cx="5847348" cy="256032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923674">
                  <a:extLst>
                    <a:ext uri="{9D8B030D-6E8A-4147-A177-3AD203B41FA5}">
                      <a16:colId xmlns:a16="http://schemas.microsoft.com/office/drawing/2014/main" val="4028823473"/>
                    </a:ext>
                  </a:extLst>
                </a:gridCol>
                <a:gridCol w="2923674">
                  <a:extLst>
                    <a:ext uri="{9D8B030D-6E8A-4147-A177-3AD203B41FA5}">
                      <a16:colId xmlns:a16="http://schemas.microsoft.com/office/drawing/2014/main" val="819420542"/>
                    </a:ext>
                  </a:extLst>
                </a:gridCol>
              </a:tblGrid>
              <a:tr h="2042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637273"/>
                  </a:ext>
                </a:extLst>
              </a:tr>
              <a:tr h="2042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0–10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545898"/>
                  </a:ext>
                </a:extLst>
              </a:tr>
              <a:tr h="2042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10–20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4731190"/>
                  </a:ext>
                </a:extLst>
              </a:tr>
              <a:tr h="2042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20–30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831486"/>
                  </a:ext>
                </a:extLst>
              </a:tr>
              <a:tr h="2042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30–40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721419"/>
                  </a:ext>
                </a:extLst>
              </a:tr>
              <a:tr h="2042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40–50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7921746"/>
                  </a:ext>
                </a:extLst>
              </a:tr>
              <a:tr h="2042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Total</a:t>
                      </a:r>
                      <a:endParaRPr lang="en-IN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50</a:t>
                      </a:r>
                      <a:endParaRPr lang="en-IN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103906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6D5B35-2393-4397-16D1-95A13F28B28D}"/>
                  </a:ext>
                </a:extLst>
              </p:cNvPr>
              <p:cNvSpPr txBox="1"/>
              <p:nvPr/>
            </p:nvSpPr>
            <p:spPr>
              <a:xfrm>
                <a:off x="1227221" y="6270322"/>
                <a:ext cx="6096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So here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6D5B35-2393-4397-16D1-95A13F28B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221" y="6270322"/>
                <a:ext cx="6096000" cy="646331"/>
              </a:xfrm>
              <a:prstGeom prst="rect">
                <a:avLst/>
              </a:prstGeom>
              <a:blipFill>
                <a:blip r:embed="rId2"/>
                <a:stretch>
                  <a:fillRect l="-800" t="-56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8939392-B6F5-DB0C-8C3B-9B333E55C036}"/>
                  </a:ext>
                </a:extLst>
              </p:cNvPr>
              <p:cNvSpPr txBox="1"/>
              <p:nvPr/>
            </p:nvSpPr>
            <p:spPr>
              <a:xfrm>
                <a:off x="1227221" y="1013106"/>
                <a:ext cx="6096000" cy="21411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To find Q1 we use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To find Q3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8939392-B6F5-DB0C-8C3B-9B333E55C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221" y="1013106"/>
                <a:ext cx="6096000" cy="2141164"/>
              </a:xfrm>
              <a:prstGeom prst="rect">
                <a:avLst/>
              </a:prstGeom>
              <a:blipFill>
                <a:blip r:embed="rId3"/>
                <a:stretch>
                  <a:fillRect l="-800" t="-14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F9BA315-A2C5-35CE-6895-4855923C3B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021654"/>
              </p:ext>
            </p:extLst>
          </p:nvPr>
        </p:nvGraphicFramePr>
        <p:xfrm>
          <a:off x="7063373" y="929826"/>
          <a:ext cx="5125452" cy="301752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562726">
                  <a:extLst>
                    <a:ext uri="{9D8B030D-6E8A-4147-A177-3AD203B41FA5}">
                      <a16:colId xmlns:a16="http://schemas.microsoft.com/office/drawing/2014/main" val="2962665762"/>
                    </a:ext>
                  </a:extLst>
                </a:gridCol>
                <a:gridCol w="2562726">
                  <a:extLst>
                    <a:ext uri="{9D8B030D-6E8A-4147-A177-3AD203B41FA5}">
                      <a16:colId xmlns:a16="http://schemas.microsoft.com/office/drawing/2014/main" val="1693604776"/>
                    </a:ext>
                  </a:extLst>
                </a:gridCol>
              </a:tblGrid>
              <a:tr h="308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985348"/>
                  </a:ext>
                </a:extLst>
              </a:tr>
              <a:tr h="350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lower boundary of quartile 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1804483"/>
                  </a:ext>
                </a:extLst>
              </a:tr>
              <a:tr h="350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frequency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069085"/>
                  </a:ext>
                </a:extLst>
              </a:tr>
              <a:tr h="613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cumulative frequency before quartile 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2764960"/>
                  </a:ext>
                </a:extLst>
              </a:tr>
              <a:tr h="350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frequency of quartile 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2356811"/>
                  </a:ext>
                </a:extLst>
              </a:tr>
              <a:tr h="350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class width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629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52016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B16942-FB11-476E-8957-E50C14C6F792}"/>
              </a:ext>
            </a:extLst>
          </p:cNvPr>
          <p:cNvSpPr txBox="1"/>
          <p:nvPr/>
        </p:nvSpPr>
        <p:spPr>
          <a:xfrm>
            <a:off x="545432" y="5853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Step–1 : Find cumulative frequency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09DFBC-A5DE-9157-B8F0-49103E8AC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830581"/>
              </p:ext>
            </p:extLst>
          </p:nvPr>
        </p:nvGraphicFramePr>
        <p:xfrm>
          <a:off x="1644316" y="1234440"/>
          <a:ext cx="8229600" cy="219456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83262134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3876247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7815919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c.f</a:t>
                      </a:r>
                      <a:endParaRPr lang="en-IN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987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0–10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2024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10–20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14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0883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20–30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5488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30–40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40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898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40–50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53112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9FE42E6-BB04-AE79-E906-FD4F2CCC9ECA}"/>
              </a:ext>
            </a:extLst>
          </p:cNvPr>
          <p:cNvSpPr txBox="1"/>
          <p:nvPr/>
        </p:nvSpPr>
        <p:spPr>
          <a:xfrm>
            <a:off x="545432" y="417878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Step – 2 :</a:t>
            </a:r>
            <a:br>
              <a:rPr lang="en-IN" b="1" dirty="0"/>
            </a:br>
            <a:r>
              <a:rPr lang="en-IN" b="1" dirty="0"/>
              <a:t>	Find Q1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10B8FC-C85A-2E66-9427-D15E26DC514D}"/>
              </a:ext>
            </a:extLst>
          </p:cNvPr>
          <p:cNvSpPr txBox="1"/>
          <p:nvPr/>
        </p:nvSpPr>
        <p:spPr>
          <a:xfrm>
            <a:off x="1828800" y="54388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So Q1 lies in cumulative frequency </a:t>
            </a:r>
            <a:r>
              <a:rPr lang="en-US" b="1" dirty="0"/>
              <a:t>&gt;12.5</a:t>
            </a:r>
            <a:r>
              <a:rPr lang="en-US" dirty="0"/>
              <a:t> = </a:t>
            </a:r>
            <a:r>
              <a:rPr lang="en-US" b="1" dirty="0"/>
              <a:t>10–20 class</a:t>
            </a:r>
            <a:endParaRPr lang="en-US" dirty="0"/>
          </a:p>
        </p:txBody>
      </p:sp>
      <p:pic>
        <p:nvPicPr>
          <p:cNvPr id="15" name="Picture 14" descr="A number and numbers on a black background&#10;&#10;AI-generated content may be incorrect.">
            <a:extLst>
              <a:ext uri="{FF2B5EF4-FFF2-40B4-BE49-F238E27FC236}">
                <a16:creationId xmlns:a16="http://schemas.microsoft.com/office/drawing/2014/main" id="{0D98F564-8A11-E850-6451-C4174DACB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27686" y="4526561"/>
            <a:ext cx="3531947" cy="771345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8EB846C-051C-EB60-F78E-98BAFE8C1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542840"/>
              </p:ext>
            </p:extLst>
          </p:nvPr>
        </p:nvGraphicFramePr>
        <p:xfrm>
          <a:off x="8073189" y="4176720"/>
          <a:ext cx="3601454" cy="182880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800727">
                  <a:extLst>
                    <a:ext uri="{9D8B030D-6E8A-4147-A177-3AD203B41FA5}">
                      <a16:colId xmlns:a16="http://schemas.microsoft.com/office/drawing/2014/main" val="1157929086"/>
                    </a:ext>
                  </a:extLst>
                </a:gridCol>
                <a:gridCol w="1800727">
                  <a:extLst>
                    <a:ext uri="{9D8B030D-6E8A-4147-A177-3AD203B41FA5}">
                      <a16:colId xmlns:a16="http://schemas.microsoft.com/office/drawing/2014/main" val="2236636637"/>
                    </a:ext>
                  </a:extLst>
                </a:gridCol>
              </a:tblGrid>
              <a:tr h="294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3166646"/>
                  </a:ext>
                </a:extLst>
              </a:tr>
              <a:tr h="294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7223899"/>
                  </a:ext>
                </a:extLst>
              </a:tr>
              <a:tr h="294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3887802"/>
                  </a:ext>
                </a:extLst>
              </a:tr>
              <a:tr h="294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0570570"/>
                  </a:ext>
                </a:extLst>
              </a:tr>
              <a:tr h="294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9513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37242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754955-0038-6DB1-3A5A-94CB93148059}"/>
                  </a:ext>
                </a:extLst>
              </p:cNvPr>
              <p:cNvSpPr txBox="1"/>
              <p:nvPr/>
            </p:nvSpPr>
            <p:spPr>
              <a:xfrm>
                <a:off x="1604211" y="2652720"/>
                <a:ext cx="6096000" cy="30325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Formula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ar-AE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ar-AE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b="1" i="1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ar-AE" b="1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b="1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num>
                            <m:den>
                              <m:r>
                                <a:rPr lang="ar-AE" b="1" i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  <m:r>
                            <a:rPr lang="ar-AE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𝑭</m:t>
                          </m:r>
                        </m:num>
                        <m:den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den>
                      </m:f>
                      <m:r>
                        <a:rPr lang="ar-AE" b="1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b="1" i="1">
                          <a:latin typeface="Cambria Math" panose="02040503050406030204" pitchFamily="18" charset="0"/>
                        </a:rPr>
                        <m:t>𝒉</m:t>
                      </m:r>
                    </m:oMath>
                  </m:oMathPara>
                </a14:m>
                <a:endParaRPr lang="ar-AE" b="1" dirty="0"/>
              </a:p>
              <a:p>
                <a:pPr>
                  <a:buNone/>
                </a:pPr>
                <a:r>
                  <a:rPr lang="en-IN" dirty="0"/>
                  <a:t>Put values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8125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125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𝟏𝟐𝟓</m:t>
                      </m:r>
                    </m:oMath>
                  </m:oMathPara>
                </a14:m>
                <a:endParaRPr lang="ar-AE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754955-0038-6DB1-3A5A-94CB93148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4211" y="2652720"/>
                <a:ext cx="6096000" cy="3032561"/>
              </a:xfrm>
              <a:prstGeom prst="rect">
                <a:avLst/>
              </a:prstGeom>
              <a:blipFill>
                <a:blip r:embed="rId2"/>
                <a:stretch>
                  <a:fillRect l="-800" t="-1004" b="-20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4B69290-819A-EDBA-1C0C-BEA529285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874296"/>
              </p:ext>
            </p:extLst>
          </p:nvPr>
        </p:nvGraphicFramePr>
        <p:xfrm>
          <a:off x="2378242" y="454952"/>
          <a:ext cx="3601454" cy="182880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800727">
                  <a:extLst>
                    <a:ext uri="{9D8B030D-6E8A-4147-A177-3AD203B41FA5}">
                      <a16:colId xmlns:a16="http://schemas.microsoft.com/office/drawing/2014/main" val="1157929086"/>
                    </a:ext>
                  </a:extLst>
                </a:gridCol>
                <a:gridCol w="1800727">
                  <a:extLst>
                    <a:ext uri="{9D8B030D-6E8A-4147-A177-3AD203B41FA5}">
                      <a16:colId xmlns:a16="http://schemas.microsoft.com/office/drawing/2014/main" val="2236636637"/>
                    </a:ext>
                  </a:extLst>
                </a:gridCol>
              </a:tblGrid>
              <a:tr h="294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3166646"/>
                  </a:ext>
                </a:extLst>
              </a:tr>
              <a:tr h="294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7223899"/>
                  </a:ext>
                </a:extLst>
              </a:tr>
              <a:tr h="294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3887802"/>
                  </a:ext>
                </a:extLst>
              </a:tr>
              <a:tr h="294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0570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9513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83471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E22C6-84B4-CA2C-FECF-B654C1373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B5EC22-D837-61FE-A7DF-36C075A93556}"/>
              </a:ext>
            </a:extLst>
          </p:cNvPr>
          <p:cNvSpPr txBox="1"/>
          <p:nvPr/>
        </p:nvSpPr>
        <p:spPr>
          <a:xfrm>
            <a:off x="657727" y="66556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Step – 3 :</a:t>
            </a:r>
            <a:br>
              <a:rPr lang="en-IN" b="1" dirty="0"/>
            </a:br>
            <a:r>
              <a:rPr lang="en-IN" b="1" dirty="0"/>
              <a:t>	Find Q3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181B6A-0B88-0A98-93F3-8154750A30F6}"/>
                  </a:ext>
                </a:extLst>
              </p:cNvPr>
              <p:cNvSpPr txBox="1"/>
              <p:nvPr/>
            </p:nvSpPr>
            <p:spPr>
              <a:xfrm>
                <a:off x="657727" y="1652897"/>
                <a:ext cx="6096000" cy="11705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⭐ Find Q3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150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37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Look in cumulative frequency &gt;37.5 → </a:t>
                </a:r>
                <a:r>
                  <a:rPr lang="en-IN" b="1" dirty="0"/>
                  <a:t>30–40 class</a:t>
                </a:r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181B6A-0B88-0A98-93F3-8154750A3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27" y="1652897"/>
                <a:ext cx="6096000" cy="1170513"/>
              </a:xfrm>
              <a:prstGeom prst="rect">
                <a:avLst/>
              </a:prstGeom>
              <a:blipFill>
                <a:blip r:embed="rId2"/>
                <a:stretch>
                  <a:fillRect l="-900" t="-3125" b="-72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44A78EE-E0FE-EFD0-B38E-A4176B5C9A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067106"/>
              </p:ext>
            </p:extLst>
          </p:nvPr>
        </p:nvGraphicFramePr>
        <p:xfrm>
          <a:off x="6753727" y="994610"/>
          <a:ext cx="5013158" cy="182880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506579">
                  <a:extLst>
                    <a:ext uri="{9D8B030D-6E8A-4147-A177-3AD203B41FA5}">
                      <a16:colId xmlns:a16="http://schemas.microsoft.com/office/drawing/2014/main" val="77003472"/>
                    </a:ext>
                  </a:extLst>
                </a:gridCol>
                <a:gridCol w="2506579">
                  <a:extLst>
                    <a:ext uri="{9D8B030D-6E8A-4147-A177-3AD203B41FA5}">
                      <a16:colId xmlns:a16="http://schemas.microsoft.com/office/drawing/2014/main" val="33703314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6427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2527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8041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587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45769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A5AB6E-053D-7929-A90F-F0285368E432}"/>
                  </a:ext>
                </a:extLst>
              </p:cNvPr>
              <p:cNvSpPr txBox="1"/>
              <p:nvPr/>
            </p:nvSpPr>
            <p:spPr>
              <a:xfrm>
                <a:off x="2005264" y="3177817"/>
                <a:ext cx="6096000" cy="11176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To find Q3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A5AB6E-053D-7929-A90F-F0285368E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264" y="3177817"/>
                <a:ext cx="6096000" cy="1117678"/>
              </a:xfrm>
              <a:prstGeom prst="rect">
                <a:avLst/>
              </a:prstGeom>
              <a:blipFill>
                <a:blip r:embed="rId3"/>
                <a:stretch>
                  <a:fillRect l="-900" t="-27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8E8C70-B614-442B-0914-1028A8EF4E3D}"/>
                  </a:ext>
                </a:extLst>
              </p:cNvPr>
              <p:cNvSpPr txBox="1"/>
              <p:nvPr/>
            </p:nvSpPr>
            <p:spPr>
              <a:xfrm>
                <a:off x="1299410" y="4435753"/>
                <a:ext cx="6096000" cy="20054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Formula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37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28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7916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916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𝟑𝟕</m:t>
                      </m:r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𝟗𝟏𝟔</m:t>
                      </m:r>
                    </m:oMath>
                  </m:oMathPara>
                </a14:m>
                <a:endParaRPr lang="ar-AE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8E8C70-B614-442B-0914-1028A8EF4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9410" y="4435753"/>
                <a:ext cx="6096000" cy="2005485"/>
              </a:xfrm>
              <a:prstGeom prst="rect">
                <a:avLst/>
              </a:prstGeom>
              <a:blipFill>
                <a:blip r:embed="rId4"/>
                <a:stretch>
                  <a:fillRect l="-800" t="-1824" b="-36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9228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A9619-1531-FB9C-C31A-9145371A3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57F738-D471-FDA0-0308-322161A7F50B}"/>
                  </a:ext>
                </a:extLst>
              </p:cNvPr>
              <p:cNvSpPr txBox="1"/>
              <p:nvPr/>
            </p:nvSpPr>
            <p:spPr>
              <a:xfrm>
                <a:off x="1171074" y="1014208"/>
                <a:ext cx="609600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⭐ Find IQR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𝐼𝑄𝑅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𝐼𝑄𝑅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37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916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18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125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𝟏𝟗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𝟕𝟗𝟏</m:t>
                      </m:r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57F738-D471-FDA0-0308-322161A7F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074" y="1014208"/>
                <a:ext cx="6096000" cy="923330"/>
              </a:xfrm>
              <a:prstGeom prst="rect">
                <a:avLst/>
              </a:prstGeom>
              <a:blipFill>
                <a:blip r:embed="rId2"/>
                <a:stretch>
                  <a:fillRect l="-800" t="-3947" b="-32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C08C71A-D730-B969-F9B8-466682C9C0C1}"/>
              </a:ext>
            </a:extLst>
          </p:cNvPr>
          <p:cNvSpPr txBox="1"/>
          <p:nvPr/>
        </p:nvSpPr>
        <p:spPr>
          <a:xfrm>
            <a:off x="2069431" y="25323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Middle 50% values of data lie within a spread of </a:t>
            </a:r>
            <a:r>
              <a:rPr lang="en-US" b="1" dirty="0"/>
              <a:t>19.79 units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19BC9E-94C7-2D61-98AF-D33039647E99}"/>
              </a:ext>
            </a:extLst>
          </p:cNvPr>
          <p:cNvSpPr txBox="1"/>
          <p:nvPr/>
        </p:nvSpPr>
        <p:spPr>
          <a:xfrm>
            <a:off x="930442" y="3429000"/>
            <a:ext cx="858252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Why we use IQR?</a:t>
            </a:r>
          </a:p>
          <a:p>
            <a:pPr>
              <a:buNone/>
            </a:pPr>
            <a:r>
              <a:rPr lang="en-US" sz="2400" b="1" dirty="0"/>
              <a:t>🟢 used to measure spread</a:t>
            </a:r>
          </a:p>
          <a:p>
            <a:pPr>
              <a:buNone/>
            </a:pPr>
            <a:r>
              <a:rPr lang="en-US" sz="2400" dirty="0"/>
              <a:t>It shows </a:t>
            </a:r>
            <a:r>
              <a:rPr lang="en-US" sz="2400" b="1" dirty="0"/>
              <a:t>how spread the central 50% of values are</a:t>
            </a:r>
            <a:endParaRPr lang="en-US" sz="2400" dirty="0"/>
          </a:p>
          <a:p>
            <a:pPr>
              <a:buNone/>
            </a:pPr>
            <a:r>
              <a:rPr lang="en-US" sz="2400" b="1" dirty="0"/>
              <a:t>🟢 not affected by extreme values</a:t>
            </a:r>
          </a:p>
          <a:p>
            <a:pPr>
              <a:buNone/>
            </a:pPr>
            <a:r>
              <a:rPr lang="en-US" sz="2400" dirty="0"/>
              <a:t>Better than range because range includes extreme values.</a:t>
            </a:r>
          </a:p>
          <a:p>
            <a:pPr>
              <a:buNone/>
            </a:pPr>
            <a:r>
              <a:rPr lang="en-US" sz="2400" b="1" dirty="0"/>
              <a:t>🟢 used in skewed data</a:t>
            </a:r>
          </a:p>
          <a:p>
            <a:pPr>
              <a:buNone/>
            </a:pPr>
            <a:r>
              <a:rPr lang="en-US" sz="2400" dirty="0"/>
              <a:t>When data is skewed, IQR gives better idea than mean and SD.</a:t>
            </a:r>
          </a:p>
        </p:txBody>
      </p:sp>
    </p:spTree>
    <p:extLst>
      <p:ext uri="{BB962C8B-B14F-4D97-AF65-F5344CB8AC3E}">
        <p14:creationId xmlns:p14="http://schemas.microsoft.com/office/powerpoint/2010/main" val="630693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290399-3867-625F-1080-8601C7C3FC8B}"/>
              </a:ext>
            </a:extLst>
          </p:cNvPr>
          <p:cNvSpPr txBox="1"/>
          <p:nvPr/>
        </p:nvSpPr>
        <p:spPr>
          <a:xfrm>
            <a:off x="561474" y="64095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does IQR tell us?</a:t>
            </a:r>
          </a:p>
          <a:p>
            <a:pPr>
              <a:buNone/>
            </a:pPr>
            <a:r>
              <a:rPr lang="en-US" dirty="0"/>
              <a:t>✔ how tightly packed the central data is</a:t>
            </a:r>
            <a:br>
              <a:rPr lang="en-US" dirty="0"/>
            </a:br>
            <a:r>
              <a:rPr lang="en-US" dirty="0"/>
              <a:t>✔ measure of variability</a:t>
            </a:r>
            <a:br>
              <a:rPr lang="en-US" dirty="0"/>
            </a:br>
            <a:r>
              <a:rPr lang="en-US" dirty="0"/>
              <a:t>✔ less affected by extreme values</a:t>
            </a:r>
            <a:br>
              <a:rPr lang="en-US" dirty="0"/>
            </a:br>
            <a:r>
              <a:rPr lang="en-US" dirty="0"/>
              <a:t>✔ more reliable than range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20134C-5B44-AA92-5A42-FEF645CE3FC5}"/>
              </a:ext>
            </a:extLst>
          </p:cNvPr>
          <p:cNvSpPr txBox="1"/>
          <p:nvPr/>
        </p:nvSpPr>
        <p:spPr>
          <a:xfrm>
            <a:off x="561474" y="2539441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is IQR important?</a:t>
            </a:r>
          </a:p>
          <a:p>
            <a:pPr>
              <a:buNone/>
            </a:pPr>
            <a:r>
              <a:rPr lang="en-US" dirty="0"/>
              <a:t>Because </a:t>
            </a:r>
            <a:r>
              <a:rPr lang="en-US" b="1" dirty="0"/>
              <a:t>real world data has outliers</a:t>
            </a:r>
            <a:br>
              <a:rPr lang="en-US" dirty="0"/>
            </a:br>
            <a:r>
              <a:rPr lang="en-US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salary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hospital expenses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house price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height/weight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purchase amount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traffic speed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machine readings etc.</a:t>
            </a:r>
          </a:p>
          <a:p>
            <a:pPr>
              <a:buNone/>
            </a:pPr>
            <a:r>
              <a:rPr lang="en-US" dirty="0"/>
              <a:t>Range, variance, standard deviation—all get influenced by outliers.</a:t>
            </a:r>
          </a:p>
          <a:p>
            <a:pPr>
              <a:buNone/>
            </a:pPr>
            <a:r>
              <a:rPr lang="en-US" dirty="0"/>
              <a:t>But </a:t>
            </a:r>
            <a:r>
              <a:rPr lang="en-US" b="1" dirty="0"/>
              <a:t>IQR avoids extreme values</a:t>
            </a:r>
            <a:br>
              <a:rPr lang="en-US" dirty="0"/>
            </a:br>
            <a:r>
              <a:rPr lang="en-US" dirty="0"/>
              <a:t>so it gives a </a:t>
            </a:r>
            <a:r>
              <a:rPr lang="en-US" b="1" dirty="0"/>
              <a:t>robust statistical spread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B9510F-F997-05DA-AAB8-E817B821BE98}"/>
                  </a:ext>
                </a:extLst>
              </p:cNvPr>
              <p:cNvSpPr txBox="1"/>
              <p:nvPr/>
            </p:nvSpPr>
            <p:spPr>
              <a:xfrm>
                <a:off x="6432884" y="874618"/>
                <a:ext cx="6096000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Why IQR is used in Data Science?</a:t>
                </a:r>
              </a:p>
              <a:p>
                <a:pPr>
                  <a:buNone/>
                </a:pPr>
                <a:r>
                  <a:rPr lang="en-IN" dirty="0"/>
                  <a:t>✔ to detect outliers</a:t>
                </a:r>
                <a:br>
                  <a:rPr lang="en-IN" dirty="0"/>
                </a:br>
                <a:r>
                  <a:rPr lang="en-IN" dirty="0"/>
                  <a:t>✔ to handle noise</a:t>
                </a:r>
                <a:br>
                  <a:rPr lang="en-IN" dirty="0"/>
                </a:br>
                <a:r>
                  <a:rPr lang="en-IN" dirty="0"/>
                  <a:t>✔ used while cleaning data</a:t>
                </a:r>
                <a:br>
                  <a:rPr lang="en-IN" dirty="0"/>
                </a:br>
                <a:r>
                  <a:rPr lang="en-IN" dirty="0"/>
                  <a:t>✔ used in boxplots</a:t>
                </a:r>
                <a:br>
                  <a:rPr lang="en-IN" dirty="0"/>
                </a:br>
                <a:r>
                  <a:rPr lang="en-IN" dirty="0"/>
                  <a:t>✔ used in anomaly detection</a:t>
                </a:r>
                <a:br>
                  <a:rPr lang="en-IN" dirty="0"/>
                </a:br>
                <a:r>
                  <a:rPr lang="en-IN" dirty="0"/>
                  <a:t>✔ used before applying ML algorithms</a:t>
                </a:r>
              </a:p>
              <a:p>
                <a:pPr>
                  <a:buNone/>
                </a:pPr>
                <a:r>
                  <a:rPr lang="en-IN" dirty="0"/>
                  <a:t>Most common usage:</a:t>
                </a:r>
              </a:p>
              <a:p>
                <a:pPr>
                  <a:buNone/>
                </a:pPr>
                <a:r>
                  <a:rPr lang="en-IN" b="1" dirty="0"/>
                  <a:t>Outlier detection rule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𝐿𝑜𝑤𝑒𝑟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𝐼𝑄𝑅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𝑈𝑝𝑝𝑒𝑟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𝐼𝑄𝑅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This helps us automatically find extreme data points.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B9510F-F997-05DA-AAB8-E817B821B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884" y="874618"/>
                <a:ext cx="6096000" cy="3416320"/>
              </a:xfrm>
              <a:prstGeom prst="rect">
                <a:avLst/>
              </a:prstGeom>
              <a:blipFill>
                <a:blip r:embed="rId2"/>
                <a:stretch>
                  <a:fillRect l="-800" t="-891" b="-17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35868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73C9D4-A0D9-41C1-452C-D45A14069F0C}"/>
              </a:ext>
            </a:extLst>
          </p:cNvPr>
          <p:cNvSpPr txBox="1"/>
          <p:nvPr/>
        </p:nvSpPr>
        <p:spPr>
          <a:xfrm>
            <a:off x="691637" y="736981"/>
            <a:ext cx="874172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⭐ What are Percentiles?</a:t>
            </a:r>
          </a:p>
          <a:p>
            <a:pPr>
              <a:buNone/>
            </a:pPr>
            <a:r>
              <a:rPr lang="en-US" dirty="0"/>
              <a:t>Percentiles divide a dataset into </a:t>
            </a:r>
            <a:r>
              <a:rPr lang="en-US" b="1" dirty="0"/>
              <a:t>100 equal parts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So each percentile represents </a:t>
            </a:r>
            <a:r>
              <a:rPr lang="en-US" b="1" dirty="0"/>
              <a:t>1%</a:t>
            </a:r>
            <a:r>
              <a:rPr lang="en-US" dirty="0"/>
              <a:t> of the ordered data.</a:t>
            </a:r>
          </a:p>
          <a:p>
            <a:pPr>
              <a:buNone/>
            </a:pPr>
            <a:r>
              <a:rPr lang="en-US" b="1" dirty="0"/>
              <a:t>Examples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P50</a:t>
            </a:r>
            <a:r>
              <a:rPr lang="en-US" dirty="0"/>
              <a:t> = the value below which 50% of the data lies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P90</a:t>
            </a:r>
            <a:r>
              <a:rPr lang="en-US" dirty="0"/>
              <a:t> = the value below which 90% of the data lies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P10</a:t>
            </a:r>
            <a:r>
              <a:rPr lang="en-US" dirty="0"/>
              <a:t> = means 10% are below this point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0A0B7E-45CF-9448-062B-332197CA9F7D}"/>
              </a:ext>
            </a:extLst>
          </p:cNvPr>
          <p:cNvSpPr txBox="1"/>
          <p:nvPr/>
        </p:nvSpPr>
        <p:spPr>
          <a:xfrm>
            <a:off x="208547" y="30197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Discrete data</a:t>
            </a:r>
            <a:r>
              <a:rPr lang="en-US"/>
              <a:t> (showing position, interpolation)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1EE7CF4-323F-F433-878C-001993C79D71}"/>
                  </a:ext>
                </a:extLst>
              </p:cNvPr>
              <p:cNvSpPr txBox="1"/>
              <p:nvPr/>
            </p:nvSpPr>
            <p:spPr>
              <a:xfrm>
                <a:off x="1750073" y="3429000"/>
                <a:ext cx="5078990" cy="8878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Discrete data</a:t>
                </a:r>
                <a:r>
                  <a:rPr lang="en-IN" dirty="0"/>
                  <a:t> — position method with interpolation: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position</m:t>
                      </m:r>
                      <m:r>
                        <a:rPr lang="en-IN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d>
                        <m:d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ar-AE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1EE7CF4-323F-F433-878C-001993C79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0073" y="3429000"/>
                <a:ext cx="5078990" cy="887872"/>
              </a:xfrm>
              <a:prstGeom prst="rect">
                <a:avLst/>
              </a:prstGeom>
              <a:blipFill>
                <a:blip r:embed="rId2"/>
                <a:stretch>
                  <a:fillRect l="-960" t="-4138" b="-255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5D0CB03-E85C-A5CD-5C19-B2FA093CADFB}"/>
                  </a:ext>
                </a:extLst>
              </p:cNvPr>
              <p:cNvSpPr txBox="1"/>
              <p:nvPr/>
            </p:nvSpPr>
            <p:spPr>
              <a:xfrm>
                <a:off x="320842" y="4499261"/>
                <a:ext cx="6096000" cy="2232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Grouped (continuous) data (use grouped formula)</a:t>
                </a:r>
              </a:p>
              <a:p>
                <a:pPr>
                  <a:buNone/>
                </a:pPr>
                <a:r>
                  <a:rPr lang="en-IN" dirty="0"/>
                  <a:t>Reminder grouped formula: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𝑘𝑁</m:t>
                              </m:r>
                            </m:num>
                            <m:den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den>
                          </m:f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Find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𝑘𝑁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IN" dirty="0"/>
                  <a:t>(the position in cumulative frequency), identify the class where cumulative frequency ≥ that value, then apply formula.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5D0CB03-E85C-A5CD-5C19-B2FA093CA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842" y="4499261"/>
                <a:ext cx="6096000" cy="2232984"/>
              </a:xfrm>
              <a:prstGeom prst="rect">
                <a:avLst/>
              </a:prstGeom>
              <a:blipFill>
                <a:blip r:embed="rId3"/>
                <a:stretch>
                  <a:fillRect l="-900" t="-1366" b="-35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FB66AB3-06F5-1BC3-23F9-E2C50FA7E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538905"/>
              </p:ext>
            </p:extLst>
          </p:nvPr>
        </p:nvGraphicFramePr>
        <p:xfrm>
          <a:off x="6829063" y="3749038"/>
          <a:ext cx="5359762" cy="31089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679881">
                  <a:extLst>
                    <a:ext uri="{9D8B030D-6E8A-4147-A177-3AD203B41FA5}">
                      <a16:colId xmlns:a16="http://schemas.microsoft.com/office/drawing/2014/main" val="2667712884"/>
                    </a:ext>
                  </a:extLst>
                </a:gridCol>
                <a:gridCol w="2679881">
                  <a:extLst>
                    <a:ext uri="{9D8B030D-6E8A-4147-A177-3AD203B41FA5}">
                      <a16:colId xmlns:a16="http://schemas.microsoft.com/office/drawing/2014/main" val="2358674992"/>
                    </a:ext>
                  </a:extLst>
                </a:gridCol>
              </a:tblGrid>
              <a:tr h="349283">
                <a:tc>
                  <a:txBody>
                    <a:bodyPr/>
                    <a:lstStyle/>
                    <a:p>
                      <a:pPr rtl="0" eaLnBrk="1" latinLnBrk="0" hangingPunct="1"/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en-IN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</a:rPr>
                        <a:t>Meaning</a:t>
                      </a:r>
                      <a:endParaRPr lang="en-IN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79817"/>
                  </a:ext>
                </a:extLst>
              </a:tr>
              <a:tr h="611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lower limit of percentile class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6220475"/>
                  </a:ext>
                </a:extLst>
              </a:tr>
              <a:tr h="349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percentile (like 25 for P25)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617717"/>
                  </a:ext>
                </a:extLst>
              </a:tr>
              <a:tr h="349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total </a:t>
                      </a:r>
                      <a:r>
                        <a:rPr lang="en-IN" dirty="0" err="1"/>
                        <a:t>freq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2561245"/>
                  </a:ext>
                </a:extLst>
              </a:tr>
              <a:tr h="611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cumulative </a:t>
                      </a:r>
                      <a:r>
                        <a:rPr lang="en-US" dirty="0" err="1"/>
                        <a:t>freq</a:t>
                      </a:r>
                      <a:r>
                        <a:rPr lang="en-US" dirty="0"/>
                        <a:t> before that class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858492"/>
                  </a:ext>
                </a:extLst>
              </a:tr>
              <a:tr h="349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frequency of that 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7209870"/>
                  </a:ext>
                </a:extLst>
              </a:tr>
              <a:tr h="349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class width.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132066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2F9063F-0CB2-66DE-662D-15A87D314423}"/>
              </a:ext>
            </a:extLst>
          </p:cNvPr>
          <p:cNvSpPr txBox="1"/>
          <p:nvPr/>
        </p:nvSpPr>
        <p:spPr>
          <a:xfrm>
            <a:off x="4585555" y="118264"/>
            <a:ext cx="6325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PERCENTILES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954983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CB20B2-BF77-76AF-8A95-95DF3B8A3F9F}"/>
              </a:ext>
            </a:extLst>
          </p:cNvPr>
          <p:cNvSpPr txBox="1"/>
          <p:nvPr/>
        </p:nvSpPr>
        <p:spPr>
          <a:xfrm>
            <a:off x="4026568" y="32868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Discrete data</a:t>
            </a:r>
            <a:r>
              <a:rPr lang="en-US" dirty="0"/>
              <a:t> (showing position, interpolation)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C9D81E-6293-A67A-37ED-DE87484898CD}"/>
              </a:ext>
            </a:extLst>
          </p:cNvPr>
          <p:cNvSpPr txBox="1"/>
          <p:nvPr/>
        </p:nvSpPr>
        <p:spPr>
          <a:xfrm>
            <a:off x="545431" y="135697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Q1</a:t>
            </a:r>
          </a:p>
          <a:p>
            <a:pPr>
              <a:buNone/>
            </a:pPr>
            <a:r>
              <a:rPr lang="en-US" dirty="0"/>
              <a:t>Find </a:t>
            </a:r>
            <a:r>
              <a:rPr lang="en-US" b="1" dirty="0"/>
              <a:t>P25 and P75</a:t>
            </a:r>
            <a:r>
              <a:rPr lang="en-US" dirty="0"/>
              <a:t> for the following data:</a:t>
            </a:r>
          </a:p>
          <a:p>
            <a:pPr>
              <a:buNone/>
            </a:pPr>
            <a:r>
              <a:rPr lang="en-US" dirty="0"/>
              <a:t>Values:</a:t>
            </a:r>
            <a:br>
              <a:rPr lang="en-US" dirty="0"/>
            </a:br>
            <a:r>
              <a:rPr lang="en-US" dirty="0"/>
              <a:t>4, 6, 7, 9, 10, 12, 15, 18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2DAB32-F46A-5789-6BFE-B2950A16DE8E}"/>
                  </a:ext>
                </a:extLst>
              </p:cNvPr>
              <p:cNvSpPr txBox="1"/>
              <p:nvPr/>
            </p:nvSpPr>
            <p:spPr>
              <a:xfrm>
                <a:off x="705852" y="3216262"/>
                <a:ext cx="6096000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Q1 — Data</a:t>
                </a:r>
              </a:p>
              <a:p>
                <a:pPr>
                  <a:buNone/>
                </a:pPr>
                <a:r>
                  <a:rPr lang="en-IN" dirty="0">
                    <a:latin typeface="Courier New" panose="02070309020205020404" pitchFamily="49" charset="0"/>
                  </a:rPr>
                  <a:t>4, 6, 7, 9, 10, 12, 15, 18</a:t>
                </a:r>
                <a:r>
                  <a:rPr lang="en-IN" dirty="0"/>
                  <a:t> (n = 8)</a:t>
                </a:r>
              </a:p>
              <a:p>
                <a:pPr>
                  <a:buNone/>
                </a:pPr>
                <a:r>
                  <a:rPr lang="en-IN" b="1" dirty="0"/>
                  <a:t>P25</a:t>
                </a: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position =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25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9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ar-AE" dirty="0"/>
                  <a:t>→ </a:t>
                </a:r>
                <a:r>
                  <a:rPr lang="en-IN" dirty="0"/>
                  <a:t>between 2nd and 3rd values.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2nd = 6, 3rd = 7. Interpolate: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25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6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25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𝟔</m:t>
                    </m:r>
                    <m:r>
                      <a:rPr lang="ar-AE" b="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𝟐𝟓</m:t>
                    </m:r>
                  </m:oMath>
                </a14:m>
                <a:r>
                  <a:rPr lang="ar-AE" dirty="0"/>
                  <a:t>.</a:t>
                </a:r>
              </a:p>
              <a:p>
                <a:pPr>
                  <a:buNone/>
                </a:pPr>
                <a:r>
                  <a:rPr lang="en-IN" b="1" dirty="0"/>
                  <a:t>P75</a:t>
                </a: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position =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75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lang="en-IN" dirty="0"/>
                  <a:t>→ between 6th and 7th values.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6th = 12, 7th = 15. Interpolate: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75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12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75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12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25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𝟏𝟒</m:t>
                    </m:r>
                    <m:r>
                      <a:rPr lang="ar-AE" b="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𝟐𝟓</m:t>
                    </m:r>
                  </m:oMath>
                </a14:m>
                <a:r>
                  <a:rPr lang="ar-AE" dirty="0"/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2DAB32-F46A-5789-6BFE-B2950A16D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852" y="3216262"/>
                <a:ext cx="6096000" cy="3139321"/>
              </a:xfrm>
              <a:prstGeom prst="rect">
                <a:avLst/>
              </a:prstGeom>
              <a:blipFill>
                <a:blip r:embed="rId2"/>
                <a:stretch>
                  <a:fillRect l="-900" t="-1165" b="-2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71908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8994D83-E9B6-A000-48A2-A3BF1D0BBCE9}"/>
              </a:ext>
            </a:extLst>
          </p:cNvPr>
          <p:cNvSpPr txBox="1"/>
          <p:nvPr/>
        </p:nvSpPr>
        <p:spPr>
          <a:xfrm>
            <a:off x="336884" y="60139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Continuous Grouped Data Percentile Questions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6F078D-5009-FAF2-00FE-58E58709B9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734614"/>
              </p:ext>
            </p:extLst>
          </p:nvPr>
        </p:nvGraphicFramePr>
        <p:xfrm>
          <a:off x="874294" y="1265429"/>
          <a:ext cx="8229600" cy="21945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60757484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3305795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 Interval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228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0–10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1681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10–20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629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20–30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315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30–40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6705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40–50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190446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E470E83-099B-82C1-8C4F-17342429E26D}"/>
              </a:ext>
            </a:extLst>
          </p:cNvPr>
          <p:cNvSpPr txBox="1"/>
          <p:nvPr/>
        </p:nvSpPr>
        <p:spPr>
          <a:xfrm>
            <a:off x="874294" y="37546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Find </a:t>
            </a:r>
            <a:r>
              <a:rPr lang="en-IN" b="1" dirty="0">
                <a:solidFill>
                  <a:srgbClr val="FF0000"/>
                </a:solidFill>
              </a:rPr>
              <a:t>P30</a:t>
            </a:r>
            <a:r>
              <a:rPr lang="en-IN" dirty="0">
                <a:solidFill>
                  <a:srgbClr val="FF0000"/>
                </a:solidFill>
              </a:rPr>
              <a:t> and </a:t>
            </a:r>
            <a:r>
              <a:rPr lang="en-IN" b="1" dirty="0">
                <a:solidFill>
                  <a:srgbClr val="FF0000"/>
                </a:solidFill>
              </a:rPr>
              <a:t>P70</a:t>
            </a:r>
            <a:endParaRPr lang="en-IN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F9EDE9-54C5-3400-71D6-66A2EB631ACB}"/>
                  </a:ext>
                </a:extLst>
              </p:cNvPr>
              <p:cNvSpPr txBox="1"/>
              <p:nvPr/>
            </p:nvSpPr>
            <p:spPr>
              <a:xfrm>
                <a:off x="1042737" y="4418721"/>
                <a:ext cx="6096000" cy="1955985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Reminder grouped formula: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𝑘𝑁</m:t>
                              </m:r>
                            </m:num>
                            <m:den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den>
                          </m:f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Find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𝑘𝑁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IN" dirty="0"/>
                  <a:t>(the position in cumulative frequency), identify the class where cumulative frequency ≥ that value, then apply formula.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F9EDE9-54C5-3400-71D6-66A2EB631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737" y="4418721"/>
                <a:ext cx="6096000" cy="1955985"/>
              </a:xfrm>
              <a:prstGeom prst="rect">
                <a:avLst/>
              </a:prstGeom>
              <a:blipFill>
                <a:blip r:embed="rId2"/>
                <a:stretch>
                  <a:fillRect l="-699" t="-1548" b="-3715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67131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4C5E5A-165B-DBF3-2F14-1AD85C8A0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260958"/>
              </p:ext>
            </p:extLst>
          </p:nvPr>
        </p:nvGraphicFramePr>
        <p:xfrm>
          <a:off x="1283368" y="302078"/>
          <a:ext cx="5783181" cy="2194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27727">
                  <a:extLst>
                    <a:ext uri="{9D8B030D-6E8A-4147-A177-3AD203B41FA5}">
                      <a16:colId xmlns:a16="http://schemas.microsoft.com/office/drawing/2014/main" val="777558327"/>
                    </a:ext>
                  </a:extLst>
                </a:gridCol>
                <a:gridCol w="1927727">
                  <a:extLst>
                    <a:ext uri="{9D8B030D-6E8A-4147-A177-3AD203B41FA5}">
                      <a16:colId xmlns:a16="http://schemas.microsoft.com/office/drawing/2014/main" val="669964056"/>
                    </a:ext>
                  </a:extLst>
                </a:gridCol>
                <a:gridCol w="1927727">
                  <a:extLst>
                    <a:ext uri="{9D8B030D-6E8A-4147-A177-3AD203B41FA5}">
                      <a16:colId xmlns:a16="http://schemas.microsoft.com/office/drawing/2014/main" val="3226888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 err="1"/>
                        <a:t>c.f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8117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0–10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1501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10–20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8509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20–30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10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20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553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30–40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3744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40–50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546252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366C87-4548-BEFC-E2AB-54D6BB28C806}"/>
                  </a:ext>
                </a:extLst>
              </p:cNvPr>
              <p:cNvSpPr txBox="1"/>
              <p:nvPr/>
            </p:nvSpPr>
            <p:spPr>
              <a:xfrm>
                <a:off x="766846" y="2813760"/>
                <a:ext cx="11421979" cy="30952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Total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lang="en-IN" dirty="0"/>
                  <a:t>.</a:t>
                </a:r>
              </a:p>
              <a:p>
                <a:pPr>
                  <a:buNone/>
                </a:pPr>
                <a:r>
                  <a:rPr lang="en-IN" b="1" dirty="0"/>
                  <a:t>P30</a:t>
                </a: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𝑘𝑁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40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IN" dirty="0"/>
                  <a:t>. Cumulative </a:t>
                </a:r>
                <a:r>
                  <a:rPr lang="en-IN" dirty="0" err="1"/>
                  <a:t>freqs</a:t>
                </a:r>
                <a:r>
                  <a:rPr lang="en-IN" dirty="0"/>
                  <a:t>: 4, 10, </a:t>
                </a:r>
                <a:r>
                  <a:rPr lang="en-IN" b="1" dirty="0"/>
                  <a:t>20</a:t>
                </a:r>
                <a:r>
                  <a:rPr lang="en-IN" dirty="0"/>
                  <a:t>, 35, 40 → first ≥12 is class </a:t>
                </a:r>
                <a:r>
                  <a:rPr lang="en-IN" b="1" dirty="0"/>
                  <a:t>20–30</a:t>
                </a:r>
                <a:r>
                  <a:rPr lang="en-IN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For 20–30: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IN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b="0" i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IN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b="0" i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IN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IN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IN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20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0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ar-AE" i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ar-AE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10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20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ar-AE" i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ar-AE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10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20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𝟐𝟐</m:t>
                    </m:r>
                    <m:r>
                      <a:rPr lang="ar-AE" b="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ar-AE" dirty="0"/>
                  <a:t>.</a:t>
                </a:r>
              </a:p>
              <a:p>
                <a:pPr>
                  <a:buNone/>
                </a:pPr>
                <a:r>
                  <a:rPr lang="en-IN" b="1" dirty="0"/>
                  <a:t>P70</a:t>
                </a: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𝑘𝑁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70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40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lang="en-IN" dirty="0"/>
                  <a:t>. Cumulative </a:t>
                </a:r>
                <a:r>
                  <a:rPr lang="en-IN" dirty="0" err="1"/>
                  <a:t>freqs</a:t>
                </a:r>
                <a:r>
                  <a:rPr lang="en-IN" dirty="0"/>
                  <a:t>: 4,10,20,</a:t>
                </a:r>
                <a:r>
                  <a:rPr lang="en-IN" b="1" dirty="0"/>
                  <a:t>35</a:t>
                </a:r>
                <a:r>
                  <a:rPr lang="en-IN" dirty="0"/>
                  <a:t> → first ≥28 is class </a:t>
                </a:r>
                <a:r>
                  <a:rPr lang="en-IN" b="1" dirty="0"/>
                  <a:t>30–40</a:t>
                </a:r>
                <a:r>
                  <a:rPr lang="en-IN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For 30–40: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IN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b="0" i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IN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0"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b="0" i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IN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IN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IN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70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30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0">
                            <a:latin typeface="Cambria Math" panose="02040503050406030204" pitchFamily="18" charset="0"/>
                          </a:rPr>
                          <m:t>28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ar-AE" i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ar-AE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10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30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ar-AE" i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ar-AE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10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30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3333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...=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𝟑𝟓</m:t>
                    </m:r>
                    <m:r>
                      <a:rPr lang="ar-AE" b="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𝟑𝟑𝟑𝟑</m:t>
                    </m:r>
                  </m:oMath>
                </a14:m>
                <a:r>
                  <a:rPr lang="ar-AE" dirty="0"/>
                  <a:t>.</a:t>
                </a:r>
              </a:p>
              <a:p>
                <a:pPr>
                  <a:buNone/>
                </a:pPr>
                <a:r>
                  <a:rPr lang="ar-AE" dirty="0"/>
                  <a:t>(</a:t>
                </a:r>
                <a:r>
                  <a:rPr lang="en-IN" dirty="0"/>
                  <a:t>You can round as needed; I show 4-decimal or 3-decimal where helpful.)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366C87-4548-BEFC-E2AB-54D6BB28C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46" y="2813760"/>
                <a:ext cx="11421979" cy="3095206"/>
              </a:xfrm>
              <a:prstGeom prst="rect">
                <a:avLst/>
              </a:prstGeom>
              <a:blipFill>
                <a:blip r:embed="rId2"/>
                <a:stretch>
                  <a:fillRect l="-534" t="-1183" b="-23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82559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8C4F74-A277-DC33-9B78-C6D9F1055BF2}"/>
              </a:ext>
            </a:extLst>
          </p:cNvPr>
          <p:cNvSpPr txBox="1"/>
          <p:nvPr/>
        </p:nvSpPr>
        <p:spPr>
          <a:xfrm>
            <a:off x="465221" y="3976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Q1</a:t>
            </a:r>
          </a:p>
          <a:p>
            <a:pPr>
              <a:buNone/>
            </a:pPr>
            <a:r>
              <a:rPr lang="en-US" dirty="0"/>
              <a:t>Find </a:t>
            </a:r>
            <a:r>
              <a:rPr lang="en-US" b="1" dirty="0"/>
              <a:t>P40</a:t>
            </a:r>
            <a:r>
              <a:rPr lang="en-US" dirty="0"/>
              <a:t> and </a:t>
            </a:r>
            <a:r>
              <a:rPr lang="en-US" b="1" dirty="0"/>
              <a:t>P90</a:t>
            </a:r>
            <a:endParaRPr lang="en-US" dirty="0"/>
          </a:p>
          <a:p>
            <a:pPr>
              <a:buNone/>
            </a:pPr>
            <a:r>
              <a:rPr lang="en-US" dirty="0"/>
              <a:t>Values:</a:t>
            </a:r>
            <a:br>
              <a:rPr lang="en-US" dirty="0"/>
            </a:br>
            <a:r>
              <a:rPr lang="en-US" dirty="0"/>
              <a:t>2, 2, 5, 8, 10, 12, 15, 25, 26, 28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Q2</a:t>
            </a:r>
          </a:p>
          <a:p>
            <a:pPr>
              <a:buNone/>
            </a:pPr>
            <a:r>
              <a:rPr lang="en-US" dirty="0"/>
              <a:t>Find </a:t>
            </a:r>
            <a:r>
              <a:rPr lang="en-US" b="1" dirty="0"/>
              <a:t>P30 and P60</a:t>
            </a:r>
            <a:endParaRPr lang="en-US" dirty="0"/>
          </a:p>
          <a:p>
            <a:pPr>
              <a:buNone/>
            </a:pPr>
            <a:r>
              <a:rPr lang="en-US" dirty="0"/>
              <a:t>Values:</a:t>
            </a:r>
            <a:br>
              <a:rPr lang="en-US" dirty="0"/>
            </a:br>
            <a:r>
              <a:rPr lang="en-US" dirty="0"/>
              <a:t>5, 7, 7, 8, 9, 11, 12, 14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D619943-ECA5-CC1C-1F0D-B8D0553E46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748115"/>
              </p:ext>
            </p:extLst>
          </p:nvPr>
        </p:nvGraphicFramePr>
        <p:xfrm>
          <a:off x="465221" y="4374935"/>
          <a:ext cx="5454316" cy="219456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727158">
                  <a:extLst>
                    <a:ext uri="{9D8B030D-6E8A-4147-A177-3AD203B41FA5}">
                      <a16:colId xmlns:a16="http://schemas.microsoft.com/office/drawing/2014/main" val="3083679988"/>
                    </a:ext>
                  </a:extLst>
                </a:gridCol>
                <a:gridCol w="2727158">
                  <a:extLst>
                    <a:ext uri="{9D8B030D-6E8A-4147-A177-3AD203B41FA5}">
                      <a16:colId xmlns:a16="http://schemas.microsoft.com/office/drawing/2014/main" val="29375627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 Interval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1736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0–5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244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5–10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985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10–15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2961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15–20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516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20–25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57516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1668D30-6F51-7BEE-98DD-C0F29B4B39AC}"/>
              </a:ext>
            </a:extLst>
          </p:cNvPr>
          <p:cNvSpPr txBox="1"/>
          <p:nvPr/>
        </p:nvSpPr>
        <p:spPr>
          <a:xfrm>
            <a:off x="529389" y="347754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Q3</a:t>
            </a:r>
            <a:r>
              <a:rPr lang="en-IN" dirty="0"/>
              <a:t>. </a:t>
            </a:r>
          </a:p>
          <a:p>
            <a:r>
              <a:rPr lang="en-IN" dirty="0"/>
              <a:t>Find </a:t>
            </a:r>
            <a:r>
              <a:rPr lang="en-IN" b="1" dirty="0"/>
              <a:t>P10, P50, P75</a:t>
            </a:r>
            <a:endParaRPr lang="en-IN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E5AE01F-391C-44B0-3581-A566CF056E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88934"/>
              </p:ext>
            </p:extLst>
          </p:nvPr>
        </p:nvGraphicFramePr>
        <p:xfrm>
          <a:off x="6625389" y="2162681"/>
          <a:ext cx="5637212" cy="219456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818606">
                  <a:extLst>
                    <a:ext uri="{9D8B030D-6E8A-4147-A177-3AD203B41FA5}">
                      <a16:colId xmlns:a16="http://schemas.microsoft.com/office/drawing/2014/main" val="2667712884"/>
                    </a:ext>
                  </a:extLst>
                </a:gridCol>
                <a:gridCol w="2818606">
                  <a:extLst>
                    <a:ext uri="{9D8B030D-6E8A-4147-A177-3AD203B41FA5}">
                      <a16:colId xmlns:a16="http://schemas.microsoft.com/office/drawing/2014/main" val="23586749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 Interval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79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0–10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6220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10–20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617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20–30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2561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30–40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858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40–50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720987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7E41BE8-E1A0-0711-6608-13782359F348}"/>
              </a:ext>
            </a:extLst>
          </p:cNvPr>
          <p:cNvSpPr txBox="1"/>
          <p:nvPr/>
        </p:nvSpPr>
        <p:spPr>
          <a:xfrm>
            <a:off x="6375943" y="941960"/>
            <a:ext cx="61361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Q4</a:t>
            </a:r>
          </a:p>
          <a:p>
            <a:pPr>
              <a:buNone/>
            </a:pPr>
            <a:r>
              <a:rPr lang="en-IN" dirty="0"/>
              <a:t>Find </a:t>
            </a:r>
            <a:r>
              <a:rPr lang="en-IN" b="1" dirty="0"/>
              <a:t>P25 &amp; P90</a:t>
            </a:r>
            <a:endParaRPr lang="en-IN" dirty="0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AE5AA325-377C-1AC1-9E4C-B6345006E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7524" y="5103674"/>
            <a:ext cx="5221301" cy="175432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ANSWERS: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Q1: P40 = </a:t>
            </a:r>
            <a:r>
              <a:rPr lang="en-US" altLang="en-US" b="1" dirty="0">
                <a:latin typeface="Arial" panose="020B0604020202020204" pitchFamily="34" charset="0"/>
              </a:rPr>
              <a:t>8.8</a:t>
            </a:r>
            <a:r>
              <a:rPr lang="en-US" altLang="en-US" dirty="0">
                <a:latin typeface="Arial" panose="020B0604020202020204" pitchFamily="34" charset="0"/>
              </a:rPr>
              <a:t>, P90 = </a:t>
            </a:r>
            <a:r>
              <a:rPr lang="en-US" altLang="en-US" b="1" dirty="0">
                <a:latin typeface="Arial" panose="020B0604020202020204" pitchFamily="34" charset="0"/>
              </a:rPr>
              <a:t>27.8</a:t>
            </a: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Q2: P30 = </a:t>
            </a:r>
            <a:r>
              <a:rPr lang="en-US" altLang="en-US" b="1" dirty="0">
                <a:latin typeface="Arial" panose="020B0604020202020204" pitchFamily="34" charset="0"/>
              </a:rPr>
              <a:t>7.0</a:t>
            </a:r>
            <a:r>
              <a:rPr lang="en-US" altLang="en-US" dirty="0">
                <a:latin typeface="Arial" panose="020B0604020202020204" pitchFamily="34" charset="0"/>
              </a:rPr>
              <a:t>, P60 = </a:t>
            </a:r>
            <a:r>
              <a:rPr lang="en-US" altLang="en-US" b="1" dirty="0">
                <a:latin typeface="Arial" panose="020B0604020202020204" pitchFamily="34" charset="0"/>
              </a:rPr>
              <a:t>9.8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Q3: P10 =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5.3125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P50 =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15.625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P75 =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19.0625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Q4: P25 =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22.8571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P90 =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47.3333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2153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92756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Variance &amp; Standard Deviation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Variance measures average squared distance from mean.</a:t>
            </a:r>
          </a:p>
          <a:p>
            <a:r>
              <a:rPr dirty="0"/>
              <a:t>Sample variance: s² = Σ(xi - x̄)² / (n-1)</a:t>
            </a:r>
          </a:p>
          <a:p>
            <a:r>
              <a:rPr dirty="0"/>
              <a:t>Standard deviation: s = √s² (same units as data).</a:t>
            </a:r>
          </a:p>
          <a:p>
            <a:r>
              <a:rPr dirty="0"/>
              <a:t>Example idea: marks in a test – higher s means marks are more spread out.</a:t>
            </a:r>
          </a:p>
          <a:p>
            <a:r>
              <a:rPr dirty="0"/>
              <a:t>Excel:</a:t>
            </a:r>
          </a:p>
          <a:p>
            <a:pPr lvl="1"/>
            <a:r>
              <a:rPr dirty="0"/>
              <a:t>• Sample variance: =VAR.S(A2:A11)</a:t>
            </a:r>
          </a:p>
          <a:p>
            <a:pPr lvl="1"/>
            <a:r>
              <a:rPr dirty="0"/>
              <a:t>• Sample std dev: =STDEV.S(A2:A11)</a:t>
            </a:r>
          </a:p>
          <a:p>
            <a:r>
              <a:rPr dirty="0"/>
              <a:t>Use to compare spread between two datasets with similar scale.</a:t>
            </a:r>
          </a:p>
          <a:p>
            <a:r>
              <a:rPr dirty="0"/>
              <a:t>[IMAGE PLACEHOLDER: bell curve with ±1σ, ±2σ, ±3σ marked]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962FDC-118B-2217-438C-46793C956D2E}"/>
              </a:ext>
            </a:extLst>
          </p:cNvPr>
          <p:cNvSpPr txBox="1"/>
          <p:nvPr/>
        </p:nvSpPr>
        <p:spPr>
          <a:xfrm>
            <a:off x="5149516" y="29659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Variance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5ED054-6A79-101B-5FF5-168201E01C43}"/>
              </a:ext>
            </a:extLst>
          </p:cNvPr>
          <p:cNvSpPr txBox="1"/>
          <p:nvPr/>
        </p:nvSpPr>
        <p:spPr>
          <a:xfrm>
            <a:off x="1058779" y="133664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is Variance?</a:t>
            </a:r>
          </a:p>
          <a:p>
            <a:pPr>
              <a:buNone/>
            </a:pPr>
            <a:r>
              <a:rPr lang="en-US" dirty="0"/>
              <a:t>Variance tells you </a:t>
            </a:r>
            <a:r>
              <a:rPr lang="en-US" b="1" dirty="0"/>
              <a:t>how spread out</a:t>
            </a:r>
            <a:r>
              <a:rPr lang="en-US" dirty="0"/>
              <a:t> the data is from the </a:t>
            </a:r>
            <a:r>
              <a:rPr lang="en-US" b="1" dirty="0"/>
              <a:t>mean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Simply:</a:t>
            </a:r>
          </a:p>
          <a:p>
            <a:pPr>
              <a:buNone/>
            </a:pPr>
            <a:r>
              <a:rPr lang="en-US" b="1" dirty="0"/>
              <a:t>How much values are deviating away from the average.</a:t>
            </a:r>
            <a:endParaRPr lang="en-US" dirty="0"/>
          </a:p>
          <a:p>
            <a:pPr>
              <a:buNone/>
            </a:pPr>
            <a:r>
              <a:rPr lang="en-US" dirty="0"/>
              <a:t>If values are near mean → variance small</a:t>
            </a:r>
            <a:br>
              <a:rPr lang="en-US" dirty="0"/>
            </a:br>
            <a:r>
              <a:rPr lang="en-US" dirty="0"/>
              <a:t>If values far apart → variance large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B1C04A-4574-0984-8DA9-BC09553D99DD}"/>
              </a:ext>
            </a:extLst>
          </p:cNvPr>
          <p:cNvSpPr txBox="1"/>
          <p:nvPr/>
        </p:nvSpPr>
        <p:spPr>
          <a:xfrm>
            <a:off x="1058779" y="376169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Mathematical meaning</a:t>
            </a:r>
          </a:p>
          <a:p>
            <a:pPr>
              <a:buNone/>
            </a:pPr>
            <a:r>
              <a:rPr lang="en-US" dirty="0"/>
              <a:t>Variance = average of squared deviations from the mean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F7D8A77-47E9-CFB0-F856-16735C980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407" y="4539917"/>
            <a:ext cx="3373686" cy="98143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EC1F642-0EEA-1305-D00D-B36FB6327C07}"/>
              </a:ext>
            </a:extLst>
          </p:cNvPr>
          <p:cNvSpPr txBox="1"/>
          <p:nvPr/>
        </p:nvSpPr>
        <p:spPr>
          <a:xfrm>
            <a:off x="1058779" y="564969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squared?</a:t>
            </a:r>
          </a:p>
          <a:p>
            <a:pPr>
              <a:buNone/>
            </a:pPr>
            <a:r>
              <a:rPr lang="en-US" dirty="0"/>
              <a:t>If we sum just (x - mean), positives and negatives cancel.</a:t>
            </a:r>
            <a:br>
              <a:rPr lang="en-US" dirty="0"/>
            </a:br>
            <a:r>
              <a:rPr lang="en-US" dirty="0"/>
              <a:t>So we square them → make all values positive.</a:t>
            </a:r>
          </a:p>
        </p:txBody>
      </p:sp>
    </p:spTree>
    <p:extLst>
      <p:ext uri="{BB962C8B-B14F-4D97-AF65-F5344CB8AC3E}">
        <p14:creationId xmlns:p14="http://schemas.microsoft.com/office/powerpoint/2010/main" val="30629595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8C97E1A-3918-4A7F-5A1C-526391A25923}"/>
              </a:ext>
            </a:extLst>
          </p:cNvPr>
          <p:cNvSpPr txBox="1"/>
          <p:nvPr/>
        </p:nvSpPr>
        <p:spPr>
          <a:xfrm>
            <a:off x="4924927" y="4088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Standard Deviation (SD)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285C5E-12F0-4D43-215C-A834C4C714DB}"/>
                  </a:ext>
                </a:extLst>
              </p:cNvPr>
              <p:cNvSpPr txBox="1"/>
              <p:nvPr/>
            </p:nvSpPr>
            <p:spPr>
              <a:xfrm>
                <a:off x="2598821" y="1811503"/>
                <a:ext cx="6096000" cy="23767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Standard deviation = </a:t>
                </a:r>
                <a:r>
                  <a:rPr lang="en-IN" b="1" dirty="0"/>
                  <a:t>square root</a:t>
                </a:r>
                <a:r>
                  <a:rPr lang="en-IN" dirty="0"/>
                  <a:t> of variance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So SD gives deviation </a:t>
                </a:r>
                <a:r>
                  <a:rPr lang="en-IN" b="1" dirty="0"/>
                  <a:t>in original units</a:t>
                </a:r>
                <a:r>
                  <a:rPr lang="en-IN" dirty="0"/>
                  <a:t> (variance square units → not useful directly)</a:t>
                </a:r>
              </a:p>
              <a:p>
                <a:pPr>
                  <a:buNone/>
                </a:pPr>
                <a:r>
                  <a:rPr lang="en-IN" dirty="0"/>
                  <a:t>Example: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variance = 25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SD = √25 = 5</a:t>
                </a:r>
              </a:p>
              <a:p>
                <a:pPr>
                  <a:buNone/>
                </a:pPr>
                <a:r>
                  <a:rPr lang="en-IN" dirty="0"/>
                  <a:t>That's why SD is used more than variance.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285C5E-12F0-4D43-215C-A834C4C71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8821" y="1811503"/>
                <a:ext cx="6096000" cy="2376741"/>
              </a:xfrm>
              <a:prstGeom prst="rect">
                <a:avLst/>
              </a:prstGeom>
              <a:blipFill>
                <a:blip r:embed="rId2"/>
                <a:stretch>
                  <a:fillRect l="-800" t="-1282" r="-700" b="-30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E59D170-2548-0F0E-A542-59EB02B1DDCF}"/>
              </a:ext>
            </a:extLst>
          </p:cNvPr>
          <p:cNvSpPr txBox="1"/>
          <p:nvPr/>
        </p:nvSpPr>
        <p:spPr>
          <a:xfrm>
            <a:off x="1720645" y="462135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Imagine heights: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Everyone exactly 170 cm → variance = 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Some 150, some 190 → variance big</a:t>
            </a:r>
          </a:p>
          <a:p>
            <a:pPr>
              <a:buNone/>
            </a:pPr>
            <a:r>
              <a:rPr lang="en-US" dirty="0"/>
              <a:t>So it measures </a:t>
            </a:r>
            <a:r>
              <a:rPr lang="en-US" b="1" dirty="0"/>
              <a:t>spread (variation).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0232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4C3867B-14C4-3976-45D4-CFB06705C3C8}"/>
              </a:ext>
            </a:extLst>
          </p:cNvPr>
          <p:cNvSpPr txBox="1"/>
          <p:nvPr/>
        </p:nvSpPr>
        <p:spPr>
          <a:xfrm>
            <a:off x="3048000" y="1032353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Why these used in Data Science / AI?</a:t>
            </a:r>
          </a:p>
          <a:p>
            <a:pPr>
              <a:buNone/>
            </a:pPr>
            <a:r>
              <a:rPr lang="en-IN" dirty="0"/>
              <a:t>Used for:</a:t>
            </a:r>
            <a:br>
              <a:rPr lang="en-IN" dirty="0"/>
            </a:br>
            <a:r>
              <a:rPr lang="en-IN" dirty="0"/>
              <a:t>✔ feature scaling</a:t>
            </a:r>
            <a:br>
              <a:rPr lang="en-IN" dirty="0"/>
            </a:br>
            <a:r>
              <a:rPr lang="en-IN" dirty="0"/>
              <a:t>✔ evaluating spread</a:t>
            </a:r>
            <a:br>
              <a:rPr lang="en-IN" dirty="0"/>
            </a:br>
            <a:r>
              <a:rPr lang="en-IN" dirty="0"/>
              <a:t>✔ standard scores</a:t>
            </a:r>
            <a:br>
              <a:rPr lang="en-IN" dirty="0"/>
            </a:br>
            <a:r>
              <a:rPr lang="en-IN" dirty="0"/>
              <a:t>✔ normal distribution</a:t>
            </a:r>
            <a:br>
              <a:rPr lang="en-IN" dirty="0"/>
            </a:br>
            <a:r>
              <a:rPr lang="en-IN" dirty="0"/>
              <a:t>✔ anomaly detection</a:t>
            </a:r>
            <a:br>
              <a:rPr lang="en-IN" dirty="0"/>
            </a:br>
            <a:r>
              <a:rPr lang="en-IN" dirty="0"/>
              <a:t>✔ control limits</a:t>
            </a:r>
            <a:br>
              <a:rPr lang="en-IN" dirty="0"/>
            </a:br>
            <a:r>
              <a:rPr lang="en-IN" dirty="0"/>
              <a:t>✔ forecasting</a:t>
            </a:r>
            <a:br>
              <a:rPr lang="en-IN" dirty="0"/>
            </a:br>
            <a:r>
              <a:rPr lang="en-IN" dirty="0"/>
              <a:t>✔ machine learning models</a:t>
            </a:r>
          </a:p>
          <a:p>
            <a:pPr>
              <a:buNone/>
            </a:pPr>
            <a:r>
              <a:rPr lang="en-IN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StandardScaler</a:t>
            </a:r>
            <a:r>
              <a:rPr lang="en-IN" dirty="0"/>
              <a:t> uses mean &amp; SD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Z-score uses SD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Gaussian distribution uses SD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Outlier detection depends on SD</a:t>
            </a:r>
          </a:p>
          <a:p>
            <a:pPr>
              <a:buNone/>
            </a:pPr>
            <a:r>
              <a:rPr lang="en-IN" dirty="0"/>
              <a:t>Variance and SD basically describe </a:t>
            </a:r>
            <a:r>
              <a:rPr lang="en-IN" b="1" dirty="0"/>
              <a:t>uncertainty/spread/noise</a:t>
            </a:r>
            <a:r>
              <a:rPr lang="en-IN" dirty="0"/>
              <a:t> in data.</a:t>
            </a:r>
          </a:p>
        </p:txBody>
      </p:sp>
    </p:spTree>
    <p:extLst>
      <p:ext uri="{BB962C8B-B14F-4D97-AF65-F5344CB8AC3E}">
        <p14:creationId xmlns:p14="http://schemas.microsoft.com/office/powerpoint/2010/main" val="24920929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7B515E-C9B7-6D37-F647-369D259CCDD2}"/>
              </a:ext>
            </a:extLst>
          </p:cNvPr>
          <p:cNvSpPr txBox="1"/>
          <p:nvPr/>
        </p:nvSpPr>
        <p:spPr>
          <a:xfrm>
            <a:off x="3865166" y="346276"/>
            <a:ext cx="44584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POPULATION VS SAMPLE</a:t>
            </a:r>
          </a:p>
        </p:txBody>
      </p:sp>
      <p:sp>
        <p:nvSpPr>
          <p:cNvPr id="14" name="AutoShape 8" descr="Versus Vs Vector Transparent Background Graphic by ss graphic studio ...">
            <a:extLst>
              <a:ext uri="{FF2B5EF4-FFF2-40B4-BE49-F238E27FC236}">
                <a16:creationId xmlns:a16="http://schemas.microsoft.com/office/drawing/2014/main" id="{4354A92A-2E75-CEB0-AD16-E1BF85E646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2" y="3276599"/>
            <a:ext cx="2435071" cy="2435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6E66403-DD2B-7896-3EFB-D345A5B7726E}"/>
              </a:ext>
            </a:extLst>
          </p:cNvPr>
          <p:cNvGrpSpPr/>
          <p:nvPr/>
        </p:nvGrpSpPr>
        <p:grpSpPr>
          <a:xfrm>
            <a:off x="675968" y="1273558"/>
            <a:ext cx="10836889" cy="3259961"/>
            <a:chOff x="948814" y="1273558"/>
            <a:chExt cx="10836889" cy="325996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F2A2331-62E4-8C42-FFB2-C317107806A0}"/>
                </a:ext>
              </a:extLst>
            </p:cNvPr>
            <p:cNvSpPr/>
            <p:nvPr/>
          </p:nvSpPr>
          <p:spPr>
            <a:xfrm>
              <a:off x="7069394" y="1421220"/>
              <a:ext cx="4686812" cy="3111629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EA7D977-DD59-D483-0DBA-C0E18A5208D7}"/>
                </a:ext>
              </a:extLst>
            </p:cNvPr>
            <p:cNvSpPr/>
            <p:nvPr/>
          </p:nvSpPr>
          <p:spPr>
            <a:xfrm>
              <a:off x="948814" y="1421890"/>
              <a:ext cx="4686812" cy="3111629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3FC3B22-916B-BBFF-9EBD-B0B3DAAD5F98}"/>
                </a:ext>
              </a:extLst>
            </p:cNvPr>
            <p:cNvSpPr txBox="1"/>
            <p:nvPr/>
          </p:nvSpPr>
          <p:spPr>
            <a:xfrm>
              <a:off x="948814" y="1671197"/>
              <a:ext cx="4686812" cy="28623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b="1" dirty="0"/>
                <a:t>✔ Population</a:t>
              </a:r>
            </a:p>
            <a:p>
              <a:pPr>
                <a:buNone/>
              </a:pPr>
              <a:r>
                <a:rPr lang="en-US" dirty="0"/>
                <a:t>Population = </a:t>
              </a:r>
              <a:r>
                <a:rPr lang="en-US" b="1" dirty="0"/>
                <a:t>ALL</a:t>
              </a:r>
              <a:r>
                <a:rPr lang="en-US" dirty="0"/>
                <a:t> the data you want to study</a:t>
              </a:r>
            </a:p>
            <a:p>
              <a:pPr>
                <a:buNone/>
              </a:pPr>
              <a:r>
                <a:rPr lang="en-US" dirty="0"/>
                <a:t>Example: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dirty="0"/>
                <a:t>All students in India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dirty="0"/>
                <a:t>All employees in a company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dirty="0"/>
                <a:t>All items produced in a month</a:t>
              </a:r>
            </a:p>
            <a:p>
              <a:pPr>
                <a:buNone/>
              </a:pPr>
              <a:r>
                <a:rPr lang="en-US" dirty="0"/>
                <a:t>If we have </a:t>
              </a:r>
              <a:r>
                <a:rPr lang="en-US" b="1" dirty="0"/>
                <a:t>every value</a:t>
              </a:r>
              <a:r>
                <a:rPr lang="en-US" dirty="0"/>
                <a:t>, we can calculate </a:t>
              </a:r>
              <a:r>
                <a:rPr lang="en-US" b="1" dirty="0"/>
                <a:t>PERFECT variance</a:t>
              </a:r>
              <a:r>
                <a:rPr lang="en-US" dirty="0"/>
                <a:t> → Population variance</a:t>
              </a:r>
            </a:p>
            <a:p>
              <a:pPr>
                <a:buNone/>
              </a:pPr>
              <a:br>
                <a:rPr lang="en-US" dirty="0"/>
              </a:br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B5D135-7BBD-03A2-E74A-41427B540C7C}"/>
                </a:ext>
              </a:extLst>
            </p:cNvPr>
            <p:cNvSpPr txBox="1"/>
            <p:nvPr/>
          </p:nvSpPr>
          <p:spPr>
            <a:xfrm>
              <a:off x="7098891" y="1273558"/>
              <a:ext cx="4686812" cy="28623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endParaRPr lang="en-US" dirty="0"/>
            </a:p>
            <a:p>
              <a:pPr>
                <a:buNone/>
              </a:pPr>
              <a:r>
                <a:rPr lang="en-US" b="1" dirty="0"/>
                <a:t>✔ Sample</a:t>
              </a:r>
            </a:p>
            <a:p>
              <a:pPr>
                <a:buNone/>
              </a:pPr>
              <a:r>
                <a:rPr lang="en-US" dirty="0"/>
                <a:t>Sample = </a:t>
              </a:r>
              <a:r>
                <a:rPr lang="en-US" b="1" dirty="0"/>
                <a:t>only some part</a:t>
              </a:r>
              <a:r>
                <a:rPr lang="en-US" dirty="0"/>
                <a:t> of the data</a:t>
              </a:r>
            </a:p>
            <a:p>
              <a:pPr>
                <a:buNone/>
              </a:pPr>
              <a:r>
                <a:rPr lang="en-US" dirty="0"/>
                <a:t>Example: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dirty="0"/>
                <a:t>100 students from a school (not all Indian students)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dirty="0"/>
                <a:t>20 customers from Amazon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dirty="0"/>
                <a:t>30 patients from a hospital</a:t>
              </a:r>
            </a:p>
            <a:p>
              <a:pPr>
                <a:buNone/>
              </a:pPr>
              <a:r>
                <a:rPr lang="en-US" dirty="0"/>
                <a:t>We </a:t>
              </a:r>
              <a:r>
                <a:rPr lang="en-US" b="1" dirty="0"/>
                <a:t>don’t know the entire population</a:t>
              </a:r>
              <a:br>
                <a:rPr lang="en-US" dirty="0"/>
              </a:br>
              <a:r>
                <a:rPr lang="en-US" dirty="0"/>
                <a:t>so we </a:t>
              </a:r>
              <a:r>
                <a:rPr lang="en-US" b="1" dirty="0"/>
                <a:t>estimate</a:t>
              </a:r>
              <a:r>
                <a:rPr lang="en-US" dirty="0"/>
                <a:t> the variance</a:t>
              </a:r>
            </a:p>
          </p:txBody>
        </p:sp>
        <p:sp>
          <p:nvSpPr>
            <p:cNvPr id="16" name="AutoShape 12" descr="Image result for vs image">
              <a:extLst>
                <a:ext uri="{FF2B5EF4-FFF2-40B4-BE49-F238E27FC236}">
                  <a16:creationId xmlns:a16="http://schemas.microsoft.com/office/drawing/2014/main" id="{90979A73-27D5-B61A-4E4C-FF7954C1C30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89488" y="2571750"/>
              <a:ext cx="2609850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53E596C-E6D1-3B38-0C14-2E5CE245FD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73520" y="2233612"/>
              <a:ext cx="1381125" cy="13811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536045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BD8CA7A-9BE8-35FA-966B-3892C57A932F}"/>
              </a:ext>
            </a:extLst>
          </p:cNvPr>
          <p:cNvGrpSpPr/>
          <p:nvPr/>
        </p:nvGrpSpPr>
        <p:grpSpPr>
          <a:xfrm>
            <a:off x="786581" y="749470"/>
            <a:ext cx="6096000" cy="3951787"/>
            <a:chOff x="3048000" y="2563560"/>
            <a:chExt cx="6096000" cy="39517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DF51286-7675-256D-EB42-85E9DAEB1D23}"/>
                    </a:ext>
                  </a:extLst>
                </p:cNvPr>
                <p:cNvSpPr txBox="1"/>
                <p:nvPr/>
              </p:nvSpPr>
              <p:spPr>
                <a:xfrm>
                  <a:off x="3048000" y="2563560"/>
                  <a:ext cx="6096000" cy="39517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</a:pPr>
                  <a:r>
                    <a:rPr lang="en-IN" b="1" dirty="0"/>
                    <a:t>1️⃣ Discrete data variance formula</a:t>
                  </a:r>
                </a:p>
                <a:p>
                  <a:pPr>
                    <a:buNone/>
                  </a:pPr>
                  <a:r>
                    <a:rPr lang="en-IN" b="1" dirty="0"/>
                    <a:t>Population variance</a:t>
                  </a:r>
                </a:p>
                <a:p>
                  <a:pPr>
                    <a:buNone/>
                  </a:pPr>
                  <a:endParaRPr lang="en-IN" b="1" dirty="0"/>
                </a:p>
                <a:p>
                  <a:pPr>
                    <a:buNone/>
                  </a:pPr>
                  <a:endParaRPr lang="en-IN" b="1" dirty="0"/>
                </a:p>
                <a:p>
                  <a:pPr>
                    <a:buNone/>
                  </a:pPr>
                  <a:endParaRPr lang="en-IN" b="1" dirty="0"/>
                </a:p>
                <a:p>
                  <a:pPr>
                    <a:buNone/>
                  </a:pPr>
                  <a:endParaRPr lang="en-IN" b="1" dirty="0"/>
                </a:p>
                <a:p>
                  <a:pPr>
                    <a:buNone/>
                  </a:pPr>
                  <a:r>
                    <a:rPr lang="en-IN" b="1" dirty="0"/>
                    <a:t>Sample variance</a:t>
                  </a:r>
                </a:p>
                <a:p>
                  <a:pPr>
                    <a:buNone/>
                  </a:pPr>
                  <a:endParaRPr lang="en-IN" b="1" dirty="0"/>
                </a:p>
                <a:p>
                  <a:pPr>
                    <a:buNone/>
                  </a:pPr>
                  <a:endParaRPr lang="en-IN" b="1" dirty="0"/>
                </a:p>
                <a:p>
                  <a:pPr>
                    <a:buNone/>
                  </a:pPr>
                  <a:endParaRPr lang="en-IN" b="1" dirty="0"/>
                </a:p>
                <a:p>
                  <a:pPr>
                    <a:buNone/>
                  </a:pPr>
                  <a:endParaRPr lang="en-IN" b="1" dirty="0"/>
                </a:p>
                <a:p>
                  <a:pPr>
                    <a:buNone/>
                  </a:pPr>
                  <a:r>
                    <a:rPr lang="en-IN" b="1" dirty="0"/>
                    <a:t>Mean:</a:t>
                  </a:r>
                </a:p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limUpp>
                          <m:limUp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lim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ˉ</m:t>
                            </m:r>
                          </m:lim>
                        </m:limUpp>
                        <m:r>
                          <a:rPr lang="ar-AE" i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grow m:val="on"/>
                                <m:subHide m:val="on"/>
                                <m:supHide m:val="on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nary>
                          </m:num>
                          <m:den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ar-AE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DF51286-7675-256D-EB42-85E9DAEB1D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8000" y="2563560"/>
                  <a:ext cx="6096000" cy="3951787"/>
                </a:xfrm>
                <a:prstGeom prst="rect">
                  <a:avLst/>
                </a:prstGeom>
                <a:blipFill>
                  <a:blip r:embed="rId2"/>
                  <a:stretch>
                    <a:fillRect l="-800" t="-108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3E19E11-B3EE-003A-D2E0-74969F448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13174" y="3300470"/>
              <a:ext cx="2162477" cy="676369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216E4A1-2D45-FDD9-F165-7B589A802C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17989" y="4713749"/>
              <a:ext cx="1752845" cy="71447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08789E8-3A40-1A7C-B964-79A01CA3396E}"/>
                  </a:ext>
                </a:extLst>
              </p:cNvPr>
              <p:cNvSpPr txBox="1"/>
              <p:nvPr/>
            </p:nvSpPr>
            <p:spPr>
              <a:xfrm>
                <a:off x="6184255" y="749470"/>
                <a:ext cx="6096000" cy="2461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2️⃣ Continuous (Grouped) Variance formula</a:t>
                </a:r>
              </a:p>
              <a:p>
                <a:pPr>
                  <a:buNone/>
                </a:pPr>
                <a:r>
                  <a:rPr lang="en-IN" dirty="0"/>
                  <a:t>Use midpoints </a:t>
                </a:r>
                <a:r>
                  <a:rPr lang="en-IN" b="1" dirty="0"/>
                  <a:t>m</a:t>
                </a:r>
                <a:endParaRPr lang="en-IN" dirty="0"/>
              </a:p>
              <a:p>
                <a:pPr>
                  <a:buNone/>
                </a:pPr>
                <a:r>
                  <a:rPr lang="en-IN" b="1" dirty="0"/>
                  <a:t>Population grouped variance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nary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nary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grow m:val="on"/>
                                      <m:subHide m:val="on"/>
                                      <m:supHide m:val="on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nary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nary>
                                    <m:naryPr>
                                      <m:chr m:val="∑"/>
                                      <m:grow m:val="on"/>
                                      <m:subHide m:val="on"/>
                                      <m:supHide m:val="on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nary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Mean: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li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ˉ</m:t>
                          </m:r>
                        </m:lim>
                      </m:limUp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nary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08789E8-3A40-1A7C-B964-79A01CA33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4255" y="749470"/>
                <a:ext cx="6096000" cy="2461443"/>
              </a:xfrm>
              <a:prstGeom prst="rect">
                <a:avLst/>
              </a:prstGeom>
              <a:blipFill>
                <a:blip r:embed="rId5"/>
                <a:stretch>
                  <a:fillRect l="-800" t="-17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">
            <a:extLst>
              <a:ext uri="{FF2B5EF4-FFF2-40B4-BE49-F238E27FC236}">
                <a16:creationId xmlns:a16="http://schemas.microsoft.com/office/drawing/2014/main" id="{F3EFE518-A5B2-24A5-D3C4-DDF5B5F66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572" y="5324179"/>
            <a:ext cx="401584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Population variance = actual spread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Sample variance = estimated spread</a:t>
            </a:r>
          </a:p>
        </p:txBody>
      </p:sp>
    </p:spTree>
    <p:extLst>
      <p:ext uri="{BB962C8B-B14F-4D97-AF65-F5344CB8AC3E}">
        <p14:creationId xmlns:p14="http://schemas.microsoft.com/office/powerpoint/2010/main" val="174875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6622CC-703A-315E-73E3-15016B1D6A37}"/>
              </a:ext>
            </a:extLst>
          </p:cNvPr>
          <p:cNvSpPr txBox="1"/>
          <p:nvPr/>
        </p:nvSpPr>
        <p:spPr>
          <a:xfrm>
            <a:off x="4159045" y="120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/>
              <a:t>Standard Deviation (SD)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FDA8F4-663E-10E9-67E8-4FBAA1BB7DEB}"/>
              </a:ext>
            </a:extLst>
          </p:cNvPr>
          <p:cNvSpPr txBox="1"/>
          <p:nvPr/>
        </p:nvSpPr>
        <p:spPr>
          <a:xfrm>
            <a:off x="1504335" y="1068777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is SD?</a:t>
            </a:r>
          </a:p>
          <a:p>
            <a:pPr>
              <a:buNone/>
            </a:pPr>
            <a:r>
              <a:rPr lang="en-US" dirty="0"/>
              <a:t>Standard deviation measures </a:t>
            </a:r>
            <a:r>
              <a:rPr lang="en-US" b="1" dirty="0"/>
              <a:t>how spread out the values are from the mean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👉 Low SD → values are close to mean</a:t>
            </a:r>
            <a:br>
              <a:rPr lang="en-US" dirty="0"/>
            </a:br>
            <a:r>
              <a:rPr lang="en-US" dirty="0"/>
              <a:t>👉 High SD → values are widely spread from mean</a:t>
            </a:r>
          </a:p>
          <a:p>
            <a:pPr>
              <a:buNone/>
            </a:pPr>
            <a:r>
              <a:rPr lang="en-US" dirty="0"/>
              <a:t>It tells you the </a:t>
            </a:r>
            <a:r>
              <a:rPr lang="en-US" b="1" dirty="0"/>
              <a:t>dispersion</a:t>
            </a:r>
            <a:r>
              <a:rPr lang="en-US" dirty="0"/>
              <a:t>, but in the </a:t>
            </a:r>
            <a:r>
              <a:rPr lang="en-US" b="1" dirty="0"/>
              <a:t>same units</a:t>
            </a:r>
            <a:r>
              <a:rPr lang="en-US" dirty="0"/>
              <a:t> as the original data (variance is in squared units).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24D3BB-DB06-6D73-6707-B1941AA57D9A}"/>
                  </a:ext>
                </a:extLst>
              </p:cNvPr>
              <p:cNvSpPr txBox="1"/>
              <p:nvPr/>
            </p:nvSpPr>
            <p:spPr>
              <a:xfrm>
                <a:off x="1504335" y="3131658"/>
                <a:ext cx="6096000" cy="34847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Why SD instead of Variance?</a:t>
                </a:r>
              </a:p>
              <a:p>
                <a:pPr>
                  <a:buNone/>
                </a:pPr>
                <a:r>
                  <a:rPr lang="en-IN" dirty="0"/>
                  <a:t>Variance is: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but units are squared (rupees², cm², marks² — doesn’t make sense!).</a:t>
                </a:r>
              </a:p>
              <a:p>
                <a:pPr>
                  <a:buNone/>
                </a:pPr>
                <a:r>
                  <a:rPr lang="en-IN" dirty="0"/>
                  <a:t>SD solves this: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So SD is easy to interpret.</a:t>
                </a:r>
              </a:p>
              <a:p>
                <a:pPr>
                  <a:buNone/>
                </a:pPr>
                <a:r>
                  <a:rPr lang="en-IN" dirty="0"/>
                  <a:t>Example: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variance = 25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SD = √25 = 5</a:t>
                </a:r>
              </a:p>
              <a:p>
                <a:pPr>
                  <a:buNone/>
                </a:pPr>
                <a:r>
                  <a:rPr lang="en-IN" dirty="0"/>
                  <a:t>So average deviation is “5 units”, NOT “25 units²”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24D3BB-DB06-6D73-6707-B1941AA57D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335" y="3131658"/>
                <a:ext cx="6096000" cy="3484737"/>
              </a:xfrm>
              <a:prstGeom prst="rect">
                <a:avLst/>
              </a:prstGeom>
              <a:blipFill>
                <a:blip r:embed="rId2"/>
                <a:stretch>
                  <a:fillRect l="-900" t="-1051" b="-19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7FA2C3C6-D0A2-7BAA-A373-B46442EF0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4123" y="2289639"/>
            <a:ext cx="2124371" cy="685896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A3D3B00-FA1F-BABF-B032-371670A5DA20}"/>
              </a:ext>
            </a:extLst>
          </p:cNvPr>
          <p:cNvGrpSpPr/>
          <p:nvPr/>
        </p:nvGrpSpPr>
        <p:grpSpPr>
          <a:xfrm>
            <a:off x="7934632" y="1941558"/>
            <a:ext cx="6096000" cy="2106066"/>
            <a:chOff x="7934632" y="1941558"/>
            <a:chExt cx="6096000" cy="210606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8D1A9DA-9FF5-7B9E-6C6B-57A2FB3F8E54}"/>
                </a:ext>
              </a:extLst>
            </p:cNvPr>
            <p:cNvSpPr txBox="1"/>
            <p:nvPr/>
          </p:nvSpPr>
          <p:spPr>
            <a:xfrm>
              <a:off x="7934632" y="1941558"/>
              <a:ext cx="6096000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IN" b="1" dirty="0"/>
                <a:t>⭐ SD Formula (Population)</a:t>
              </a:r>
            </a:p>
            <a:p>
              <a:pPr>
                <a:buNone/>
              </a:pPr>
              <a:br>
                <a:rPr lang="en-IN" dirty="0"/>
              </a:br>
              <a:endParaRPr lang="en-IN" dirty="0"/>
            </a:p>
            <a:p>
              <a:pPr>
                <a:buNone/>
              </a:pPr>
              <a:endParaRPr lang="en-IN" dirty="0"/>
            </a:p>
            <a:p>
              <a:pPr>
                <a:buNone/>
              </a:pPr>
              <a:r>
                <a:rPr lang="en-IN" b="1" dirty="0"/>
                <a:t>⭐ SD Formula (Sample)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8F2F0FE-A62D-5E55-78DE-4CE196350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52727" y="3418886"/>
              <a:ext cx="1867161" cy="6287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127648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1E70E1-8A44-9D94-F30D-C61CC55947E3}"/>
              </a:ext>
            </a:extLst>
          </p:cNvPr>
          <p:cNvSpPr txBox="1"/>
          <p:nvPr/>
        </p:nvSpPr>
        <p:spPr>
          <a:xfrm>
            <a:off x="5683045" y="2676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Discrete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C48008-B4F5-E6A8-A0A7-259FE71190FB}"/>
                  </a:ext>
                </a:extLst>
              </p:cNvPr>
              <p:cNvSpPr txBox="1"/>
              <p:nvPr/>
            </p:nvSpPr>
            <p:spPr>
              <a:xfrm>
                <a:off x="599768" y="1086873"/>
                <a:ext cx="6096000" cy="21135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Example 1 — Discrete (odd N = 9)</a:t>
                </a:r>
              </a:p>
              <a:p>
                <a:pPr>
                  <a:buNone/>
                </a:pPr>
                <a:r>
                  <a:rPr lang="en-IN" dirty="0"/>
                  <a:t>Data: </a:t>
                </a:r>
                <a:r>
                  <a:rPr lang="en-IN" dirty="0">
                    <a:latin typeface="Courier New" panose="02070309020205020404" pitchFamily="49" charset="0"/>
                  </a:rPr>
                  <a:t>5, 8, 2, 4, 8, 6, 8, 5, 4</a:t>
                </a:r>
                <a:endParaRPr lang="en-IN" dirty="0"/>
              </a:p>
              <a:p>
                <a:pPr>
                  <a:buNone/>
                </a:pPr>
                <a:r>
                  <a:rPr lang="en-IN" b="1" dirty="0"/>
                  <a:t>Step 1 — basic counts &amp; mean</a:t>
                </a:r>
                <a:br>
                  <a:rPr lang="en-IN" dirty="0"/>
                </a:br>
                <a:r>
                  <a:rPr lang="en-IN" dirty="0"/>
                  <a:t>N = 9</a:t>
                </a:r>
                <a:br>
                  <a:rPr lang="en-IN" dirty="0"/>
                </a:br>
                <a:r>
                  <a:rPr lang="el-GR" dirty="0"/>
                  <a:t>Σ</a:t>
                </a:r>
                <a:r>
                  <a:rPr lang="en-IN" dirty="0"/>
                  <a:t>x = 5+8+2+4+8+6+8+5+4 = </a:t>
                </a:r>
                <a:r>
                  <a:rPr lang="en-IN" b="1" dirty="0"/>
                  <a:t>50</a:t>
                </a:r>
                <a:br>
                  <a:rPr lang="en-IN" dirty="0"/>
                </a:br>
                <a:r>
                  <a:rPr lang="en-IN" dirty="0"/>
                  <a:t>Mean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ar-AE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ar-A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lim>
                        <m:r>
                          <a:rPr lang="ar-AE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ˉ</m:t>
                        </m:r>
                      </m:lim>
                    </m:limUp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50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9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5555555556</m:t>
                    </m:r>
                  </m:oMath>
                </a14:m>
                <a:endParaRPr lang="ar-AE" dirty="0"/>
              </a:p>
              <a:p>
                <a:pPr>
                  <a:buNone/>
                </a:pPr>
                <a:r>
                  <a:rPr lang="en-IN" b="1" dirty="0"/>
                  <a:t>Step 2 — deviations table</a:t>
                </a:r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C48008-B4F5-E6A8-A0A7-259FE7119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768" y="1086873"/>
                <a:ext cx="6096000" cy="2113527"/>
              </a:xfrm>
              <a:prstGeom prst="rect">
                <a:avLst/>
              </a:prstGeom>
              <a:blipFill>
                <a:blip r:embed="rId2"/>
                <a:stretch>
                  <a:fillRect l="-800" t="-1441" b="-34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31B514D-FAF0-6410-58B7-E61359198C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647921"/>
              </p:ext>
            </p:extLst>
          </p:nvPr>
        </p:nvGraphicFramePr>
        <p:xfrm>
          <a:off x="1096297" y="3156155"/>
          <a:ext cx="8229600" cy="3657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301972894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19309357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487323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x − 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(x − mean)²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7304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−0.5555556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0.30864198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3405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2.4444444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5.97530864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6810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−3.5555556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12.64197531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9645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−1.5555556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2.41975309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8093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2.4444444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5.97530864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4925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0.4444444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0.19753086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5546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2.4444444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5.97530864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5232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−0.5555556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0.30864198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920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−1.5555556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2.41975309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363139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917E89E-C793-6542-6D49-A4215AB48718}"/>
              </a:ext>
            </a:extLst>
          </p:cNvPr>
          <p:cNvSpPr txBox="1"/>
          <p:nvPr/>
        </p:nvSpPr>
        <p:spPr>
          <a:xfrm>
            <a:off x="9325897" y="4800289"/>
            <a:ext cx="286292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l-GR" dirty="0"/>
              <a:t>Σ (</a:t>
            </a:r>
            <a:r>
              <a:rPr lang="en-IN" dirty="0"/>
              <a:t>x − mean)² = </a:t>
            </a:r>
            <a:r>
              <a:rPr lang="en-IN" b="1" dirty="0"/>
              <a:t>36.22222222</a:t>
            </a:r>
            <a:endParaRPr lang="en-IN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F58636-5BF8-BB0E-69DA-9C60523E40C4}"/>
              </a:ext>
            </a:extLst>
          </p:cNvPr>
          <p:cNvGrpSpPr/>
          <p:nvPr/>
        </p:nvGrpSpPr>
        <p:grpSpPr>
          <a:xfrm>
            <a:off x="8140672" y="0"/>
            <a:ext cx="4028488" cy="2566793"/>
            <a:chOff x="4127651" y="82179"/>
            <a:chExt cx="6096000" cy="34882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2024A28-BBF8-58F7-16F4-47674D530150}"/>
                    </a:ext>
                  </a:extLst>
                </p:cNvPr>
                <p:cNvSpPr txBox="1"/>
                <p:nvPr/>
              </p:nvSpPr>
              <p:spPr>
                <a:xfrm>
                  <a:off x="4127651" y="82179"/>
                  <a:ext cx="6096000" cy="3488299"/>
                </a:xfrm>
                <a:prstGeom prst="rect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>
                    <a:buNone/>
                  </a:pPr>
                  <a:r>
                    <a:rPr lang="en-IN" b="1" dirty="0"/>
                    <a:t>Discrete data variance formula</a:t>
                  </a:r>
                </a:p>
                <a:p>
                  <a:pPr>
                    <a:buNone/>
                  </a:pPr>
                  <a:r>
                    <a:rPr lang="en-IN" b="1" dirty="0"/>
                    <a:t>Population variance</a:t>
                  </a:r>
                </a:p>
                <a:p>
                  <a:pPr>
                    <a:buNone/>
                  </a:pPr>
                  <a:endParaRPr lang="en-IN" b="1" dirty="0"/>
                </a:p>
                <a:p>
                  <a:pPr>
                    <a:buNone/>
                  </a:pPr>
                  <a:endParaRPr lang="en-IN" b="1" dirty="0"/>
                </a:p>
                <a:p>
                  <a:pPr>
                    <a:buNone/>
                  </a:pPr>
                  <a:r>
                    <a:rPr lang="en-IN" b="1" dirty="0"/>
                    <a:t>Sample variance</a:t>
                  </a:r>
                </a:p>
                <a:p>
                  <a:pPr>
                    <a:buNone/>
                  </a:pPr>
                  <a:endParaRPr lang="en-IN" b="1" dirty="0"/>
                </a:p>
                <a:p>
                  <a:pPr>
                    <a:buNone/>
                  </a:pPr>
                  <a:r>
                    <a:rPr lang="en-IN" b="1" dirty="0"/>
                    <a:t>Mean:</a:t>
                  </a:r>
                </a:p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limUpp>
                          <m:limUp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lim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ˉ</m:t>
                            </m:r>
                          </m:lim>
                        </m:limUpp>
                        <m:r>
                          <a:rPr lang="ar-AE" i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grow m:val="on"/>
                                <m:subHide m:val="on"/>
                                <m:supHide m:val="on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nary>
                          </m:num>
                          <m:den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ar-AE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2024A28-BBF8-58F7-16F4-47674D5301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7651" y="82179"/>
                  <a:ext cx="6096000" cy="3488299"/>
                </a:xfrm>
                <a:prstGeom prst="rect">
                  <a:avLst/>
                </a:prstGeom>
                <a:blipFill>
                  <a:blip r:embed="rId3"/>
                  <a:stretch>
                    <a:fillRect l="-902" t="-70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3CBB6B5-3FD1-715A-9BA0-BCF6ECDB8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22069" y="616569"/>
              <a:ext cx="2162477" cy="676369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5C0AEA9-8CB7-B043-E7CE-B3878DAB1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31701" y="1450749"/>
              <a:ext cx="1752845" cy="7144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182689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5C436-1684-2C23-891F-C5053F6D8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A3E8959-149F-7F98-FB6D-3C102E69A3F8}"/>
                  </a:ext>
                </a:extLst>
              </p:cNvPr>
              <p:cNvSpPr txBox="1"/>
              <p:nvPr/>
            </p:nvSpPr>
            <p:spPr>
              <a:xfrm>
                <a:off x="1337187" y="767246"/>
                <a:ext cx="6096000" cy="4323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Step 3 — variances &amp; SD</a:t>
                </a: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Population variance:</a:t>
                </a:r>
                <a:br>
                  <a:rPr lang="en-IN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𝑆𝑆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36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22222222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9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024691358</m:t>
                    </m:r>
                  </m:oMath>
                </a14:m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Population SD:</a:t>
                </a:r>
                <a:br>
                  <a:rPr lang="en-IN" dirty="0"/>
                </a:b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024691358</m:t>
                        </m:r>
                      </m:e>
                    </m:ra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006163343</m:t>
                    </m:r>
                  </m:oMath>
                </a14:m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Sample variance:</a:t>
                </a:r>
                <a:br>
                  <a:rPr lang="en-IN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𝑆𝑆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/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36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22222222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8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527777778</m:t>
                    </m:r>
                  </m:oMath>
                </a14:m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Sample SD:</a:t>
                </a:r>
                <a:br>
                  <a:rPr lang="en-IN" dirty="0"/>
                </a:b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527777778</m:t>
                        </m:r>
                      </m:e>
                    </m:ra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127857556</m:t>
                    </m:r>
                  </m:oMath>
                </a14:m>
                <a:endParaRPr lang="ar-AE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A3E8959-149F-7F98-FB6D-3C102E69A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7187" y="767246"/>
                <a:ext cx="6096000" cy="4323748"/>
              </a:xfrm>
              <a:prstGeom prst="rect">
                <a:avLst/>
              </a:prstGeom>
              <a:blipFill>
                <a:blip r:embed="rId2"/>
                <a:stretch>
                  <a:fillRect l="-800" t="-8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7FD66CA8-A3CF-7539-5B17-2EE22DD1EA14}"/>
              </a:ext>
            </a:extLst>
          </p:cNvPr>
          <p:cNvGrpSpPr/>
          <p:nvPr/>
        </p:nvGrpSpPr>
        <p:grpSpPr>
          <a:xfrm>
            <a:off x="10015896" y="487422"/>
            <a:ext cx="2172929" cy="923330"/>
            <a:chOff x="8898194" y="582580"/>
            <a:chExt cx="2172929" cy="92333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3D3301F-7B34-1437-AEEA-D70DD72B6BFA}"/>
                </a:ext>
              </a:extLst>
            </p:cNvPr>
            <p:cNvSpPr txBox="1"/>
            <p:nvPr/>
          </p:nvSpPr>
          <p:spPr>
            <a:xfrm>
              <a:off x="8898194" y="582580"/>
              <a:ext cx="2172929" cy="923330"/>
            </a:xfrm>
            <a:prstGeom prst="rect">
              <a:avLst/>
            </a:prstGeom>
            <a:grp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IN" b="1" dirty="0"/>
                <a:t>sum of squares (SS)</a:t>
              </a:r>
            </a:p>
            <a:p>
              <a:pPr>
                <a:buNone/>
              </a:pPr>
              <a:endParaRPr lang="en-IN" b="1" dirty="0"/>
            </a:p>
            <a:p>
              <a:pPr>
                <a:buNone/>
              </a:pPr>
              <a:endParaRPr lang="en-IN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0312766-8F94-19A0-5292-5F4329D222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1578" y="949087"/>
              <a:ext cx="1686160" cy="476316"/>
            </a:xfrm>
            <a:prstGeom prst="rect">
              <a:avLst/>
            </a:prstGeom>
            <a:grp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</p:grpSp>
    </p:spTree>
    <p:extLst>
      <p:ext uri="{BB962C8B-B14F-4D97-AF65-F5344CB8AC3E}">
        <p14:creationId xmlns:p14="http://schemas.microsoft.com/office/powerpoint/2010/main" val="26544373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1EA78-B8C9-2A0D-DC9D-72CD641BF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EE8494E-8A4F-610D-D288-015E9F8B5C95}"/>
                  </a:ext>
                </a:extLst>
              </p:cNvPr>
              <p:cNvSpPr txBox="1"/>
              <p:nvPr/>
            </p:nvSpPr>
            <p:spPr>
              <a:xfrm>
                <a:off x="727587" y="536063"/>
                <a:ext cx="6096000" cy="21135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Example 2 — Discrete (even N = 8)</a:t>
                </a:r>
              </a:p>
              <a:p>
                <a:pPr>
                  <a:buNone/>
                </a:pPr>
                <a:r>
                  <a:rPr lang="en-IN" dirty="0"/>
                  <a:t>Data: </a:t>
                </a:r>
                <a:r>
                  <a:rPr lang="en-IN" dirty="0">
                    <a:latin typeface="Courier New" panose="02070309020205020404" pitchFamily="49" charset="0"/>
                  </a:rPr>
                  <a:t>12, 15, 11, 14, 10, 13, 16, 18</a:t>
                </a:r>
                <a:endParaRPr lang="en-IN" dirty="0"/>
              </a:p>
              <a:p>
                <a:pPr>
                  <a:buNone/>
                </a:pPr>
                <a:r>
                  <a:rPr lang="en-IN" b="1" dirty="0"/>
                  <a:t>Step 1 — basic counts &amp; mean</a:t>
                </a:r>
                <a:br>
                  <a:rPr lang="en-IN" dirty="0"/>
                </a:br>
                <a:r>
                  <a:rPr lang="en-IN" dirty="0"/>
                  <a:t>N = 8</a:t>
                </a:r>
                <a:br>
                  <a:rPr lang="en-IN" dirty="0"/>
                </a:br>
                <a:r>
                  <a:rPr lang="el-GR" dirty="0"/>
                  <a:t>Σ</a:t>
                </a:r>
                <a:r>
                  <a:rPr lang="en-IN" dirty="0"/>
                  <a:t>x = 109</a:t>
                </a:r>
                <a:br>
                  <a:rPr lang="en-IN" dirty="0"/>
                </a:br>
                <a:r>
                  <a:rPr lang="en-IN" dirty="0"/>
                  <a:t>Mean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lim>
                        <m:r>
                          <a:rPr lang="ar-AE" i="0">
                            <a:latin typeface="Cambria Math" panose="02040503050406030204" pitchFamily="18" charset="0"/>
                          </a:rPr>
                          <m:t>ˉ</m:t>
                        </m:r>
                      </m:lim>
                    </m:limUp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109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8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13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625</m:t>
                    </m:r>
                  </m:oMath>
                </a14:m>
                <a:endParaRPr lang="ar-AE" dirty="0"/>
              </a:p>
              <a:p>
                <a:pPr>
                  <a:buNone/>
                </a:pPr>
                <a:r>
                  <a:rPr lang="en-IN" b="1" dirty="0"/>
                  <a:t>Step 2 — deviations table</a:t>
                </a:r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EE8494E-8A4F-610D-D288-015E9F8B5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587" y="536063"/>
                <a:ext cx="6096000" cy="2113527"/>
              </a:xfrm>
              <a:prstGeom prst="rect">
                <a:avLst/>
              </a:prstGeom>
              <a:blipFill>
                <a:blip r:embed="rId2"/>
                <a:stretch>
                  <a:fillRect l="-800" t="-1729" b="-34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D66958-5D02-122B-FA78-55BE39CC4B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967312"/>
              </p:ext>
            </p:extLst>
          </p:nvPr>
        </p:nvGraphicFramePr>
        <p:xfrm>
          <a:off x="475277" y="2738371"/>
          <a:ext cx="8229600" cy="3291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6134657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853914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9171324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x − 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(x − mean)²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4627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−1.625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2.640625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406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1.375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1.890625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4439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−2.625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6.890625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4538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0.375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0.140625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4462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−3.625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13.140625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438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−0.625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0.390625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837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2.375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5.640625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813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4.375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19.140625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52942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9C1655C-1FDE-87FF-008D-D0B345AC1248}"/>
              </a:ext>
            </a:extLst>
          </p:cNvPr>
          <p:cNvSpPr txBox="1"/>
          <p:nvPr/>
        </p:nvSpPr>
        <p:spPr>
          <a:xfrm>
            <a:off x="6312310" y="6206302"/>
            <a:ext cx="239256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l-GR" dirty="0"/>
              <a:t>Σ (</a:t>
            </a:r>
            <a:r>
              <a:rPr lang="en-IN" dirty="0"/>
              <a:t>x − mean)² = </a:t>
            </a:r>
            <a:r>
              <a:rPr lang="en-IN" b="1" dirty="0"/>
              <a:t>49.875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31096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F2F61-3E5A-074F-43B6-A1F43B559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C7E242D-E7F5-DA10-6BAA-9EE6948F4A68}"/>
                  </a:ext>
                </a:extLst>
              </p:cNvPr>
              <p:cNvSpPr txBox="1"/>
              <p:nvPr/>
            </p:nvSpPr>
            <p:spPr>
              <a:xfrm>
                <a:off x="412955" y="547085"/>
                <a:ext cx="6096000" cy="4323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Step 3 — variances &amp; SD</a:t>
                </a: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Population variance:</a:t>
                </a:r>
                <a:br>
                  <a:rPr lang="en-IN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49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875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8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6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234375</m:t>
                    </m:r>
                  </m:oMath>
                </a14:m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Population SD:</a:t>
                </a:r>
                <a:br>
                  <a:rPr lang="en-IN" dirty="0"/>
                </a:b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234375</m:t>
                        </m:r>
                      </m:e>
                    </m:ra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496873044</m:t>
                    </m:r>
                  </m:oMath>
                </a14:m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Sample variance:</a:t>
                </a:r>
                <a:br>
                  <a:rPr lang="en-IN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49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875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7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7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Sample SD:</a:t>
                </a:r>
                <a:br>
                  <a:rPr lang="en-IN" dirty="0"/>
                </a:b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125</m:t>
                        </m:r>
                      </m:e>
                    </m:ra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669269563</m:t>
                    </m:r>
                  </m:oMath>
                </a14:m>
                <a:endParaRPr lang="ar-AE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C7E242D-E7F5-DA10-6BAA-9EE6948F4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55" y="547085"/>
                <a:ext cx="6096000" cy="4323748"/>
              </a:xfrm>
              <a:prstGeom prst="rect">
                <a:avLst/>
              </a:prstGeom>
              <a:blipFill>
                <a:blip r:embed="rId2"/>
                <a:stretch>
                  <a:fillRect l="-900" t="-8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18448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74F0FF-5A37-E8C3-67DD-515DB601AADB}"/>
              </a:ext>
            </a:extLst>
          </p:cNvPr>
          <p:cNvSpPr txBox="1"/>
          <p:nvPr/>
        </p:nvSpPr>
        <p:spPr>
          <a:xfrm>
            <a:off x="422787" y="10935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3 — Grouped (continuous) — (h = 10)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4668A6-9F52-B2A4-6D82-AB9013DAF66F}"/>
              </a:ext>
            </a:extLst>
          </p:cNvPr>
          <p:cNvSpPr txBox="1"/>
          <p:nvPr/>
        </p:nvSpPr>
        <p:spPr>
          <a:xfrm>
            <a:off x="4906297" y="287282"/>
            <a:ext cx="23597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Grouped (continuous) </a:t>
            </a:r>
            <a:endParaRPr lang="en-IN" b="1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132DE9B-AE39-75A0-79BC-1B619510A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639538"/>
              </p:ext>
            </p:extLst>
          </p:nvPr>
        </p:nvGraphicFramePr>
        <p:xfrm>
          <a:off x="511277" y="1668621"/>
          <a:ext cx="5068530" cy="21945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534265">
                  <a:extLst>
                    <a:ext uri="{9D8B030D-6E8A-4147-A177-3AD203B41FA5}">
                      <a16:colId xmlns:a16="http://schemas.microsoft.com/office/drawing/2014/main" val="713794377"/>
                    </a:ext>
                  </a:extLst>
                </a:gridCol>
                <a:gridCol w="2534265">
                  <a:extLst>
                    <a:ext uri="{9D8B030D-6E8A-4147-A177-3AD203B41FA5}">
                      <a16:colId xmlns:a16="http://schemas.microsoft.com/office/drawing/2014/main" val="39464441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9927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0–10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8506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10–20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0981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20–30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6576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30–40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351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40–50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58065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D195E86-4472-982A-082E-8BD22BD666C2}"/>
                  </a:ext>
                </a:extLst>
              </p:cNvPr>
              <p:cNvSpPr txBox="1"/>
              <p:nvPr/>
            </p:nvSpPr>
            <p:spPr>
              <a:xfrm>
                <a:off x="7433187" y="845574"/>
                <a:ext cx="4532671" cy="246144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Continuous (Grouped) Variance formula</a:t>
                </a:r>
              </a:p>
              <a:p>
                <a:pPr>
                  <a:buNone/>
                </a:pPr>
                <a:r>
                  <a:rPr lang="en-IN" dirty="0"/>
                  <a:t>Use midpoints </a:t>
                </a:r>
                <a:r>
                  <a:rPr lang="en-IN" b="1" dirty="0"/>
                  <a:t>m</a:t>
                </a:r>
                <a:endParaRPr lang="en-IN" dirty="0"/>
              </a:p>
              <a:p>
                <a:pPr>
                  <a:buNone/>
                </a:pPr>
                <a:r>
                  <a:rPr lang="en-IN" b="1" dirty="0"/>
                  <a:t>Population grouped variance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nary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nary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grow m:val="on"/>
                                      <m:subHide m:val="on"/>
                                      <m:supHide m:val="on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nary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nary>
                                    <m:naryPr>
                                      <m:chr m:val="∑"/>
                                      <m:grow m:val="on"/>
                                      <m:subHide m:val="on"/>
                                      <m:supHide m:val="on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nary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Mean: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ar-AE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lim>
                          <m:r>
                            <a:rPr lang="ar-AE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ˉ</m:t>
                          </m:r>
                        </m:lim>
                      </m:limUp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nary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D195E86-4472-982A-082E-8BD22BD66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3187" y="845574"/>
                <a:ext cx="4532671" cy="2461443"/>
              </a:xfrm>
              <a:prstGeom prst="rect">
                <a:avLst/>
              </a:prstGeom>
              <a:blipFill>
                <a:blip r:embed="rId2"/>
                <a:stretch>
                  <a:fillRect l="-802" t="-9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46F5952-18A5-5EA0-3030-064CA9F4B305}"/>
              </a:ext>
            </a:extLst>
          </p:cNvPr>
          <p:cNvSpPr txBox="1"/>
          <p:nvPr/>
        </p:nvSpPr>
        <p:spPr>
          <a:xfrm>
            <a:off x="511277" y="433732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1 — midpoints m</a:t>
            </a:r>
            <a:endParaRPr lang="en-US" dirty="0"/>
          </a:p>
          <a:p>
            <a:pPr>
              <a:buNone/>
            </a:pPr>
            <a:r>
              <a:rPr lang="en-US" dirty="0"/>
              <a:t>m = 5, 15, 25, 35, 45</a:t>
            </a:r>
          </a:p>
        </p:txBody>
      </p:sp>
    </p:spTree>
    <p:extLst>
      <p:ext uri="{BB962C8B-B14F-4D97-AF65-F5344CB8AC3E}">
        <p14:creationId xmlns:p14="http://schemas.microsoft.com/office/powerpoint/2010/main" val="15838268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BB900C-7569-59B9-96CE-EC7BC2059FDF}"/>
              </a:ext>
            </a:extLst>
          </p:cNvPr>
          <p:cNvSpPr txBox="1"/>
          <p:nvPr/>
        </p:nvSpPr>
        <p:spPr>
          <a:xfrm>
            <a:off x="393290" y="4249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2 — compute </a:t>
            </a:r>
            <a:r>
              <a:rPr lang="en-US" dirty="0" err="1"/>
              <a:t>f×m</a:t>
            </a:r>
            <a:r>
              <a:rPr lang="en-US" dirty="0"/>
              <a:t> and f×m²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338761-1C87-97A2-D756-64B5BCD30E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869907"/>
              </p:ext>
            </p:extLst>
          </p:nvPr>
        </p:nvGraphicFramePr>
        <p:xfrm>
          <a:off x="457200" y="1094417"/>
          <a:ext cx="8775288" cy="21945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462548">
                  <a:extLst>
                    <a:ext uri="{9D8B030D-6E8A-4147-A177-3AD203B41FA5}">
                      <a16:colId xmlns:a16="http://schemas.microsoft.com/office/drawing/2014/main" val="636048989"/>
                    </a:ext>
                  </a:extLst>
                </a:gridCol>
                <a:gridCol w="1462548">
                  <a:extLst>
                    <a:ext uri="{9D8B030D-6E8A-4147-A177-3AD203B41FA5}">
                      <a16:colId xmlns:a16="http://schemas.microsoft.com/office/drawing/2014/main" val="1878729470"/>
                    </a:ext>
                  </a:extLst>
                </a:gridCol>
                <a:gridCol w="1462548">
                  <a:extLst>
                    <a:ext uri="{9D8B030D-6E8A-4147-A177-3AD203B41FA5}">
                      <a16:colId xmlns:a16="http://schemas.microsoft.com/office/drawing/2014/main" val="2606013894"/>
                    </a:ext>
                  </a:extLst>
                </a:gridCol>
                <a:gridCol w="1462548">
                  <a:extLst>
                    <a:ext uri="{9D8B030D-6E8A-4147-A177-3AD203B41FA5}">
                      <a16:colId xmlns:a16="http://schemas.microsoft.com/office/drawing/2014/main" val="3133401306"/>
                    </a:ext>
                  </a:extLst>
                </a:gridCol>
                <a:gridCol w="1462548">
                  <a:extLst>
                    <a:ext uri="{9D8B030D-6E8A-4147-A177-3AD203B41FA5}">
                      <a16:colId xmlns:a16="http://schemas.microsoft.com/office/drawing/2014/main" val="2193887118"/>
                    </a:ext>
                  </a:extLst>
                </a:gridCol>
                <a:gridCol w="1462548">
                  <a:extLst>
                    <a:ext uri="{9D8B030D-6E8A-4147-A177-3AD203B41FA5}">
                      <a16:colId xmlns:a16="http://schemas.microsoft.com/office/drawing/2014/main" val="16943073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f×m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m²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f×m²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6336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0–10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4269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10–20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1,350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0957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20–30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6,250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9860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30–40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1,225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6,125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395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40–50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2,025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10,125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110430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5F54BE0-D6BE-4E0F-7730-616294D15989}"/>
              </a:ext>
            </a:extLst>
          </p:cNvPr>
          <p:cNvSpPr txBox="1"/>
          <p:nvPr/>
        </p:nvSpPr>
        <p:spPr>
          <a:xfrm>
            <a:off x="2089355" y="3404462"/>
            <a:ext cx="124378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/>
              <a:t>Σf = N = 30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7994F7-2849-FE49-5C1E-7477AC4A8FDC}"/>
              </a:ext>
            </a:extLst>
          </p:cNvPr>
          <p:cNvSpPr txBox="1"/>
          <p:nvPr/>
        </p:nvSpPr>
        <p:spPr>
          <a:xfrm>
            <a:off x="5122607" y="3404462"/>
            <a:ext cx="124378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/>
              <a:t>Σfm = 760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D221CA-172D-7C7D-2FC2-1D3FCA065C29}"/>
              </a:ext>
            </a:extLst>
          </p:cNvPr>
          <p:cNvSpPr txBox="1"/>
          <p:nvPr/>
        </p:nvSpPr>
        <p:spPr>
          <a:xfrm>
            <a:off x="7762569" y="3404462"/>
            <a:ext cx="157807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/>
              <a:t>Σfm² = 23,950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DA43258-C85D-4304-C8AE-A6012F3F6F0F}"/>
                  </a:ext>
                </a:extLst>
              </p:cNvPr>
              <p:cNvSpPr txBox="1"/>
              <p:nvPr/>
            </p:nvSpPr>
            <p:spPr>
              <a:xfrm>
                <a:off x="668593" y="4115426"/>
                <a:ext cx="6096000" cy="18570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Step 3 — mean</a:t>
                </a:r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li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ˉ</m:t>
                          </m:r>
                        </m:lim>
                      </m:limUp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nary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760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33333333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b="1" dirty="0"/>
                  <a:t>Step 4 — grouped population variance &amp; SD</a:t>
                </a:r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nary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grow m:val="on"/>
                                      <m:subHide m:val="on"/>
                                      <m:supHide m:val="on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nary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23950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30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endChr m:val="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25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33333333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DA43258-C85D-4304-C8AE-A6012F3F6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93" y="4115426"/>
                <a:ext cx="6096000" cy="1857047"/>
              </a:xfrm>
              <a:prstGeom prst="rect">
                <a:avLst/>
              </a:prstGeom>
              <a:blipFill>
                <a:blip r:embed="rId2"/>
                <a:stretch>
                  <a:fillRect l="-900" t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B281F82-5ECA-FEF4-6A70-F10D2127F634}"/>
                  </a:ext>
                </a:extLst>
              </p:cNvPr>
              <p:cNvSpPr txBox="1"/>
              <p:nvPr/>
            </p:nvSpPr>
            <p:spPr>
              <a:xfrm>
                <a:off x="6764593" y="4248040"/>
                <a:ext cx="4965291" cy="17917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Compute: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23950/30 = 798.3333333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(25.33333333)² = 641.7777778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798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3333333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641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7777778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156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5555556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156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5555556</m:t>
                          </m:r>
                        </m:e>
                      </m:ra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51221625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B281F82-5ECA-FEF4-6A70-F10D2127F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4593" y="4248040"/>
                <a:ext cx="4965291" cy="1791709"/>
              </a:xfrm>
              <a:prstGeom prst="rect">
                <a:avLst/>
              </a:prstGeom>
              <a:blipFill>
                <a:blip r:embed="rId3"/>
                <a:stretch>
                  <a:fillRect l="-1106" t="-20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6478B6A-CB37-00E4-1172-7D5BA9C71775}"/>
              </a:ext>
            </a:extLst>
          </p:cNvPr>
          <p:cNvSpPr/>
          <p:nvPr/>
        </p:nvSpPr>
        <p:spPr>
          <a:xfrm>
            <a:off x="5889523" y="4129548"/>
            <a:ext cx="1318603" cy="2113936"/>
          </a:xfrm>
          <a:custGeom>
            <a:avLst/>
            <a:gdLst>
              <a:gd name="csX0" fmla="*/ 0 w 1318603"/>
              <a:gd name="csY0" fmla="*/ 1946787 h 2113936"/>
              <a:gd name="csX1" fmla="*/ 196645 w 1318603"/>
              <a:gd name="csY1" fmla="*/ 2084439 h 2113936"/>
              <a:gd name="csX2" fmla="*/ 294967 w 1318603"/>
              <a:gd name="csY2" fmla="*/ 2113936 h 2113936"/>
              <a:gd name="csX3" fmla="*/ 462116 w 1318603"/>
              <a:gd name="csY3" fmla="*/ 2104104 h 2113936"/>
              <a:gd name="csX4" fmla="*/ 678425 w 1318603"/>
              <a:gd name="csY4" fmla="*/ 2015613 h 2113936"/>
              <a:gd name="csX5" fmla="*/ 717754 w 1318603"/>
              <a:gd name="csY5" fmla="*/ 1986117 h 2113936"/>
              <a:gd name="csX6" fmla="*/ 796412 w 1318603"/>
              <a:gd name="csY6" fmla="*/ 1858297 h 2113936"/>
              <a:gd name="csX7" fmla="*/ 816077 w 1318603"/>
              <a:gd name="csY7" fmla="*/ 1435510 h 2113936"/>
              <a:gd name="csX8" fmla="*/ 786580 w 1318603"/>
              <a:gd name="csY8" fmla="*/ 1317523 h 2113936"/>
              <a:gd name="csX9" fmla="*/ 766916 w 1318603"/>
              <a:gd name="csY9" fmla="*/ 1219200 h 2113936"/>
              <a:gd name="csX10" fmla="*/ 678425 w 1318603"/>
              <a:gd name="csY10" fmla="*/ 894736 h 2113936"/>
              <a:gd name="csX11" fmla="*/ 668593 w 1318603"/>
              <a:gd name="csY11" fmla="*/ 786581 h 2113936"/>
              <a:gd name="csX12" fmla="*/ 678425 w 1318603"/>
              <a:gd name="csY12" fmla="*/ 432620 h 2113936"/>
              <a:gd name="csX13" fmla="*/ 688258 w 1318603"/>
              <a:gd name="csY13" fmla="*/ 383458 h 2113936"/>
              <a:gd name="csX14" fmla="*/ 707922 w 1318603"/>
              <a:gd name="csY14" fmla="*/ 344129 h 2113936"/>
              <a:gd name="csX15" fmla="*/ 747251 w 1318603"/>
              <a:gd name="csY15" fmla="*/ 275304 h 2113936"/>
              <a:gd name="csX16" fmla="*/ 786580 w 1318603"/>
              <a:gd name="csY16" fmla="*/ 167149 h 2113936"/>
              <a:gd name="csX17" fmla="*/ 924232 w 1318603"/>
              <a:gd name="csY17" fmla="*/ 49162 h 2113936"/>
              <a:gd name="csX18" fmla="*/ 1130709 w 1318603"/>
              <a:gd name="csY18" fmla="*/ 0 h 2113936"/>
              <a:gd name="csX19" fmla="*/ 1248696 w 1318603"/>
              <a:gd name="csY19" fmla="*/ 49162 h 2113936"/>
              <a:gd name="csX20" fmla="*/ 1278193 w 1318603"/>
              <a:gd name="csY20" fmla="*/ 78658 h 2113936"/>
              <a:gd name="csX21" fmla="*/ 1297858 w 1318603"/>
              <a:gd name="csY21" fmla="*/ 117987 h 2113936"/>
              <a:gd name="csX22" fmla="*/ 1317522 w 1318603"/>
              <a:gd name="csY22" fmla="*/ 147484 h 2113936"/>
              <a:gd name="csX23" fmla="*/ 1317522 w 1318603"/>
              <a:gd name="csY23" fmla="*/ 167149 h 21139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318603" h="2113936">
                <a:moveTo>
                  <a:pt x="0" y="1946787"/>
                </a:moveTo>
                <a:cubicBezTo>
                  <a:pt x="64613" y="1998479"/>
                  <a:pt x="118090" y="2043590"/>
                  <a:pt x="196645" y="2084439"/>
                </a:cubicBezTo>
                <a:cubicBezTo>
                  <a:pt x="227003" y="2100225"/>
                  <a:pt x="262193" y="2104104"/>
                  <a:pt x="294967" y="2113936"/>
                </a:cubicBezTo>
                <a:cubicBezTo>
                  <a:pt x="350683" y="2110659"/>
                  <a:pt x="407518" y="2115685"/>
                  <a:pt x="462116" y="2104104"/>
                </a:cubicBezTo>
                <a:cubicBezTo>
                  <a:pt x="493678" y="2097409"/>
                  <a:pt x="626788" y="2046595"/>
                  <a:pt x="678425" y="2015613"/>
                </a:cubicBezTo>
                <a:cubicBezTo>
                  <a:pt x="692477" y="2007182"/>
                  <a:pt x="704644" y="1995949"/>
                  <a:pt x="717754" y="1986117"/>
                </a:cubicBezTo>
                <a:cubicBezTo>
                  <a:pt x="743973" y="1943510"/>
                  <a:pt x="776919" y="1904371"/>
                  <a:pt x="796412" y="1858297"/>
                </a:cubicBezTo>
                <a:cubicBezTo>
                  <a:pt x="848328" y="1735587"/>
                  <a:pt x="826697" y="1547018"/>
                  <a:pt x="816077" y="1435510"/>
                </a:cubicBezTo>
                <a:cubicBezTo>
                  <a:pt x="812233" y="1395153"/>
                  <a:pt x="795564" y="1357054"/>
                  <a:pt x="786580" y="1317523"/>
                </a:cubicBezTo>
                <a:cubicBezTo>
                  <a:pt x="779173" y="1284931"/>
                  <a:pt x="775804" y="1251420"/>
                  <a:pt x="766916" y="1219200"/>
                </a:cubicBezTo>
                <a:cubicBezTo>
                  <a:pt x="661612" y="837472"/>
                  <a:pt x="744728" y="1204148"/>
                  <a:pt x="678425" y="894736"/>
                </a:cubicBezTo>
                <a:cubicBezTo>
                  <a:pt x="675148" y="858684"/>
                  <a:pt x="668593" y="822781"/>
                  <a:pt x="668593" y="786581"/>
                </a:cubicBezTo>
                <a:cubicBezTo>
                  <a:pt x="668593" y="668548"/>
                  <a:pt x="672674" y="550512"/>
                  <a:pt x="678425" y="432620"/>
                </a:cubicBezTo>
                <a:cubicBezTo>
                  <a:pt x="679239" y="415928"/>
                  <a:pt x="682973" y="399312"/>
                  <a:pt x="688258" y="383458"/>
                </a:cubicBezTo>
                <a:cubicBezTo>
                  <a:pt x="692893" y="369553"/>
                  <a:pt x="700903" y="356996"/>
                  <a:pt x="707922" y="344129"/>
                </a:cubicBezTo>
                <a:cubicBezTo>
                  <a:pt x="720575" y="320932"/>
                  <a:pt x="736178" y="299295"/>
                  <a:pt x="747251" y="275304"/>
                </a:cubicBezTo>
                <a:cubicBezTo>
                  <a:pt x="768519" y="229225"/>
                  <a:pt x="762605" y="210303"/>
                  <a:pt x="786580" y="167149"/>
                </a:cubicBezTo>
                <a:cubicBezTo>
                  <a:pt x="812940" y="119701"/>
                  <a:pt x="884117" y="62534"/>
                  <a:pt x="924232" y="49162"/>
                </a:cubicBezTo>
                <a:cubicBezTo>
                  <a:pt x="1070374" y="448"/>
                  <a:pt x="1001016" y="14411"/>
                  <a:pt x="1130709" y="0"/>
                </a:cubicBezTo>
                <a:cubicBezTo>
                  <a:pt x="1145419" y="5516"/>
                  <a:pt x="1224976" y="32220"/>
                  <a:pt x="1248696" y="49162"/>
                </a:cubicBezTo>
                <a:cubicBezTo>
                  <a:pt x="1260011" y="57244"/>
                  <a:pt x="1268361" y="68826"/>
                  <a:pt x="1278193" y="78658"/>
                </a:cubicBezTo>
                <a:cubicBezTo>
                  <a:pt x="1284748" y="91768"/>
                  <a:pt x="1290586" y="105261"/>
                  <a:pt x="1297858" y="117987"/>
                </a:cubicBezTo>
                <a:cubicBezTo>
                  <a:pt x="1303721" y="128247"/>
                  <a:pt x="1313133" y="136512"/>
                  <a:pt x="1317522" y="147484"/>
                </a:cubicBezTo>
                <a:cubicBezTo>
                  <a:pt x="1319956" y="153570"/>
                  <a:pt x="1317522" y="160594"/>
                  <a:pt x="1317522" y="167149"/>
                </a:cubicBezTo>
              </a:path>
            </a:pathLst>
          </a:custGeom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4609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9C562B-B171-9B64-9D0F-E6674636AC69}"/>
              </a:ext>
            </a:extLst>
          </p:cNvPr>
          <p:cNvSpPr txBox="1"/>
          <p:nvPr/>
        </p:nvSpPr>
        <p:spPr>
          <a:xfrm>
            <a:off x="471948" y="5330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4 — Grouped (continuous) — (h = 5)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C426CE4-B6C2-5E7D-131C-88DB285D5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613029"/>
              </p:ext>
            </p:extLst>
          </p:nvPr>
        </p:nvGraphicFramePr>
        <p:xfrm>
          <a:off x="2103119" y="1097530"/>
          <a:ext cx="6219888" cy="2194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109944">
                  <a:extLst>
                    <a:ext uri="{9D8B030D-6E8A-4147-A177-3AD203B41FA5}">
                      <a16:colId xmlns:a16="http://schemas.microsoft.com/office/drawing/2014/main" val="1596492285"/>
                    </a:ext>
                  </a:extLst>
                </a:gridCol>
                <a:gridCol w="3109944">
                  <a:extLst>
                    <a:ext uri="{9D8B030D-6E8A-4147-A177-3AD203B41FA5}">
                      <a16:colId xmlns:a16="http://schemas.microsoft.com/office/drawing/2014/main" val="20012198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4930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0–5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5523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5–10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215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10–15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9855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15–20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466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20–25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720374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9B06516-3F7B-0922-86AB-6F81733229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483398"/>
              </p:ext>
            </p:extLst>
          </p:nvPr>
        </p:nvGraphicFramePr>
        <p:xfrm>
          <a:off x="840658" y="4437385"/>
          <a:ext cx="8229600" cy="2194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380750884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16893757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5111265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46796581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89901238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680916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f×m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m²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f×m²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2337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0–5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31.25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6965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5–10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7.5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56.25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5716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10–15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156.25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1,875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7328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15–20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17.5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306.25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6,125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458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20–25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506.25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5,062.5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265318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7760944-6B79-7704-6F57-1E2DD0A72686}"/>
              </a:ext>
            </a:extLst>
          </p:cNvPr>
          <p:cNvSpPr txBox="1"/>
          <p:nvPr/>
        </p:nvSpPr>
        <p:spPr>
          <a:xfrm>
            <a:off x="560438" y="330225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1 — midpoints m</a:t>
            </a:r>
            <a:endParaRPr lang="en-US" dirty="0"/>
          </a:p>
          <a:p>
            <a:pPr>
              <a:buNone/>
            </a:pPr>
            <a:r>
              <a:rPr lang="en-US" dirty="0"/>
              <a:t>m = 2.5, 7.5, 12.5, 17.5, 22.5</a:t>
            </a:r>
          </a:p>
          <a:p>
            <a:pPr>
              <a:buNone/>
            </a:pPr>
            <a:r>
              <a:rPr lang="en-US" b="1" dirty="0"/>
              <a:t>Step 2 — compute </a:t>
            </a:r>
            <a:r>
              <a:rPr lang="en-US" b="1" dirty="0" err="1"/>
              <a:t>f×m</a:t>
            </a:r>
            <a:r>
              <a:rPr lang="en-US" b="1" dirty="0"/>
              <a:t> and f×m²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80A5B6-84EC-A97B-0D5C-37396F1225A0}"/>
              </a:ext>
            </a:extLst>
          </p:cNvPr>
          <p:cNvSpPr txBox="1"/>
          <p:nvPr/>
        </p:nvSpPr>
        <p:spPr>
          <a:xfrm>
            <a:off x="9753600" y="4482391"/>
            <a:ext cx="22122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Σf = N = 55</a:t>
            </a:r>
            <a:br>
              <a:rPr lang="pt-BR" dirty="0"/>
            </a:br>
            <a:r>
              <a:rPr lang="pt-BR" dirty="0"/>
              <a:t>Σfm = 797.5</a:t>
            </a:r>
            <a:br>
              <a:rPr lang="pt-BR" dirty="0"/>
            </a:br>
            <a:r>
              <a:rPr lang="pt-BR" dirty="0"/>
              <a:t>Σfm² = 13,543.75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40175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8C4BF-F68F-DC3C-7430-D727923C9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6CD162-B64D-2157-417A-C7E52B7C6905}"/>
                  </a:ext>
                </a:extLst>
              </p:cNvPr>
              <p:cNvSpPr txBox="1"/>
              <p:nvPr/>
            </p:nvSpPr>
            <p:spPr>
              <a:xfrm>
                <a:off x="927510" y="1396180"/>
                <a:ext cx="6096000" cy="18412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Step 3 — mean</a:t>
                </a:r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li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ˉ</m:t>
                          </m:r>
                        </m:lim>
                      </m:limUp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797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55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b="1" dirty="0"/>
                  <a:t>Step 4 — grouped variance &amp; SD</a:t>
                </a:r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13543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75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55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14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246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210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36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36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ra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6CD162-B64D-2157-417A-C7E52B7C69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510" y="1396180"/>
                <a:ext cx="6096000" cy="1841210"/>
              </a:xfrm>
              <a:prstGeom prst="rect">
                <a:avLst/>
              </a:prstGeom>
              <a:blipFill>
                <a:blip r:embed="rId2"/>
                <a:stretch>
                  <a:fillRect l="-800" t="-16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9DA843C-FE7C-5443-4D67-6C4AD8912774}"/>
                  </a:ext>
                </a:extLst>
              </p:cNvPr>
              <p:cNvSpPr txBox="1"/>
              <p:nvPr/>
            </p:nvSpPr>
            <p:spPr>
              <a:xfrm>
                <a:off x="7433187" y="845574"/>
                <a:ext cx="4532671" cy="246144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Continuous (Grouped) Variance formula</a:t>
                </a:r>
              </a:p>
              <a:p>
                <a:pPr>
                  <a:buNone/>
                </a:pPr>
                <a:r>
                  <a:rPr lang="en-IN" dirty="0"/>
                  <a:t>Use midpoints </a:t>
                </a:r>
                <a:r>
                  <a:rPr lang="en-IN" b="1" dirty="0"/>
                  <a:t>m</a:t>
                </a:r>
                <a:endParaRPr lang="en-IN" dirty="0"/>
              </a:p>
              <a:p>
                <a:pPr>
                  <a:buNone/>
                </a:pPr>
                <a:r>
                  <a:rPr lang="en-IN" b="1" dirty="0"/>
                  <a:t>Population grouped variance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nary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nary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grow m:val="on"/>
                                      <m:subHide m:val="on"/>
                                      <m:supHide m:val="on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nary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nary>
                                    <m:naryPr>
                                      <m:chr m:val="∑"/>
                                      <m:grow m:val="on"/>
                                      <m:subHide m:val="on"/>
                                      <m:supHide m:val="on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nary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Mean: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ar-AE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lim>
                          <m:r>
                            <a:rPr lang="ar-AE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ˉ</m:t>
                          </m:r>
                        </m:lim>
                      </m:limUp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nary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9DA843C-FE7C-5443-4D67-6C4AD8912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3187" y="845574"/>
                <a:ext cx="4532671" cy="2461443"/>
              </a:xfrm>
              <a:prstGeom prst="rect">
                <a:avLst/>
              </a:prstGeom>
              <a:blipFill>
                <a:blip r:embed="rId3"/>
                <a:stretch>
                  <a:fillRect l="-802" t="-9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81610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9238D-4CEA-4116-A77F-4B8A48EF8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4CF994-53C8-6F96-2A03-B48B14C5FE51}"/>
              </a:ext>
            </a:extLst>
          </p:cNvPr>
          <p:cNvSpPr txBox="1"/>
          <p:nvPr/>
        </p:nvSpPr>
        <p:spPr>
          <a:xfrm>
            <a:off x="353961" y="78732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A. DISCRETE DATA (2 Questions)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Q1 – Test Scores (Scenario)</a:t>
            </a:r>
          </a:p>
          <a:p>
            <a:pPr>
              <a:buNone/>
            </a:pPr>
            <a:r>
              <a:rPr lang="en-US" dirty="0"/>
              <a:t>A teacher records marks of 6 students:</a:t>
            </a:r>
            <a:br>
              <a:rPr lang="en-US" dirty="0"/>
            </a:br>
            <a:r>
              <a:rPr lang="en-US" b="1" dirty="0"/>
              <a:t>50, 60, 70, 80, 60, 50</a:t>
            </a:r>
          </a:p>
          <a:p>
            <a:pPr>
              <a:buNone/>
            </a:pPr>
            <a:endParaRPr lang="en-US" b="1" dirty="0"/>
          </a:p>
          <a:p>
            <a:r>
              <a:rPr lang="en-US" b="1" dirty="0"/>
              <a:t>Q2 – Machine Production (Scenario)</a:t>
            </a:r>
          </a:p>
          <a:p>
            <a:r>
              <a:rPr lang="en-US" dirty="0"/>
              <a:t>Daily production units of a machine:</a:t>
            </a:r>
            <a:br>
              <a:rPr lang="en-US" dirty="0"/>
            </a:br>
            <a:r>
              <a:rPr lang="en-US" b="1" dirty="0"/>
              <a:t>12, 15, 14, 18, 21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02F6AA-D22F-E6B0-81BD-3B0B35BF70C3}"/>
              </a:ext>
            </a:extLst>
          </p:cNvPr>
          <p:cNvSpPr txBox="1"/>
          <p:nvPr/>
        </p:nvSpPr>
        <p:spPr>
          <a:xfrm>
            <a:off x="6094412" y="721236"/>
            <a:ext cx="6272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B. CONTINUOUS (GROUPED DATA)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8E611F3-9C91-83E0-BBD0-409C3C2CD3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190335"/>
              </p:ext>
            </p:extLst>
          </p:nvPr>
        </p:nvGraphicFramePr>
        <p:xfrm>
          <a:off x="6449961" y="1501199"/>
          <a:ext cx="5260258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30129">
                  <a:extLst>
                    <a:ext uri="{9D8B030D-6E8A-4147-A177-3AD203B41FA5}">
                      <a16:colId xmlns:a16="http://schemas.microsoft.com/office/drawing/2014/main" val="2399188861"/>
                    </a:ext>
                  </a:extLst>
                </a:gridCol>
                <a:gridCol w="2630129">
                  <a:extLst>
                    <a:ext uri="{9D8B030D-6E8A-4147-A177-3AD203B41FA5}">
                      <a16:colId xmlns:a16="http://schemas.microsoft.com/office/drawing/2014/main" val="6967427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Salary 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Frequency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2867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10–20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727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20–30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2534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30–40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1767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40–50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984556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722A445-2BC0-6DFA-0BB2-A6144E6F7887}"/>
              </a:ext>
            </a:extLst>
          </p:cNvPr>
          <p:cNvSpPr txBox="1"/>
          <p:nvPr/>
        </p:nvSpPr>
        <p:spPr>
          <a:xfrm>
            <a:off x="6094412" y="3808059"/>
            <a:ext cx="6528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Q4 – Student Height Distribution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48C87D-5C9D-4063-18F5-15536087D6DA}"/>
              </a:ext>
            </a:extLst>
          </p:cNvPr>
          <p:cNvSpPr txBox="1"/>
          <p:nvPr/>
        </p:nvSpPr>
        <p:spPr>
          <a:xfrm>
            <a:off x="6144368" y="1161463"/>
            <a:ext cx="6528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Q3 – Worker Monthly Salary (Scenario)</a:t>
            </a:r>
            <a:endParaRPr lang="en-IN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DCF1A42-9FEC-EFD0-82D8-48EE9CDB7A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111728"/>
              </p:ext>
            </p:extLst>
          </p:nvPr>
        </p:nvGraphicFramePr>
        <p:xfrm>
          <a:off x="6449961" y="4297235"/>
          <a:ext cx="5350338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75169">
                  <a:extLst>
                    <a:ext uri="{9D8B030D-6E8A-4147-A177-3AD203B41FA5}">
                      <a16:colId xmlns:a16="http://schemas.microsoft.com/office/drawing/2014/main" val="1216000684"/>
                    </a:ext>
                  </a:extLst>
                </a:gridCol>
                <a:gridCol w="2675169">
                  <a:extLst>
                    <a:ext uri="{9D8B030D-6E8A-4147-A177-3AD203B41FA5}">
                      <a16:colId xmlns:a16="http://schemas.microsoft.com/office/drawing/2014/main" val="21792669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Height (cm)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Frequency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1691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140–150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6136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150–160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5129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160–170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593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170–180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482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77843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20963-787E-04D0-6BDF-E3D7881E0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FAC24F-4FB8-7D71-2C7F-2F1368793E2B}"/>
              </a:ext>
            </a:extLst>
          </p:cNvPr>
          <p:cNvSpPr txBox="1"/>
          <p:nvPr/>
        </p:nvSpPr>
        <p:spPr>
          <a:xfrm>
            <a:off x="766915" y="1243213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Q1.</a:t>
            </a:r>
          </a:p>
          <a:p>
            <a:pPr>
              <a:buNone/>
            </a:pPr>
            <a:r>
              <a:rPr lang="fr-FR" dirty="0"/>
              <a:t>Population variance</a:t>
            </a:r>
          </a:p>
          <a:p>
            <a:pPr>
              <a:buNone/>
            </a:pPr>
            <a:r>
              <a:rPr lang="fr-FR" dirty="0"/>
              <a:t>= 133.33</a:t>
            </a:r>
          </a:p>
          <a:p>
            <a:pPr>
              <a:buNone/>
            </a:pPr>
            <a:r>
              <a:rPr lang="fr-FR" dirty="0"/>
              <a:t>Population SD</a:t>
            </a:r>
          </a:p>
          <a:p>
            <a:pPr>
              <a:buNone/>
            </a:pPr>
            <a:r>
              <a:rPr lang="fr-FR" dirty="0"/>
              <a:t>= 11.55</a:t>
            </a:r>
          </a:p>
          <a:p>
            <a:pPr>
              <a:buNone/>
            </a:pPr>
            <a:r>
              <a:rPr lang="fr-FR" b="1" dirty="0"/>
              <a:t>Q2.</a:t>
            </a:r>
          </a:p>
          <a:p>
            <a:r>
              <a:rPr lang="en-IN" dirty="0"/>
              <a:t>Sample Variance</a:t>
            </a:r>
          </a:p>
          <a:p>
            <a:r>
              <a:rPr lang="en-IN" dirty="0"/>
              <a:t>= 12.5</a:t>
            </a:r>
          </a:p>
          <a:p>
            <a:r>
              <a:rPr lang="en-IN" dirty="0"/>
              <a:t>Sample SD</a:t>
            </a:r>
          </a:p>
          <a:p>
            <a:r>
              <a:rPr lang="en-IN" dirty="0"/>
              <a:t>= 3.53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F9D783-9A07-3C6F-7A47-D23343D8D571}"/>
              </a:ext>
            </a:extLst>
          </p:cNvPr>
          <p:cNvSpPr txBox="1"/>
          <p:nvPr/>
        </p:nvSpPr>
        <p:spPr>
          <a:xfrm>
            <a:off x="5555226" y="966214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/>
              <a:t>Q3.</a:t>
            </a:r>
          </a:p>
          <a:p>
            <a:r>
              <a:rPr lang="en-IN" b="1" dirty="0"/>
              <a:t>Variance</a:t>
            </a:r>
          </a:p>
          <a:p>
            <a:r>
              <a:rPr lang="en-IN" dirty="0"/>
              <a:t>= </a:t>
            </a:r>
            <a:r>
              <a:rPr lang="en-IN" b="1" dirty="0"/>
              <a:t>95.35</a:t>
            </a:r>
            <a:endParaRPr lang="en-IN" dirty="0"/>
          </a:p>
          <a:p>
            <a:r>
              <a:rPr lang="en-IN" b="1" dirty="0"/>
              <a:t>SD</a:t>
            </a:r>
          </a:p>
          <a:p>
            <a:r>
              <a:rPr lang="en-IN" dirty="0"/>
              <a:t>= </a:t>
            </a:r>
            <a:r>
              <a:rPr lang="en-IN" b="1" dirty="0"/>
              <a:t>9.76</a:t>
            </a:r>
            <a:endParaRPr lang="en-IN" dirty="0"/>
          </a:p>
          <a:p>
            <a:pPr>
              <a:buNone/>
            </a:pPr>
            <a:endParaRPr lang="fr-FR" dirty="0"/>
          </a:p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dirty="0"/>
              <a:t>Q4.</a:t>
            </a:r>
          </a:p>
          <a:p>
            <a:r>
              <a:rPr lang="en-IN" b="1" dirty="0"/>
              <a:t>Variance</a:t>
            </a:r>
          </a:p>
          <a:p>
            <a:r>
              <a:rPr lang="en-IN" dirty="0"/>
              <a:t>= </a:t>
            </a:r>
            <a:r>
              <a:rPr lang="en-IN" b="1" dirty="0"/>
              <a:t>109.69</a:t>
            </a:r>
            <a:endParaRPr lang="en-IN" dirty="0"/>
          </a:p>
          <a:p>
            <a:r>
              <a:rPr lang="en-IN" b="1" dirty="0"/>
              <a:t>SD</a:t>
            </a:r>
          </a:p>
          <a:p>
            <a:r>
              <a:rPr lang="en-IN" dirty="0"/>
              <a:t>= </a:t>
            </a:r>
            <a:r>
              <a:rPr lang="en-IN" b="1" dirty="0"/>
              <a:t>10.47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71E7B9-57B6-5AEC-41DE-2B822979D4AA}"/>
              </a:ext>
            </a:extLst>
          </p:cNvPr>
          <p:cNvSpPr txBox="1"/>
          <p:nvPr/>
        </p:nvSpPr>
        <p:spPr>
          <a:xfrm>
            <a:off x="4316361" y="3266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ANSWERS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5634431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4AB1D-74F8-F0C6-1E15-57C44A80E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83337-78B9-00C1-201B-408FDEBBB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33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Coefficient of Variation (CV)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Definition: Relative measure of spread = Standard Deviation / Mean.</a:t>
            </a:r>
          </a:p>
          <a:p>
            <a:r>
              <a:rPr dirty="0"/>
              <a:t>Formula: CV = s / x̄</a:t>
            </a:r>
          </a:p>
          <a:p>
            <a:r>
              <a:rPr dirty="0"/>
              <a:t>Usage: Compare variability between datasets with different means/units.</a:t>
            </a:r>
          </a:p>
          <a:p>
            <a:r>
              <a:rPr dirty="0"/>
              <a:t>Example: Compare sales variability of two products with different average sales.</a:t>
            </a:r>
          </a:p>
          <a:p>
            <a:r>
              <a:rPr dirty="0"/>
              <a:t>In Excel: =STDEV.S(A2:A11)/AVERAGE(A2:A11)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84E2A59-4171-7C88-FCA2-E8E055B2CC58}"/>
              </a:ext>
            </a:extLst>
          </p:cNvPr>
          <p:cNvSpPr txBox="1"/>
          <p:nvPr/>
        </p:nvSpPr>
        <p:spPr>
          <a:xfrm>
            <a:off x="609600" y="1168460"/>
            <a:ext cx="1096962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⭐ Coefficient of Variation (CV)</a:t>
            </a:r>
          </a:p>
          <a:p>
            <a:pPr>
              <a:buNone/>
            </a:pPr>
            <a:r>
              <a:rPr lang="en-US" dirty="0"/>
              <a:t>One of the most important metrics in statistics, data science, ML, and AI when comparing variability between datasets.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✅ 1. What is Coefficient of Variation?</a:t>
            </a:r>
          </a:p>
          <a:p>
            <a:pPr>
              <a:buNone/>
            </a:pPr>
            <a:r>
              <a:rPr lang="en-US" dirty="0"/>
              <a:t>The </a:t>
            </a:r>
            <a:r>
              <a:rPr lang="en-US" b="1" dirty="0"/>
              <a:t>Coefficient of Variation (CV)</a:t>
            </a:r>
            <a:r>
              <a:rPr lang="en-US" dirty="0"/>
              <a:t> measures how large the standard deviation is compared to the mean.</a:t>
            </a:r>
          </a:p>
          <a:p>
            <a:pPr>
              <a:buNone/>
            </a:pPr>
            <a:r>
              <a:rPr lang="en-US" dirty="0"/>
              <a:t>It tells:</a:t>
            </a:r>
            <a:br>
              <a:rPr lang="en-US" dirty="0"/>
            </a:br>
            <a:r>
              <a:rPr lang="en-US" dirty="0"/>
              <a:t>👉 “How much variability exists </a:t>
            </a:r>
            <a:r>
              <a:rPr lang="en-US" i="1" dirty="0"/>
              <a:t>relative</a:t>
            </a:r>
            <a:r>
              <a:rPr lang="en-US" dirty="0"/>
              <a:t> to the average value?”</a:t>
            </a:r>
          </a:p>
          <a:p>
            <a:pPr>
              <a:buNone/>
            </a:pPr>
            <a:r>
              <a:rPr lang="en-US" dirty="0"/>
              <a:t>So, it is a </a:t>
            </a:r>
            <a:r>
              <a:rPr lang="en-US" b="1" dirty="0"/>
              <a:t>relative measure of dispersion</a:t>
            </a:r>
            <a:r>
              <a:rPr lang="en-US" dirty="0"/>
              <a:t>, not an absolute one.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915739-A54A-51F1-4641-B858BA861D54}"/>
              </a:ext>
            </a:extLst>
          </p:cNvPr>
          <p:cNvSpPr txBox="1"/>
          <p:nvPr/>
        </p:nvSpPr>
        <p:spPr>
          <a:xfrm>
            <a:off x="4846320" y="3080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Coefficient of Variation (CV)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66ED44-9087-9718-B79E-8EB7EFBEB571}"/>
              </a:ext>
            </a:extLst>
          </p:cNvPr>
          <p:cNvSpPr txBox="1"/>
          <p:nvPr/>
        </p:nvSpPr>
        <p:spPr>
          <a:xfrm>
            <a:off x="609600" y="4345742"/>
            <a:ext cx="1089850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CV is Used? (Purpose)</a:t>
            </a:r>
          </a:p>
          <a:p>
            <a:pPr>
              <a:buNone/>
            </a:pPr>
            <a:r>
              <a:rPr lang="en-US" b="1" dirty="0"/>
              <a:t>✔ Compare variability between two datasets with different units or different means.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Dataset A mean = 10, SD =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Dataset B mean = 100, SD = 5</a:t>
            </a:r>
          </a:p>
          <a:p>
            <a:pPr>
              <a:buNone/>
            </a:pPr>
            <a:r>
              <a:rPr lang="en-US" dirty="0"/>
              <a:t>Even though SD of B is higher, variability </a:t>
            </a:r>
            <a:r>
              <a:rPr lang="en-US" b="1" dirty="0"/>
              <a:t>relative to mean</a:t>
            </a:r>
            <a:r>
              <a:rPr lang="en-US" dirty="0"/>
              <a:t> may be lower.</a:t>
            </a:r>
            <a:br>
              <a:rPr lang="en-US" dirty="0"/>
            </a:br>
            <a:r>
              <a:rPr lang="en-US" dirty="0"/>
              <a:t>CV helps compare this fairly.</a:t>
            </a:r>
          </a:p>
        </p:txBody>
      </p:sp>
    </p:spTree>
    <p:extLst>
      <p:ext uri="{BB962C8B-B14F-4D97-AF65-F5344CB8AC3E}">
        <p14:creationId xmlns:p14="http://schemas.microsoft.com/office/powerpoint/2010/main" val="200214942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4A8937-9274-F76F-4FA6-412253BF90DD}"/>
                  </a:ext>
                </a:extLst>
              </p:cNvPr>
              <p:cNvSpPr txBox="1"/>
              <p:nvPr/>
            </p:nvSpPr>
            <p:spPr>
              <a:xfrm>
                <a:off x="3048000" y="413205"/>
                <a:ext cx="6096000" cy="34712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Formula for Coefficient of Variation</a:t>
                </a:r>
              </a:p>
              <a:p>
                <a:pPr>
                  <a:buNone/>
                </a:pPr>
                <a:r>
                  <a:rPr lang="en-IN" b="1" dirty="0"/>
                  <a:t>Population CV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𝐶𝑉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b="1" dirty="0"/>
                  <a:t>Sample CV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𝐶𝑉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limUpp>
                            <m:limUp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lim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ˉ</m:t>
                              </m:r>
                            </m:lim>
                          </m:limUpp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Where: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/>
                  <a:t>σ = </a:t>
                </a:r>
                <a:r>
                  <a:rPr lang="en-IN" dirty="0"/>
                  <a:t>population standard deviation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s = sample standard deviation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/>
                  <a:t>μ = </a:t>
                </a:r>
                <a:r>
                  <a:rPr lang="en-IN" dirty="0"/>
                  <a:t>mean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limUpp>
                      <m:limUp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lim>
                        <m:r>
                          <a:rPr lang="ar-AE" i="0">
                            <a:latin typeface="Cambria Math" panose="02040503050406030204" pitchFamily="18" charset="0"/>
                          </a:rPr>
                          <m:t>ˉ</m:t>
                        </m:r>
                      </m:lim>
                    </m:limUpp>
                  </m:oMath>
                </a14:m>
                <a:r>
                  <a:rPr lang="ar-AE" dirty="0"/>
                  <a:t>= </a:t>
                </a:r>
                <a:r>
                  <a:rPr lang="en-IN" dirty="0"/>
                  <a:t>sample mean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4A8937-9274-F76F-4FA6-412253BF9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413205"/>
                <a:ext cx="6096000" cy="3471271"/>
              </a:xfrm>
              <a:prstGeom prst="rect">
                <a:avLst/>
              </a:prstGeom>
              <a:blipFill>
                <a:blip r:embed="rId2"/>
                <a:stretch>
                  <a:fillRect l="-800" t="-1054" b="-19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14344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B808DE-F18E-5BA5-BABE-BC5C8BAB5BF0}"/>
              </a:ext>
            </a:extLst>
          </p:cNvPr>
          <p:cNvSpPr txBox="1"/>
          <p:nvPr/>
        </p:nvSpPr>
        <p:spPr>
          <a:xfrm>
            <a:off x="802640" y="899498"/>
            <a:ext cx="55981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 1:  Daily Sales (Discrete Data)</a:t>
            </a:r>
          </a:p>
          <a:p>
            <a:pPr>
              <a:buNone/>
            </a:pPr>
            <a:r>
              <a:rPr lang="en-US" dirty="0"/>
              <a:t>A shop recorded the number of items sold in 7 days:</a:t>
            </a:r>
          </a:p>
          <a:p>
            <a:pPr>
              <a:buNone/>
            </a:pPr>
            <a:r>
              <a:rPr lang="en-US" b="1" dirty="0"/>
              <a:t>12, 15, 18, 20, 17, 16, 14</a:t>
            </a:r>
            <a:endParaRPr lang="en-US" dirty="0"/>
          </a:p>
          <a:p>
            <a:pPr>
              <a:buNone/>
            </a:pPr>
            <a:r>
              <a:rPr lang="en-US" dirty="0"/>
              <a:t>👉 Find: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Standard Deviation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Coefficient of Variation (CV)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289926-DAD5-51CE-4599-712DAA973A05}"/>
                  </a:ext>
                </a:extLst>
              </p:cNvPr>
              <p:cNvSpPr txBox="1"/>
              <p:nvPr/>
            </p:nvSpPr>
            <p:spPr>
              <a:xfrm>
                <a:off x="802640" y="3184905"/>
                <a:ext cx="8260080" cy="30757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Data:</a:t>
                </a:r>
                <a:br>
                  <a:rPr lang="en-IN" dirty="0"/>
                </a:br>
                <a:r>
                  <a:rPr lang="en-IN" dirty="0"/>
                  <a:t>12, 15, 18, 20, 17, 16, 14</a:t>
                </a:r>
                <a:br>
                  <a:rPr lang="en-IN" dirty="0"/>
                </a:br>
                <a:r>
                  <a:rPr lang="en-IN" dirty="0"/>
                  <a:t>n = 7</a:t>
                </a:r>
              </a:p>
              <a:p>
                <a:pPr>
                  <a:buNone/>
                </a:pPr>
                <a:br>
                  <a:rPr lang="en-IN" dirty="0"/>
                </a:br>
                <a:endParaRPr lang="en-IN" dirty="0"/>
              </a:p>
              <a:p>
                <a:pPr>
                  <a:buNone/>
                </a:pPr>
                <a:r>
                  <a:rPr lang="en-IN" b="1" dirty="0"/>
                  <a:t>Step 1 — Mean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li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ˉ</m:t>
                          </m:r>
                        </m:lim>
                      </m:limUp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18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17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16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li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ˉ</m:t>
                          </m:r>
                        </m:lim>
                      </m:limUp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112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endParaRPr lang="ar-AE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289926-DAD5-51CE-4599-712DAA973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40" y="3184905"/>
                <a:ext cx="8260080" cy="3075778"/>
              </a:xfrm>
              <a:prstGeom prst="rect">
                <a:avLst/>
              </a:prstGeom>
              <a:blipFill>
                <a:blip r:embed="rId2"/>
                <a:stretch>
                  <a:fillRect l="-664" t="-9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1055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67F673-99D9-61CF-1422-F04BC38923D7}"/>
              </a:ext>
            </a:extLst>
          </p:cNvPr>
          <p:cNvSpPr txBox="1"/>
          <p:nvPr/>
        </p:nvSpPr>
        <p:spPr>
          <a:xfrm>
            <a:off x="660400" y="77919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 2 — Standard Deviation (Population SD)</a:t>
            </a:r>
          </a:p>
          <a:p>
            <a:pPr>
              <a:buNone/>
            </a:pPr>
            <a:r>
              <a:rPr lang="en-IN" dirty="0"/>
              <a:t>Use: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366167-18AD-4353-6941-32C962DD0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602" y="1242329"/>
            <a:ext cx="2438740" cy="695422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FF0E1CB-C0C7-84E4-9F41-B7A516220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878294"/>
              </p:ext>
            </p:extLst>
          </p:nvPr>
        </p:nvGraphicFramePr>
        <p:xfrm>
          <a:off x="457200" y="2169587"/>
          <a:ext cx="8229600" cy="29260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50844836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77665288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7573475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x − mean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(x − mean)²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9825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-4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8688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-1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74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830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3137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741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8951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-2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4399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7F34C0-C130-1934-DBDF-2FFF6BDD87C5}"/>
                  </a:ext>
                </a:extLst>
              </p:cNvPr>
              <p:cNvSpPr txBox="1"/>
              <p:nvPr/>
            </p:nvSpPr>
            <p:spPr>
              <a:xfrm>
                <a:off x="1656080" y="5245879"/>
                <a:ext cx="6096000" cy="14646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				∑(x−xˉ)2=42 </a:t>
                </a:r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42</m:t>
                              </m:r>
                            </m:num>
                            <m:den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</m:e>
                      </m:ra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ra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7F34C0-C130-1934-DBDF-2FFF6BDD8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080" y="5245879"/>
                <a:ext cx="6096000" cy="1464696"/>
              </a:xfrm>
              <a:prstGeom prst="rect">
                <a:avLst/>
              </a:prstGeom>
              <a:blipFill>
                <a:blip r:embed="rId3"/>
                <a:stretch>
                  <a:fillRect t="-25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068550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0B88B5-6A70-2080-7E57-C74B0702ABA9}"/>
                  </a:ext>
                </a:extLst>
              </p:cNvPr>
              <p:cNvSpPr txBox="1"/>
              <p:nvPr/>
            </p:nvSpPr>
            <p:spPr>
              <a:xfrm>
                <a:off x="1198880" y="810066"/>
                <a:ext cx="6096000" cy="1458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Step 3 — Coefficient of Variation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𝐶𝑉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limUpp>
                            <m:limUp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lim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ˉ</m:t>
                              </m:r>
                            </m:lim>
                          </m:limUpp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𝐶𝑉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45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31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0B88B5-6A70-2080-7E57-C74B0702A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880" y="810066"/>
                <a:ext cx="6096000" cy="1458348"/>
              </a:xfrm>
              <a:prstGeom prst="rect">
                <a:avLst/>
              </a:prstGeom>
              <a:blipFill>
                <a:blip r:embed="rId2"/>
                <a:stretch>
                  <a:fillRect l="-900" t="-25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63DDD42-21FB-DF3A-9FAB-F92ED9145B1C}"/>
              </a:ext>
            </a:extLst>
          </p:cNvPr>
          <p:cNvSpPr txBox="1"/>
          <p:nvPr/>
        </p:nvSpPr>
        <p:spPr>
          <a:xfrm>
            <a:off x="1310640" y="259515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🔹 Final Answer (Q1)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Mean = 16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SD = 2.45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CV = 15.31%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8550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05D691-C521-C13D-6F2B-97EC5C265755}"/>
              </a:ext>
            </a:extLst>
          </p:cNvPr>
          <p:cNvSpPr txBox="1"/>
          <p:nvPr/>
        </p:nvSpPr>
        <p:spPr>
          <a:xfrm>
            <a:off x="416560" y="4909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CONTINUOUS (GROUPED)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7E7EE1-CAB0-74EF-B9EC-7E7AC1279547}"/>
              </a:ext>
            </a:extLst>
          </p:cNvPr>
          <p:cNvSpPr txBox="1"/>
          <p:nvPr/>
        </p:nvSpPr>
        <p:spPr>
          <a:xfrm>
            <a:off x="416560" y="11005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Q3 – Employee Salary Distribution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4C2492E-8AB0-1C1F-BE36-D05399350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561867"/>
              </p:ext>
            </p:extLst>
          </p:nvPr>
        </p:nvGraphicFramePr>
        <p:xfrm>
          <a:off x="416560" y="1668621"/>
          <a:ext cx="6289040" cy="2194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144520">
                  <a:extLst>
                    <a:ext uri="{9D8B030D-6E8A-4147-A177-3AD203B41FA5}">
                      <a16:colId xmlns:a16="http://schemas.microsoft.com/office/drawing/2014/main" val="1354188807"/>
                    </a:ext>
                  </a:extLst>
                </a:gridCol>
                <a:gridCol w="3144520">
                  <a:extLst>
                    <a:ext uri="{9D8B030D-6E8A-4147-A177-3AD203B41FA5}">
                      <a16:colId xmlns:a16="http://schemas.microsoft.com/office/drawing/2014/main" val="2533502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887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10–20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7331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20–30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6833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30–40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0793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40–50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6432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50–60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26228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1047B9A-F6E4-0BCA-3F34-2F2C8B24AEEC}"/>
              </a:ext>
            </a:extLst>
          </p:cNvPr>
          <p:cNvSpPr txBox="1"/>
          <p:nvPr/>
        </p:nvSpPr>
        <p:spPr>
          <a:xfrm>
            <a:off x="6969760" y="154599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1 — Midpoints (m)</a:t>
            </a:r>
          </a:p>
          <a:p>
            <a:pPr>
              <a:buNone/>
            </a:pPr>
            <a:r>
              <a:rPr lang="en-US" dirty="0"/>
              <a:t>10–20 → 15</a:t>
            </a:r>
            <a:br>
              <a:rPr lang="en-US" dirty="0"/>
            </a:br>
            <a:r>
              <a:rPr lang="en-US" dirty="0"/>
              <a:t>20–30 → 25</a:t>
            </a:r>
            <a:br>
              <a:rPr lang="en-US" dirty="0"/>
            </a:br>
            <a:r>
              <a:rPr lang="en-US" dirty="0"/>
              <a:t>30–40 → 35</a:t>
            </a:r>
            <a:br>
              <a:rPr lang="en-US" dirty="0"/>
            </a:br>
            <a:r>
              <a:rPr lang="en-US" dirty="0"/>
              <a:t>40–50 → 45</a:t>
            </a:r>
            <a:br>
              <a:rPr lang="en-US" dirty="0"/>
            </a:br>
            <a:r>
              <a:rPr lang="en-US" dirty="0"/>
              <a:t>50–60 → 55</a:t>
            </a:r>
          </a:p>
        </p:txBody>
      </p:sp>
    </p:spTree>
    <p:extLst>
      <p:ext uri="{BB962C8B-B14F-4D97-AF65-F5344CB8AC3E}">
        <p14:creationId xmlns:p14="http://schemas.microsoft.com/office/powerpoint/2010/main" val="213171004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C15EA-6275-9F67-6285-CD0F73050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91EE45E-4AE4-025E-8C1D-3032C6FE83AE}"/>
                  </a:ext>
                </a:extLst>
              </p:cNvPr>
              <p:cNvSpPr txBox="1"/>
              <p:nvPr/>
            </p:nvSpPr>
            <p:spPr>
              <a:xfrm>
                <a:off x="487680" y="761480"/>
                <a:ext cx="6096000" cy="12304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Step 2 — Mean Formula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li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ˉ</m:t>
                          </m:r>
                        </m:lim>
                      </m:limUp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nary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Compute </a:t>
                </a:r>
                <a:r>
                  <a:rPr lang="en-IN" dirty="0" err="1"/>
                  <a:t>fm</a:t>
                </a:r>
                <a:r>
                  <a:rPr lang="en-IN" dirty="0"/>
                  <a:t>: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91EE45E-4AE4-025E-8C1D-3032C6FE8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" y="761480"/>
                <a:ext cx="6096000" cy="1230401"/>
              </a:xfrm>
              <a:prstGeom prst="rect">
                <a:avLst/>
              </a:prstGeom>
              <a:blipFill>
                <a:blip r:embed="rId2"/>
                <a:stretch>
                  <a:fillRect l="-800" t="-2970" b="-69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A28D07-7209-8EF3-B2E1-9F74ACC4C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866992"/>
              </p:ext>
            </p:extLst>
          </p:nvPr>
        </p:nvGraphicFramePr>
        <p:xfrm>
          <a:off x="1198880" y="1991881"/>
          <a:ext cx="8229600" cy="2194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14907119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68246572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4404494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7334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7319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6820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8278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2902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632323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F9F0C1-544C-5B46-6F08-BB985B53AD79}"/>
                  </a:ext>
                </a:extLst>
              </p:cNvPr>
              <p:cNvSpPr txBox="1"/>
              <p:nvPr/>
            </p:nvSpPr>
            <p:spPr>
              <a:xfrm>
                <a:off x="2905760" y="4530017"/>
                <a:ext cx="6096000" cy="8897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∑f=40,∑fm=1420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li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ˉ</m:t>
                          </m:r>
                        </m:lim>
                      </m:limUp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1420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40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35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F9F0C1-544C-5B46-6F08-BB985B53A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760" y="4530017"/>
                <a:ext cx="6096000" cy="889731"/>
              </a:xfrm>
              <a:prstGeom prst="rect">
                <a:avLst/>
              </a:prstGeom>
              <a:blipFill>
                <a:blip r:embed="rId3"/>
                <a:stretch>
                  <a:fillRect l="-900" t="-34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39400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D046C-9773-1CB0-581A-485F4BBA7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4D79DA1-072F-0707-8BE2-7ECC880E2784}"/>
                  </a:ext>
                </a:extLst>
              </p:cNvPr>
              <p:cNvSpPr txBox="1"/>
              <p:nvPr/>
            </p:nvSpPr>
            <p:spPr>
              <a:xfrm>
                <a:off x="772160" y="545194"/>
                <a:ext cx="6096000" cy="17239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Step 3 — SD</a:t>
                </a:r>
              </a:p>
              <a:p>
                <a:pPr>
                  <a:buNone/>
                </a:pPr>
                <a:r>
                  <a:rPr lang="en-IN" dirty="0"/>
                  <a:t>Formula: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grow m:val="on"/>
                                  <m:subHide m:val="on"/>
                                  <m:supHide m:val="on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nary>
                              <m:d>
                                <m:dPr>
                                  <m:endChr m:val="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limUpp>
                                    <m:limUp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Upp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lim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ˉ</m:t>
                                      </m:r>
                                    </m:lim>
                                  </m:limUpp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"/>
                                          <m:endChr m:val="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i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nary>
                                <m:naryPr>
                                  <m:chr m:val="∑"/>
                                  <m:grow m:val="on"/>
                                  <m:subHide m:val="on"/>
                                  <m:supHide m:val="on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nary>
                            </m:den>
                          </m:f>
                        </m:e>
                      </m:rad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4D79DA1-072F-0707-8BE2-7ECC880E2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160" y="545194"/>
                <a:ext cx="6096000" cy="1723933"/>
              </a:xfrm>
              <a:prstGeom prst="rect">
                <a:avLst/>
              </a:prstGeom>
              <a:blipFill>
                <a:blip r:embed="rId2"/>
                <a:stretch>
                  <a:fillRect l="-900" t="-17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4694BD-E65F-579B-DFF7-7906734FD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724654"/>
              </p:ext>
            </p:extLst>
          </p:nvPr>
        </p:nvGraphicFramePr>
        <p:xfrm>
          <a:off x="457200" y="2765901"/>
          <a:ext cx="8229600" cy="2194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369743904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015689328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98932579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15088494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4424659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m−mean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(m−mean)²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 × (m−mean)²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088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-20.5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420.25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2101.25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6445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-10.5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5093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-0.5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574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902.5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6805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19.5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380.25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1901.25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585907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07E84A4-18D9-CFB2-C9D0-DF4C50C72088}"/>
                  </a:ext>
                </a:extLst>
              </p:cNvPr>
              <p:cNvSpPr txBox="1"/>
              <p:nvPr/>
            </p:nvSpPr>
            <p:spPr>
              <a:xfrm>
                <a:off x="2407920" y="5457235"/>
                <a:ext cx="6096000" cy="11876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∑f(m−xˉ)2=5790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5790</m:t>
                              </m:r>
                            </m:num>
                            <m:den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</m:den>
                          </m:f>
                        </m:e>
                      </m:ra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144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75</m:t>
                          </m:r>
                        </m:e>
                      </m:ra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03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07E84A4-18D9-CFB2-C9D0-DF4C50C72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920" y="5457235"/>
                <a:ext cx="6096000" cy="1187697"/>
              </a:xfrm>
              <a:prstGeom prst="rect">
                <a:avLst/>
              </a:prstGeom>
              <a:blipFill>
                <a:blip r:embed="rId3"/>
                <a:stretch>
                  <a:fillRect l="-800" t="-25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087511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A76F63-4B44-9435-1D35-71A489C67369}"/>
                  </a:ext>
                </a:extLst>
              </p:cNvPr>
              <p:cNvSpPr txBox="1"/>
              <p:nvPr/>
            </p:nvSpPr>
            <p:spPr>
              <a:xfrm>
                <a:off x="822960" y="606663"/>
                <a:ext cx="6096000" cy="8897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Step 4 — CV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𝐶𝑉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03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35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33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90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A76F63-4B44-9435-1D35-71A489C67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606663"/>
                <a:ext cx="6096000" cy="889795"/>
              </a:xfrm>
              <a:prstGeom prst="rect">
                <a:avLst/>
              </a:prstGeom>
              <a:blipFill>
                <a:blip r:embed="rId2"/>
                <a:stretch>
                  <a:fillRect l="-800" t="-41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F9F5186-FAB3-ACB7-90A6-065FC11E5A46}"/>
              </a:ext>
            </a:extLst>
          </p:cNvPr>
          <p:cNvSpPr txBox="1"/>
          <p:nvPr/>
        </p:nvSpPr>
        <p:spPr>
          <a:xfrm>
            <a:off x="822960" y="219283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🔹 Final Answer (Q3)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Mean = 35.5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SD = 12.03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CV = 33.90%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88419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743F8D-5A51-2CD2-175D-F2395AD7C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479114"/>
              </p:ext>
            </p:extLst>
          </p:nvPr>
        </p:nvGraphicFramePr>
        <p:xfrm>
          <a:off x="863600" y="670560"/>
          <a:ext cx="10434319" cy="57099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90617">
                  <a:extLst>
                    <a:ext uri="{9D8B030D-6E8A-4147-A177-3AD203B41FA5}">
                      <a16:colId xmlns:a16="http://schemas.microsoft.com/office/drawing/2014/main" val="2826016007"/>
                    </a:ext>
                  </a:extLst>
                </a:gridCol>
                <a:gridCol w="1490617">
                  <a:extLst>
                    <a:ext uri="{9D8B030D-6E8A-4147-A177-3AD203B41FA5}">
                      <a16:colId xmlns:a16="http://schemas.microsoft.com/office/drawing/2014/main" val="1706587286"/>
                    </a:ext>
                  </a:extLst>
                </a:gridCol>
                <a:gridCol w="1915886">
                  <a:extLst>
                    <a:ext uri="{9D8B030D-6E8A-4147-A177-3AD203B41FA5}">
                      <a16:colId xmlns:a16="http://schemas.microsoft.com/office/drawing/2014/main" val="2155055461"/>
                    </a:ext>
                  </a:extLst>
                </a:gridCol>
                <a:gridCol w="1065348">
                  <a:extLst>
                    <a:ext uri="{9D8B030D-6E8A-4147-A177-3AD203B41FA5}">
                      <a16:colId xmlns:a16="http://schemas.microsoft.com/office/drawing/2014/main" val="3270962970"/>
                    </a:ext>
                  </a:extLst>
                </a:gridCol>
                <a:gridCol w="1490617">
                  <a:extLst>
                    <a:ext uri="{9D8B030D-6E8A-4147-A177-3AD203B41FA5}">
                      <a16:colId xmlns:a16="http://schemas.microsoft.com/office/drawing/2014/main" val="2590288784"/>
                    </a:ext>
                  </a:extLst>
                </a:gridCol>
                <a:gridCol w="1490617">
                  <a:extLst>
                    <a:ext uri="{9D8B030D-6E8A-4147-A177-3AD203B41FA5}">
                      <a16:colId xmlns:a16="http://schemas.microsoft.com/office/drawing/2014/main" val="203046916"/>
                    </a:ext>
                  </a:extLst>
                </a:gridCol>
                <a:gridCol w="1490617">
                  <a:extLst>
                    <a:ext uri="{9D8B030D-6E8A-4147-A177-3AD203B41FA5}">
                      <a16:colId xmlns:a16="http://schemas.microsoft.com/office/drawing/2014/main" val="3901705452"/>
                    </a:ext>
                  </a:extLst>
                </a:gridCol>
              </a:tblGrid>
              <a:tr h="648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Measure</a:t>
                      </a:r>
                    </a:p>
                  </a:txBody>
                  <a:tcPr marL="51431" marR="51431" marT="25716" marB="25716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What It Means</a:t>
                      </a:r>
                    </a:p>
                  </a:txBody>
                  <a:tcPr marL="51431" marR="51431" marT="25716" marB="25716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Formula (Basic)</a:t>
                      </a:r>
                    </a:p>
                  </a:txBody>
                  <a:tcPr marL="51431" marR="51431" marT="25716" marB="25716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Units</a:t>
                      </a:r>
                    </a:p>
                  </a:txBody>
                  <a:tcPr marL="51431" marR="51431" marT="25716" marB="25716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What It Tells You</a:t>
                      </a:r>
                    </a:p>
                  </a:txBody>
                  <a:tcPr marL="51431" marR="51431" marT="25716" marB="25716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When to Use</a:t>
                      </a:r>
                    </a:p>
                  </a:txBody>
                  <a:tcPr marL="51431" marR="51431" marT="25716" marB="25716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Example Interpretation</a:t>
                      </a:r>
                    </a:p>
                  </a:txBody>
                  <a:tcPr marL="51431" marR="51431" marT="25716" marB="25716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162178"/>
                  </a:ext>
                </a:extLst>
              </a:tr>
              <a:tr h="2400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Variance (</a:t>
                      </a:r>
                      <a:r>
                        <a:rPr lang="el-GR" sz="1600" b="1"/>
                        <a:t>σ² </a:t>
                      </a:r>
                      <a:r>
                        <a:rPr lang="en-IN" sz="1600" b="1"/>
                        <a:t>or s²)</a:t>
                      </a:r>
                      <a:endParaRPr lang="en-IN" sz="1600"/>
                    </a:p>
                  </a:txBody>
                  <a:tcPr marL="51431" marR="51431" marT="25716" marB="25716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Average of squared deviation from mean</a:t>
                      </a:r>
                    </a:p>
                  </a:txBody>
                  <a:tcPr marL="51431" marR="51431" marT="25716" marB="25716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/>
                    </a:p>
                  </a:txBody>
                  <a:tcPr marL="51431" marR="51431" marT="25716" marB="25716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Squared units</a:t>
                      </a:r>
                      <a:endParaRPr lang="en-IN" sz="1600" dirty="0"/>
                    </a:p>
                  </a:txBody>
                  <a:tcPr marL="51431" marR="51431" marT="25716" marB="25716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How spread out the data points are</a:t>
                      </a:r>
                    </a:p>
                  </a:txBody>
                  <a:tcPr marL="51431" marR="51431" marT="25716" marB="25716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When measuring overall dispersion; in statistical models</a:t>
                      </a:r>
                    </a:p>
                  </a:txBody>
                  <a:tcPr marL="51431" marR="51431" marT="25716" marB="25716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Variance = 100 → On average, values deviate “100 units²” from mean</a:t>
                      </a:r>
                    </a:p>
                  </a:txBody>
                  <a:tcPr marL="51431" marR="51431" marT="25716" marB="25716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0744947"/>
                  </a:ext>
                </a:extLst>
              </a:tr>
              <a:tr h="1232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Standard Deviation (σ or s)</a:t>
                      </a:r>
                      <a:endParaRPr lang="en-US" sz="1600"/>
                    </a:p>
                  </a:txBody>
                  <a:tcPr marL="51431" marR="51431" marT="25716" marB="25716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Square root of variance</a:t>
                      </a:r>
                    </a:p>
                  </a:txBody>
                  <a:tcPr marL="51431" marR="51431" marT="25716" marB="25716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/>
                    </a:p>
                  </a:txBody>
                  <a:tcPr marL="51431" marR="51431" marT="25716" marB="25716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Same units as data</a:t>
                      </a:r>
                      <a:endParaRPr lang="en-IN" sz="1600" dirty="0"/>
                    </a:p>
                  </a:txBody>
                  <a:tcPr marL="51431" marR="51431" marT="25716" marB="25716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How far each value is from the mean on average</a:t>
                      </a:r>
                    </a:p>
                  </a:txBody>
                  <a:tcPr marL="51431" marR="51431" marT="25716" marB="25716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To understand real-world variability easily</a:t>
                      </a:r>
                    </a:p>
                  </a:txBody>
                  <a:tcPr marL="51431" marR="51431" marT="25716" marB="25716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SD = 10 → Values vary ~10 units around mean</a:t>
                      </a:r>
                    </a:p>
                  </a:txBody>
                  <a:tcPr marL="51431" marR="51431" marT="25716" marB="25716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458331"/>
                  </a:ext>
                </a:extLst>
              </a:tr>
              <a:tr h="1427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Coefficient of Variation (CV)</a:t>
                      </a:r>
                      <a:endParaRPr lang="en-IN" sz="1600" dirty="0"/>
                    </a:p>
                  </a:txBody>
                  <a:tcPr marL="51431" marR="51431" marT="25716" marB="25716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Relative variation (SD compared to mean)</a:t>
                      </a:r>
                    </a:p>
                  </a:txBody>
                  <a:tcPr marL="51431" marR="51431" marT="25716" marB="25716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(SD / Mean )​×100</a:t>
                      </a:r>
                    </a:p>
                  </a:txBody>
                  <a:tcPr marL="51431" marR="51431" marT="25716" marB="25716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Percentage</a:t>
                      </a:r>
                      <a:endParaRPr lang="en-IN" sz="1600" dirty="0"/>
                    </a:p>
                  </a:txBody>
                  <a:tcPr marL="51431" marR="51431" marT="25716" marB="25716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Variation in proportion to the mean</a:t>
                      </a:r>
                    </a:p>
                  </a:txBody>
                  <a:tcPr marL="51431" marR="51431" marT="25716" marB="25716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To compare datasets with different units or scales</a:t>
                      </a:r>
                    </a:p>
                  </a:txBody>
                  <a:tcPr marL="51431" marR="51431" marT="25716" marB="25716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CV = 25% → Data has moderate variability</a:t>
                      </a:r>
                    </a:p>
                  </a:txBody>
                  <a:tcPr marL="51431" marR="51431" marT="25716" marB="25716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1720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8A8FAD5-00B3-B217-4044-7505A74D0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4194" y="2316480"/>
            <a:ext cx="1619476" cy="6477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CC5E7D-EB69-13FE-0D8D-F1774BF99DE9}"/>
              </a:ext>
            </a:extLst>
          </p:cNvPr>
          <p:cNvSpPr txBox="1"/>
          <p:nvPr/>
        </p:nvSpPr>
        <p:spPr>
          <a:xfrm>
            <a:off x="4378960" y="4240858"/>
            <a:ext cx="96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σ=</a:t>
            </a:r>
            <a:r>
              <a:rPr lang="en-US" dirty="0"/>
              <a:t>sqrt(</a:t>
            </a:r>
            <a:r>
              <a:rPr lang="el-GR" dirty="0"/>
              <a:t>σ2</a:t>
            </a:r>
            <a:r>
              <a:rPr lang="en-US" dirty="0"/>
              <a:t>)</a:t>
            </a:r>
            <a:r>
              <a:rPr lang="el-GR" dirty="0"/>
              <a:t>​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044925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74A813-2FB8-A884-D7E7-A4441EA4FC1C}"/>
              </a:ext>
            </a:extLst>
          </p:cNvPr>
          <p:cNvSpPr txBox="1"/>
          <p:nvPr/>
        </p:nvSpPr>
        <p:spPr>
          <a:xfrm>
            <a:off x="274320" y="1691977"/>
            <a:ext cx="52730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Q2 – Machine Output (Discrete Data)</a:t>
            </a:r>
          </a:p>
          <a:p>
            <a:pPr>
              <a:buNone/>
            </a:pPr>
            <a:r>
              <a:rPr lang="en-US" dirty="0"/>
              <a:t>A machine produced the following units over 6 hours:</a:t>
            </a:r>
          </a:p>
          <a:p>
            <a:pPr>
              <a:buNone/>
            </a:pPr>
            <a:r>
              <a:rPr lang="en-US" b="1" dirty="0"/>
              <a:t>25, 30, 28, 32, 29, 26</a:t>
            </a:r>
            <a:endParaRPr lang="en-US" dirty="0"/>
          </a:p>
          <a:p>
            <a:pPr>
              <a:buNone/>
            </a:pPr>
            <a:r>
              <a:rPr lang="en-US" dirty="0"/>
              <a:t>👉 Find: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Standard Deviation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Coefficient of Variation (CV)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895FDD-AA76-0E02-653E-1CDAA9C2BFB5}"/>
              </a:ext>
            </a:extLst>
          </p:cNvPr>
          <p:cNvSpPr txBox="1"/>
          <p:nvPr/>
        </p:nvSpPr>
        <p:spPr>
          <a:xfrm>
            <a:off x="6035040" y="1627723"/>
            <a:ext cx="58615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Q4 – Student Height Distribution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2D8F5BA-94D9-816C-2145-37501D0C7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460118"/>
              </p:ext>
            </p:extLst>
          </p:nvPr>
        </p:nvGraphicFramePr>
        <p:xfrm>
          <a:off x="5991225" y="2019756"/>
          <a:ext cx="5148384" cy="2194560"/>
        </p:xfrm>
        <a:graphic>
          <a:graphicData uri="http://schemas.openxmlformats.org/drawingml/2006/table">
            <a:tbl>
              <a:tblPr/>
              <a:tblGrid>
                <a:gridCol w="2574192">
                  <a:extLst>
                    <a:ext uri="{9D8B030D-6E8A-4147-A177-3AD203B41FA5}">
                      <a16:colId xmlns:a16="http://schemas.microsoft.com/office/drawing/2014/main" val="4091283129"/>
                    </a:ext>
                  </a:extLst>
                </a:gridCol>
                <a:gridCol w="2574192">
                  <a:extLst>
                    <a:ext uri="{9D8B030D-6E8A-4147-A177-3AD203B41FA5}">
                      <a16:colId xmlns:a16="http://schemas.microsoft.com/office/drawing/2014/main" val="764143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Height (cm)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Frequency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422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140–150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849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150–160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086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160–170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257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170–180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513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180–190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32676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C6FA037-EE79-A458-46BD-EB8733484FDF}"/>
              </a:ext>
            </a:extLst>
          </p:cNvPr>
          <p:cNvSpPr txBox="1"/>
          <p:nvPr/>
        </p:nvSpPr>
        <p:spPr>
          <a:xfrm>
            <a:off x="6035040" y="4423956"/>
            <a:ext cx="60959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👉 Find: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Mean (Grouped)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Standard Deviation (Grouped)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CV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B1A499-5DEA-6623-17DD-4209157D8308}"/>
              </a:ext>
            </a:extLst>
          </p:cNvPr>
          <p:cNvCxnSpPr/>
          <p:nvPr/>
        </p:nvCxnSpPr>
        <p:spPr>
          <a:xfrm>
            <a:off x="5648960" y="1371600"/>
            <a:ext cx="0" cy="528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80539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27D9221-1A25-4816-4845-26C54EC87113}"/>
              </a:ext>
            </a:extLst>
          </p:cNvPr>
          <p:cNvSpPr txBox="1"/>
          <p:nvPr/>
        </p:nvSpPr>
        <p:spPr>
          <a:xfrm>
            <a:off x="2580799" y="571791"/>
            <a:ext cx="702722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IN" sz="2800" b="1" dirty="0"/>
              <a:t>Shape</a:t>
            </a:r>
            <a:endParaRPr lang="en-IN" sz="2800" dirty="0"/>
          </a:p>
          <a:p>
            <a:pPr lvl="0" algn="ctr"/>
            <a:r>
              <a:rPr lang="en-IN" sz="2800" dirty="0"/>
              <a:t>Skewness, Kurtosis, Normal distribution check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E92238-5E14-A527-71A1-2337669B96EB}"/>
              </a:ext>
            </a:extLst>
          </p:cNvPr>
          <p:cNvSpPr txBox="1"/>
          <p:nvPr/>
        </p:nvSpPr>
        <p:spPr>
          <a:xfrm>
            <a:off x="502921" y="2001581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Shape of a Distribution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A89D0E-A4FB-B232-8126-F20148619648}"/>
              </a:ext>
            </a:extLst>
          </p:cNvPr>
          <p:cNvSpPr txBox="1"/>
          <p:nvPr/>
        </p:nvSpPr>
        <p:spPr>
          <a:xfrm>
            <a:off x="1400696" y="2690336"/>
            <a:ext cx="84748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The </a:t>
            </a:r>
            <a:r>
              <a:rPr lang="en-US" b="1" dirty="0"/>
              <a:t>shape</a:t>
            </a:r>
            <a:r>
              <a:rPr lang="en-US" dirty="0"/>
              <a:t> of a data distribution tells us </a:t>
            </a:r>
            <a:r>
              <a:rPr lang="en-US" b="1" dirty="0"/>
              <a:t>how the data values are spread and clustered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 main shape measures are: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Skewness</a:t>
            </a:r>
            <a:r>
              <a:rPr lang="en-US" dirty="0"/>
              <a:t> – symmetry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Kurtosis</a:t>
            </a:r>
            <a:r>
              <a:rPr lang="en-US" dirty="0"/>
              <a:t> – </a:t>
            </a:r>
            <a:r>
              <a:rPr lang="en-US" dirty="0" err="1"/>
              <a:t>peakedness</a:t>
            </a:r>
            <a:r>
              <a:rPr lang="en-US" dirty="0"/>
              <a:t> / tail behavior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Normal Distribution check</a:t>
            </a:r>
            <a:r>
              <a:rPr lang="en-US" dirty="0"/>
              <a:t> – whether data follows a bell shape</a:t>
            </a:r>
          </a:p>
        </p:txBody>
      </p:sp>
    </p:spTree>
    <p:extLst>
      <p:ext uri="{BB962C8B-B14F-4D97-AF65-F5344CB8AC3E}">
        <p14:creationId xmlns:p14="http://schemas.microsoft.com/office/powerpoint/2010/main" val="4566678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 – Skewness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Skewness measures asymmetry of the distribution.</a:t>
            </a:r>
          </a:p>
          <a:p>
            <a:r>
              <a:rPr dirty="0"/>
              <a:t>Right-skewed (positive): long tail on right (e.g., income data).</a:t>
            </a:r>
          </a:p>
          <a:p>
            <a:r>
              <a:rPr dirty="0"/>
              <a:t>Left-skewed (negative): long tail on left.</a:t>
            </a:r>
          </a:p>
          <a:p>
            <a:r>
              <a:rPr dirty="0"/>
              <a:t>Skewness ≈ 0: roughly symmetric.</a:t>
            </a:r>
          </a:p>
          <a:p>
            <a:r>
              <a:rPr dirty="0"/>
              <a:t>In Excel: =SKEW(A2:A11)</a:t>
            </a:r>
          </a:p>
          <a:p>
            <a:r>
              <a:rPr dirty="0"/>
              <a:t>[IMAGE PLACEHOLDER: diagrams of left/right skewed distributions]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A6A9081-DD16-3B48-762E-542FE92E981D}"/>
              </a:ext>
            </a:extLst>
          </p:cNvPr>
          <p:cNvSpPr txBox="1"/>
          <p:nvPr/>
        </p:nvSpPr>
        <p:spPr>
          <a:xfrm>
            <a:off x="4060768" y="571792"/>
            <a:ext cx="3387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Skewness (Measure of Symmetry)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5120BF-2CC3-594C-BFC7-B6FB51593FA6}"/>
              </a:ext>
            </a:extLst>
          </p:cNvPr>
          <p:cNvSpPr txBox="1"/>
          <p:nvPr/>
        </p:nvSpPr>
        <p:spPr>
          <a:xfrm>
            <a:off x="719051" y="1358822"/>
            <a:ext cx="106361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is Skewness?</a:t>
            </a:r>
          </a:p>
          <a:p>
            <a:pPr>
              <a:buNone/>
            </a:pPr>
            <a:r>
              <a:rPr lang="en-US" dirty="0"/>
              <a:t>Skewness shows </a:t>
            </a:r>
            <a:r>
              <a:rPr lang="en-US" b="1" dirty="0"/>
              <a:t>whether data is symmetric or tilted (skewed)</a:t>
            </a:r>
            <a:r>
              <a:rPr lang="en-US" dirty="0"/>
              <a:t> to one side.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58859A-5ABC-F6B1-DB44-BB2513CD613D}"/>
              </a:ext>
            </a:extLst>
          </p:cNvPr>
          <p:cNvSpPr txBox="1"/>
          <p:nvPr/>
        </p:nvSpPr>
        <p:spPr>
          <a:xfrm>
            <a:off x="719051" y="2422851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Types of Skewness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D678B45-F746-4D0D-0B6A-5C98274D1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167296"/>
              </p:ext>
            </p:extLst>
          </p:nvPr>
        </p:nvGraphicFramePr>
        <p:xfrm>
          <a:off x="1639686" y="2931973"/>
          <a:ext cx="8229600" cy="1463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371099438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35942391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700666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907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Zero skewness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Perfectly symmetric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Height of people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3944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Positive skewness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Tail towards right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Income, salary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6870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Negative skewness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Tail towards left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Marks in easy exam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892494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5615344-70B0-DFA5-A8C5-A3662A322380}"/>
              </a:ext>
            </a:extLst>
          </p:cNvPr>
          <p:cNvSpPr txBox="1"/>
          <p:nvPr/>
        </p:nvSpPr>
        <p:spPr>
          <a:xfrm>
            <a:off x="719050" y="4808880"/>
            <a:ext cx="957210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Visual Understanding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Positive Skewed (Right-skewed)</a:t>
            </a:r>
            <a:br>
              <a:rPr lang="en-US" dirty="0"/>
            </a:br>
            <a:r>
              <a:rPr lang="en-US" dirty="0"/>
              <a:t>Mean &gt; Median &gt; Mode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Negative Skewed (Left-skewed)</a:t>
            </a:r>
            <a:br>
              <a:rPr lang="en-US" dirty="0"/>
            </a:br>
            <a:r>
              <a:rPr lang="en-US" dirty="0"/>
              <a:t>Mean &lt; Median &lt; Mode</a:t>
            </a:r>
          </a:p>
        </p:txBody>
      </p:sp>
      <p:pic>
        <p:nvPicPr>
          <p:cNvPr id="1026" name="Picture 2" descr="Skewed To The Right">
            <a:extLst>
              <a:ext uri="{FF2B5EF4-FFF2-40B4-BE49-F238E27FC236}">
                <a16:creationId xmlns:a16="http://schemas.microsoft.com/office/drawing/2014/main" id="{654A3C06-DA19-4842-6C07-AF8232249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1535" y="4808880"/>
            <a:ext cx="3504623" cy="1843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062253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6CC67-557B-01F5-948B-7D2DA1BDF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A785030-2F62-A0C2-F04C-B57EED36BB89}"/>
                  </a:ext>
                </a:extLst>
              </p:cNvPr>
              <p:cNvSpPr txBox="1"/>
              <p:nvPr/>
            </p:nvSpPr>
            <p:spPr>
              <a:xfrm>
                <a:off x="3047798" y="832506"/>
                <a:ext cx="6093228" cy="17099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Formula for Skewness (Karl Pearson)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Skewness</m:t>
                      </m:r>
                      <m:r>
                        <a:rPr lang="en-IN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b="0" i="1">
                              <a:latin typeface="Cambria Math" panose="02040503050406030204" pitchFamily="18" charset="0"/>
                            </a:rPr>
                            <m:t>Mean</m:t>
                          </m:r>
                          <m:r>
                            <a:rPr lang="en-IN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IN" b="0" i="1">
                              <a:latin typeface="Cambria Math" panose="02040503050406030204" pitchFamily="18" charset="0"/>
                            </a:rPr>
                            <m:t>Mode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b="0" i="1">
                              <a:latin typeface="Cambria Math" panose="02040503050406030204" pitchFamily="18" charset="0"/>
                            </a:rPr>
                            <m:t>Standard</m:t>
                          </m:r>
                          <m:r>
                            <m:rPr>
                              <m:nor/>
                            </m:rPr>
                            <a:rPr lang="en-IN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="0" i="1">
                              <a:latin typeface="Cambria Math" panose="02040503050406030204" pitchFamily="18" charset="0"/>
                            </a:rPr>
                            <m:t>Deviation</m:t>
                          </m:r>
                        </m:den>
                      </m:f>
                    </m:oMath>
                  </m:oMathPara>
                </a14:m>
                <a:endParaRPr lang="ar-AE" b="0" dirty="0"/>
              </a:p>
              <a:p>
                <a:pPr>
                  <a:buNone/>
                </a:pPr>
                <a:r>
                  <a:rPr lang="en-IN" dirty="0"/>
                  <a:t>OR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Skewness</m:t>
                      </m:r>
                      <m:r>
                        <a:rPr lang="en-IN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3</m:t>
                          </m:r>
                          <m:d>
                            <m:d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IN" b="0" i="1">
                                  <a:latin typeface="Cambria Math" panose="02040503050406030204" pitchFamily="18" charset="0"/>
                                </a:rPr>
                                <m:t>Mean</m:t>
                              </m:r>
                              <m:r>
                                <a:rPr lang="en-IN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IN" b="0" i="1">
                                  <a:latin typeface="Cambria Math" panose="02040503050406030204" pitchFamily="18" charset="0"/>
                                </a:rPr>
                                <m:t>Median</m:t>
                              </m:r>
                            </m:e>
                          </m:d>
                        </m:num>
                        <m:den>
                          <m:r>
                            <m:rPr>
                              <m:nor/>
                            </m:rPr>
                            <a:rPr lang="en-IN" b="0" i="1">
                              <a:latin typeface="Cambria Math" panose="02040503050406030204" pitchFamily="18" charset="0"/>
                            </a:rPr>
                            <m:t>Standard</m:t>
                          </m:r>
                          <m:r>
                            <m:rPr>
                              <m:nor/>
                            </m:rPr>
                            <a:rPr lang="en-IN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="0" i="1">
                              <a:latin typeface="Cambria Math" panose="02040503050406030204" pitchFamily="18" charset="0"/>
                            </a:rPr>
                            <m:t>Deviation</m:t>
                          </m:r>
                        </m:den>
                      </m:f>
                    </m:oMath>
                  </m:oMathPara>
                </a14:m>
                <a:endParaRPr lang="ar-AE" b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A785030-2F62-A0C2-F04C-B57EED36B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798" y="832506"/>
                <a:ext cx="6093228" cy="1709955"/>
              </a:xfrm>
              <a:prstGeom prst="rect">
                <a:avLst/>
              </a:prstGeom>
              <a:blipFill>
                <a:blip r:embed="rId2"/>
                <a:stretch>
                  <a:fillRect l="-900" t="-2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DAADC68-3185-8AC7-7959-D0D3AC665785}"/>
                  </a:ext>
                </a:extLst>
              </p:cNvPr>
              <p:cNvSpPr txBox="1"/>
              <p:nvPr/>
            </p:nvSpPr>
            <p:spPr>
              <a:xfrm>
                <a:off x="1167938" y="2892618"/>
                <a:ext cx="6093228" cy="28458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Example Sum – Skewness</a:t>
                </a:r>
              </a:p>
              <a:p>
                <a:pPr>
                  <a:buNone/>
                </a:pPr>
                <a:r>
                  <a:rPr lang="en-IN" b="1" dirty="0"/>
                  <a:t>Question:</a:t>
                </a:r>
                <a:br>
                  <a:rPr lang="en-IN" dirty="0"/>
                </a:br>
                <a:r>
                  <a:rPr lang="en-IN" dirty="0"/>
                  <a:t>Mean = 60</a:t>
                </a:r>
                <a:br>
                  <a:rPr lang="en-IN" dirty="0"/>
                </a:br>
                <a:r>
                  <a:rPr lang="en-IN" dirty="0"/>
                  <a:t>Median = 55</a:t>
                </a:r>
                <a:br>
                  <a:rPr lang="en-IN" dirty="0"/>
                </a:br>
                <a:r>
                  <a:rPr lang="en-IN" dirty="0"/>
                  <a:t>Standard Deviation = 10</a:t>
                </a:r>
              </a:p>
              <a:p>
                <a:pPr>
                  <a:buNone/>
                </a:pPr>
                <a:r>
                  <a:rPr lang="en-IN" b="1" dirty="0"/>
                  <a:t>Answer:</a:t>
                </a:r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Skewness</m:t>
                      </m:r>
                      <m:r>
                        <a:rPr lang="en-IN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3</m:t>
                          </m:r>
                          <m:d>
                            <m:d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55</m:t>
                              </m:r>
                            </m:e>
                          </m:d>
                        </m:num>
                        <m:den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ar-AE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ar-AE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ar-AE" b="0" dirty="0"/>
              </a:p>
              <a:p>
                <a:pPr>
                  <a:buNone/>
                </a:pPr>
                <a:r>
                  <a:rPr lang="en-IN" b="1" dirty="0"/>
                  <a:t>Interpretation:</a:t>
                </a:r>
                <a:br>
                  <a:rPr lang="en-IN" dirty="0"/>
                </a:br>
                <a:r>
                  <a:rPr lang="en-IN" dirty="0"/>
                  <a:t>✔ Positively skewed distribution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DAADC68-3185-8AC7-7959-D0D3AC665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938" y="2892618"/>
                <a:ext cx="6093228" cy="2845844"/>
              </a:xfrm>
              <a:prstGeom prst="rect">
                <a:avLst/>
              </a:prstGeom>
              <a:blipFill>
                <a:blip r:embed="rId3"/>
                <a:stretch>
                  <a:fillRect l="-901" t="-1288" b="-27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08AEDB8-6435-A88B-279D-86D40A5BCB34}"/>
              </a:ext>
            </a:extLst>
          </p:cNvPr>
          <p:cNvSpPr txBox="1"/>
          <p:nvPr/>
        </p:nvSpPr>
        <p:spPr>
          <a:xfrm>
            <a:off x="7261166" y="2879158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Interpretation Table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7BF9B7-0CB3-75D1-8D73-DF3F8377A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599704"/>
              </p:ext>
            </p:extLst>
          </p:nvPr>
        </p:nvGraphicFramePr>
        <p:xfrm>
          <a:off x="7261166" y="3761956"/>
          <a:ext cx="4725788" cy="1463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62894">
                  <a:extLst>
                    <a:ext uri="{9D8B030D-6E8A-4147-A177-3AD203B41FA5}">
                      <a16:colId xmlns:a16="http://schemas.microsoft.com/office/drawing/2014/main" val="4226135498"/>
                    </a:ext>
                  </a:extLst>
                </a:gridCol>
                <a:gridCol w="2362894">
                  <a:extLst>
                    <a:ext uri="{9D8B030D-6E8A-4147-A177-3AD203B41FA5}">
                      <a16:colId xmlns:a16="http://schemas.microsoft.com/office/drawing/2014/main" val="3420903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Skewness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901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Symmetrical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8307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&gt;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Positively skewed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0011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&lt;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Negatively skewed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065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589197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Shape – Kurtosis &amp; Normal Distribution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Kurtosis measures '</a:t>
            </a:r>
            <a:r>
              <a:rPr dirty="0" err="1"/>
              <a:t>tailedness</a:t>
            </a:r>
            <a:r>
              <a:rPr dirty="0"/>
              <a:t>' – how heavy the tails are.</a:t>
            </a:r>
          </a:p>
          <a:p>
            <a:r>
              <a:rPr dirty="0"/>
              <a:t>High kurtosis: more extreme values (heavy tails).</a:t>
            </a:r>
          </a:p>
          <a:p>
            <a:r>
              <a:rPr dirty="0"/>
              <a:t>Low kurtosis: fewer extreme values (light tails).</a:t>
            </a:r>
          </a:p>
          <a:p>
            <a:r>
              <a:rPr dirty="0"/>
              <a:t>In Excel: =KURT(A2:A11)</a:t>
            </a:r>
          </a:p>
          <a:p>
            <a:r>
              <a:rPr dirty="0"/>
              <a:t>Normal distribution check:</a:t>
            </a:r>
          </a:p>
          <a:p>
            <a:pPr lvl="1"/>
            <a:r>
              <a:rPr dirty="0"/>
              <a:t>• Histogram looks bell-shaped</a:t>
            </a:r>
          </a:p>
          <a:p>
            <a:pPr lvl="1"/>
            <a:r>
              <a:rPr dirty="0"/>
              <a:t>• Mean ≈ median</a:t>
            </a:r>
          </a:p>
          <a:p>
            <a:pPr lvl="1"/>
            <a:r>
              <a:rPr dirty="0"/>
              <a:t>• Many values within ±1, ±2 standard deviations</a:t>
            </a:r>
          </a:p>
          <a:p>
            <a:r>
              <a:rPr dirty="0"/>
              <a:t>[IMAGE PLACEHOLDER: normal distribution curve]</a:t>
            </a:r>
          </a:p>
        </p:txBody>
      </p:sp>
      <p:pic>
        <p:nvPicPr>
          <p:cNvPr id="2050" name="Picture 2" descr="Kurtosis">
            <a:extLst>
              <a:ext uri="{FF2B5EF4-FFF2-40B4-BE49-F238E27FC236}">
                <a16:creationId xmlns:a16="http://schemas.microsoft.com/office/drawing/2014/main" id="{F8445B7E-3C06-6435-1F5D-9C5ADE932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4679" y="1600200"/>
            <a:ext cx="4224146" cy="3088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B9F4B-4BDD-9FB3-390C-0DA66588D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A63464-65E8-1685-6E49-2101F13531FE}"/>
              </a:ext>
            </a:extLst>
          </p:cNvPr>
          <p:cNvSpPr txBox="1"/>
          <p:nvPr/>
        </p:nvSpPr>
        <p:spPr>
          <a:xfrm>
            <a:off x="4692535" y="488664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Kurtosis (Measure of </a:t>
            </a:r>
            <a:r>
              <a:rPr lang="en-IN" dirty="0" err="1"/>
              <a:t>Peakedness</a:t>
            </a:r>
            <a:r>
              <a:rPr lang="en-IN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3E7482-FDC6-F6C1-20D2-FB9AA15F1D7D}"/>
              </a:ext>
            </a:extLst>
          </p:cNvPr>
          <p:cNvSpPr txBox="1"/>
          <p:nvPr/>
        </p:nvSpPr>
        <p:spPr>
          <a:xfrm>
            <a:off x="918557" y="1358822"/>
            <a:ext cx="88073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is Kurtosis?</a:t>
            </a:r>
          </a:p>
          <a:p>
            <a:pPr>
              <a:buNone/>
            </a:pPr>
            <a:r>
              <a:rPr lang="en-US" dirty="0"/>
              <a:t>Kurtosis measures </a:t>
            </a:r>
            <a:r>
              <a:rPr lang="en-US" b="1" dirty="0"/>
              <a:t>how peaked or flat a distribution is compared to a normal distribution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8D71F1-1054-145F-594F-A0C64E5F6B5B}"/>
              </a:ext>
            </a:extLst>
          </p:cNvPr>
          <p:cNvSpPr txBox="1"/>
          <p:nvPr/>
        </p:nvSpPr>
        <p:spPr>
          <a:xfrm>
            <a:off x="918557" y="2505979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Types of Kurtosis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C8ACF58-3E70-0B53-7DD7-A53DD4B51D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635345"/>
              </p:ext>
            </p:extLst>
          </p:nvPr>
        </p:nvGraphicFramePr>
        <p:xfrm>
          <a:off x="1720735" y="3131661"/>
          <a:ext cx="8229600" cy="1463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313971721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2328229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5665762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8963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Mesokurtic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Average peak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2471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Leptokurtic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peak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More outliers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7408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Platykurtic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Flat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Fewer extreme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736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691705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6EB1183-148D-4175-62E8-4136CFDF4D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823651"/>
              </p:ext>
            </p:extLst>
          </p:nvPr>
        </p:nvGraphicFramePr>
        <p:xfrm>
          <a:off x="457200" y="787472"/>
          <a:ext cx="8229600" cy="14630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80894786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749740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Kurtosis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Distribution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148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=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Mesokurtic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710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&gt;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Leptokurtic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180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&lt;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Platykurtic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47784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14FB39F1-E874-F461-418A-2CD22CC34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765474"/>
            <a:ext cx="440944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Some books 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Excess Kurtosis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Excess Kurtosis = Kurtosis − 3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67EAE9-736D-ABDB-F64F-AF1C53F44181}"/>
              </a:ext>
            </a:extLst>
          </p:cNvPr>
          <p:cNvSpPr txBox="1"/>
          <p:nvPr/>
        </p:nvSpPr>
        <p:spPr>
          <a:xfrm>
            <a:off x="457200" y="22265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Kurtosis Values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D2A65C-658F-C2BE-DF1E-0737319A4B2A}"/>
              </a:ext>
            </a:extLst>
          </p:cNvPr>
          <p:cNvSpPr txBox="1"/>
          <p:nvPr/>
        </p:nvSpPr>
        <p:spPr>
          <a:xfrm>
            <a:off x="457200" y="358547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 Sum – Kurtosis</a:t>
            </a:r>
          </a:p>
          <a:p>
            <a:pPr>
              <a:buNone/>
            </a:pPr>
            <a:r>
              <a:rPr lang="en-IN" b="1" dirty="0"/>
              <a:t>Question:</a:t>
            </a:r>
            <a:br>
              <a:rPr lang="en-IN" dirty="0"/>
            </a:br>
            <a:r>
              <a:rPr lang="en-IN" dirty="0"/>
              <a:t>Calculated Kurtosis = 4.8</a:t>
            </a:r>
          </a:p>
          <a:p>
            <a:pPr>
              <a:buNone/>
            </a:pPr>
            <a:r>
              <a:rPr lang="en-IN" b="1" dirty="0"/>
              <a:t>Answer:</a:t>
            </a:r>
            <a:br>
              <a:rPr lang="en-IN" dirty="0"/>
            </a:br>
            <a:r>
              <a:rPr lang="en-IN" dirty="0"/>
              <a:t>4.8 &gt; 3 → </a:t>
            </a:r>
            <a:r>
              <a:rPr lang="en-IN" b="1" dirty="0"/>
              <a:t>Leptokurtic</a:t>
            </a:r>
            <a:endParaRPr lang="en-IN" dirty="0"/>
          </a:p>
          <a:p>
            <a:pPr>
              <a:buNone/>
            </a:pPr>
            <a:r>
              <a:rPr lang="en-IN" b="1" dirty="0"/>
              <a:t>Interpretation:</a:t>
            </a:r>
            <a:br>
              <a:rPr lang="en-IN" dirty="0"/>
            </a:br>
            <a:r>
              <a:rPr lang="en-IN" dirty="0"/>
              <a:t>✔ Distribution is highly peaked</a:t>
            </a:r>
            <a:br>
              <a:rPr lang="en-IN" dirty="0"/>
            </a:br>
            <a:r>
              <a:rPr lang="en-IN" dirty="0"/>
              <a:t>✔ More extreme values (outliers)</a:t>
            </a:r>
          </a:p>
        </p:txBody>
      </p:sp>
    </p:spTree>
    <p:extLst>
      <p:ext uri="{BB962C8B-B14F-4D97-AF65-F5344CB8AC3E}">
        <p14:creationId xmlns:p14="http://schemas.microsoft.com/office/powerpoint/2010/main" val="211321287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630DE8-6F42-A36C-2EE2-98CBBF117863}"/>
              </a:ext>
            </a:extLst>
          </p:cNvPr>
          <p:cNvSpPr txBox="1"/>
          <p:nvPr/>
        </p:nvSpPr>
        <p:spPr>
          <a:xfrm>
            <a:off x="172720" y="58721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Another Example</a:t>
            </a:r>
          </a:p>
          <a:p>
            <a:pPr>
              <a:buNone/>
            </a:pPr>
            <a:r>
              <a:rPr lang="en-US" b="1" dirty="0"/>
              <a:t>Question:</a:t>
            </a:r>
            <a:br>
              <a:rPr lang="en-US" dirty="0"/>
            </a:br>
            <a:r>
              <a:rPr lang="en-US" dirty="0"/>
              <a:t>Excess Kurtosis = −1.2</a:t>
            </a:r>
          </a:p>
          <a:p>
            <a:pPr>
              <a:buNone/>
            </a:pPr>
            <a:r>
              <a:rPr lang="en-US" b="1" dirty="0"/>
              <a:t>Answer:</a:t>
            </a:r>
            <a:br>
              <a:rPr lang="en-US" dirty="0"/>
            </a:br>
            <a:r>
              <a:rPr lang="en-US" dirty="0"/>
              <a:t>Negative value → </a:t>
            </a:r>
            <a:r>
              <a:rPr lang="en-US" b="1" dirty="0"/>
              <a:t>Platykurtic distribution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61717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A2229B-37C6-57E8-739B-D9B263838C3A}"/>
              </a:ext>
            </a:extLst>
          </p:cNvPr>
          <p:cNvSpPr txBox="1"/>
          <p:nvPr/>
        </p:nvSpPr>
        <p:spPr>
          <a:xfrm>
            <a:off x="4469745" y="28563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Normal Distribution Check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8F6420-2996-F03A-3A66-4075C55B3176}"/>
              </a:ext>
            </a:extLst>
          </p:cNvPr>
          <p:cNvSpPr txBox="1"/>
          <p:nvPr/>
        </p:nvSpPr>
        <p:spPr>
          <a:xfrm>
            <a:off x="772160" y="103799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is Normal Distribution?</a:t>
            </a:r>
          </a:p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Normal Distribution</a:t>
            </a:r>
            <a:r>
              <a:rPr lang="en-US" dirty="0"/>
              <a:t> is a </a:t>
            </a:r>
            <a:r>
              <a:rPr lang="en-US" b="1" dirty="0"/>
              <a:t>bell-shaped, symmetric distribution</a:t>
            </a:r>
            <a:r>
              <a:rPr lang="en-US" dirty="0"/>
              <a:t> 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Mean = Median = Mode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Skewness = 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Kurtosis =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7D4EEC-638D-B061-0EB6-AEDDA51F1AD3}"/>
              </a:ext>
            </a:extLst>
          </p:cNvPr>
          <p:cNvSpPr txBox="1"/>
          <p:nvPr/>
        </p:nvSpPr>
        <p:spPr>
          <a:xfrm>
            <a:off x="772160" y="30970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Properties of Normal Distribution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0D44913-4A49-E326-0E3B-0839C6FCDB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256385"/>
              </p:ext>
            </p:extLst>
          </p:nvPr>
        </p:nvGraphicFramePr>
        <p:xfrm>
          <a:off x="883920" y="3558381"/>
          <a:ext cx="5210492" cy="1463040"/>
        </p:xfrm>
        <a:graphic>
          <a:graphicData uri="http://schemas.openxmlformats.org/drawingml/2006/table">
            <a:tbl>
              <a:tblPr/>
              <a:tblGrid>
                <a:gridCol w="2605246">
                  <a:extLst>
                    <a:ext uri="{9D8B030D-6E8A-4147-A177-3AD203B41FA5}">
                      <a16:colId xmlns:a16="http://schemas.microsoft.com/office/drawing/2014/main" val="2964096446"/>
                    </a:ext>
                  </a:extLst>
                </a:gridCol>
                <a:gridCol w="2605246">
                  <a:extLst>
                    <a:ext uri="{9D8B030D-6E8A-4147-A177-3AD203B41FA5}">
                      <a16:colId xmlns:a16="http://schemas.microsoft.com/office/drawing/2014/main" val="20923165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Explanation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1436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68% rule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within ±1 SD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1563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95% rule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within ±2 SD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36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99.7% rule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within ±3 SD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234056"/>
                  </a:ext>
                </a:extLst>
              </a:tr>
            </a:tbl>
          </a:graphicData>
        </a:graphic>
      </p:graphicFrame>
      <p:pic>
        <p:nvPicPr>
          <p:cNvPr id="3078" name="Picture 6" descr="Grafika wektorowa Stock: Vector scientific graph or chart with a ...">
            <a:extLst>
              <a:ext uri="{FF2B5EF4-FFF2-40B4-BE49-F238E27FC236}">
                <a16:creationId xmlns:a16="http://schemas.microsoft.com/office/drawing/2014/main" id="{392FE0B2-172B-0BEF-1632-CFED1CA02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412" y="2125821"/>
            <a:ext cx="5960428" cy="4565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031319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B57807-4D46-0D01-B392-398B988B6D55}"/>
              </a:ext>
            </a:extLst>
          </p:cNvPr>
          <p:cNvSpPr txBox="1"/>
          <p:nvPr/>
        </p:nvSpPr>
        <p:spPr>
          <a:xfrm>
            <a:off x="1402080" y="56153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 Question – Normal Check</a:t>
            </a:r>
          </a:p>
          <a:p>
            <a:pPr>
              <a:buNone/>
            </a:pPr>
            <a:r>
              <a:rPr lang="en-IN" b="1" dirty="0"/>
              <a:t>Question:</a:t>
            </a:r>
            <a:br>
              <a:rPr lang="en-IN" dirty="0"/>
            </a:br>
            <a:r>
              <a:rPr lang="en-IN" dirty="0"/>
              <a:t>Mean = 50</a:t>
            </a:r>
            <a:br>
              <a:rPr lang="en-IN" dirty="0"/>
            </a:br>
            <a:r>
              <a:rPr lang="en-IN" dirty="0"/>
              <a:t>Median = 50</a:t>
            </a:r>
            <a:br>
              <a:rPr lang="en-IN" dirty="0"/>
            </a:br>
            <a:r>
              <a:rPr lang="en-IN" dirty="0"/>
              <a:t>Mode = 50</a:t>
            </a:r>
            <a:br>
              <a:rPr lang="en-IN" dirty="0"/>
            </a:br>
            <a:r>
              <a:rPr lang="en-IN" dirty="0"/>
              <a:t>Skewness = 0</a:t>
            </a:r>
            <a:br>
              <a:rPr lang="en-IN" dirty="0"/>
            </a:br>
            <a:r>
              <a:rPr lang="en-IN" dirty="0"/>
              <a:t>Kurtosis = 3</a:t>
            </a:r>
          </a:p>
          <a:p>
            <a:pPr>
              <a:buNone/>
            </a:pPr>
            <a:r>
              <a:rPr lang="en-IN" b="1" dirty="0"/>
              <a:t>Answer:</a:t>
            </a:r>
            <a:br>
              <a:rPr lang="en-IN" dirty="0"/>
            </a:br>
            <a:r>
              <a:rPr lang="en-IN" dirty="0"/>
              <a:t>✔ Data follows </a:t>
            </a:r>
            <a:r>
              <a:rPr lang="en-IN" b="1" dirty="0"/>
              <a:t>Normal Distribution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37C421-F5ED-15FA-DB8F-C3A0A63551B1}"/>
              </a:ext>
            </a:extLst>
          </p:cNvPr>
          <p:cNvSpPr txBox="1"/>
          <p:nvPr/>
        </p:nvSpPr>
        <p:spPr>
          <a:xfrm>
            <a:off x="1402080" y="371113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Practical Normality Check (for students)</a:t>
            </a:r>
          </a:p>
          <a:p>
            <a:pPr>
              <a:buNone/>
            </a:pPr>
            <a:r>
              <a:rPr lang="en-US" dirty="0"/>
              <a:t>Data is approximately normal if: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Skewness is between </a:t>
            </a:r>
            <a:r>
              <a:rPr lang="en-US" b="1" dirty="0"/>
              <a:t>−1 and +1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Kurtosis is between </a:t>
            </a:r>
            <a:r>
              <a:rPr lang="en-US" b="1" dirty="0"/>
              <a:t>2 and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30971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4A8C08-9822-A27D-8544-00E0AAD60421}"/>
              </a:ext>
            </a:extLst>
          </p:cNvPr>
          <p:cNvSpPr txBox="1"/>
          <p:nvPr/>
        </p:nvSpPr>
        <p:spPr>
          <a:xfrm>
            <a:off x="4210397" y="555166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Univariate vs Multivariate Analysis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83A44A-F58A-0F25-F95A-88E0B161F454}"/>
              </a:ext>
            </a:extLst>
          </p:cNvPr>
          <p:cNvSpPr txBox="1"/>
          <p:nvPr/>
        </p:nvSpPr>
        <p:spPr>
          <a:xfrm>
            <a:off x="453045" y="1680202"/>
            <a:ext cx="60932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is Univariate Analysis?</a:t>
            </a:r>
          </a:p>
          <a:p>
            <a:pPr>
              <a:buNone/>
            </a:pPr>
            <a:r>
              <a:rPr lang="en-US" dirty="0"/>
              <a:t>Analysis of </a:t>
            </a:r>
            <a:r>
              <a:rPr lang="en-US" b="1" dirty="0"/>
              <a:t>one variable only</a:t>
            </a:r>
            <a:r>
              <a:rPr lang="en-US" dirty="0"/>
              <a:t>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22F897C-026F-1516-9FF1-751BADB01F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170079"/>
              </p:ext>
            </p:extLst>
          </p:nvPr>
        </p:nvGraphicFramePr>
        <p:xfrm>
          <a:off x="1637607" y="2400141"/>
          <a:ext cx="8229600" cy="14630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368743544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5075495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805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Student 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Mean, Median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491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Histogram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417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Salary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Skewness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024735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5B68DEC-AF96-3E72-C164-F3B22EAF2C84}"/>
              </a:ext>
            </a:extLst>
          </p:cNvPr>
          <p:cNvSpPr txBox="1"/>
          <p:nvPr/>
        </p:nvSpPr>
        <p:spPr>
          <a:xfrm>
            <a:off x="453045" y="4057642"/>
            <a:ext cx="60932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is Multivariate Analysis?</a:t>
            </a:r>
          </a:p>
          <a:p>
            <a:pPr>
              <a:buNone/>
            </a:pPr>
            <a:r>
              <a:rPr lang="en-US" dirty="0"/>
              <a:t>Analysis of </a:t>
            </a:r>
            <a:r>
              <a:rPr lang="en-US" b="1" dirty="0"/>
              <a:t>two or more variables together</a:t>
            </a:r>
            <a:r>
              <a:rPr lang="en-US" dirty="0"/>
              <a:t>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D6FCC96-01E7-7F5A-5E9F-187B6462A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014389"/>
              </p:ext>
            </p:extLst>
          </p:nvPr>
        </p:nvGraphicFramePr>
        <p:xfrm>
          <a:off x="1637607" y="4703973"/>
          <a:ext cx="8229600" cy="14630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26477781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6291193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512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Height vs Weight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Correlation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299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Sales vs Profit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907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Marks vs Attendance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Scatter plot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8951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948998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FD52E8-E4DD-F25B-88AA-28599CC82BFE}"/>
              </a:ext>
            </a:extLst>
          </p:cNvPr>
          <p:cNvSpPr txBox="1"/>
          <p:nvPr/>
        </p:nvSpPr>
        <p:spPr>
          <a:xfrm>
            <a:off x="818804" y="654920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Comparison Table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A05F32-21DC-7BBB-9DEA-74B1DAAF9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63122"/>
              </p:ext>
            </p:extLst>
          </p:nvPr>
        </p:nvGraphicFramePr>
        <p:xfrm>
          <a:off x="1979612" y="1452490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75685497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8088149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3475393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Univariate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Multivariate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812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No. of variables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Two or more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260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Describe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Relationship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585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Mean, SD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Correlation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8488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Histogram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Scatter plot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872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76610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38C565-6542-F83B-F581-0489D22A4126}"/>
              </a:ext>
            </a:extLst>
          </p:cNvPr>
          <p:cNvSpPr txBox="1"/>
          <p:nvPr/>
        </p:nvSpPr>
        <p:spPr>
          <a:xfrm>
            <a:off x="602673" y="344946"/>
            <a:ext cx="609322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 Question</a:t>
            </a:r>
          </a:p>
          <a:p>
            <a:pPr>
              <a:buNone/>
            </a:pPr>
            <a:r>
              <a:rPr lang="en-US" b="1" dirty="0"/>
              <a:t>Question:</a:t>
            </a:r>
            <a:br>
              <a:rPr lang="en-US" dirty="0"/>
            </a:br>
            <a:r>
              <a:rPr lang="en-US" dirty="0"/>
              <a:t>Studying </a:t>
            </a:r>
            <a:r>
              <a:rPr lang="en-US" b="1" dirty="0"/>
              <a:t>only student marks</a:t>
            </a:r>
            <a:r>
              <a:rPr lang="en-US" dirty="0"/>
              <a:t> → which analysis?</a:t>
            </a:r>
          </a:p>
          <a:p>
            <a:pPr>
              <a:buNone/>
            </a:pPr>
            <a:r>
              <a:rPr lang="en-US" b="1" dirty="0"/>
              <a:t>Answer:</a:t>
            </a:r>
            <a:br>
              <a:rPr lang="en-US" dirty="0"/>
            </a:br>
            <a:r>
              <a:rPr lang="en-US" dirty="0"/>
              <a:t>✔ Univariate Analysis</a:t>
            </a:r>
          </a:p>
          <a:p>
            <a:pPr>
              <a:buNone/>
            </a:pPr>
            <a:r>
              <a:rPr lang="en-US" b="1" dirty="0"/>
              <a:t>Question:</a:t>
            </a:r>
            <a:br>
              <a:rPr lang="en-US" dirty="0"/>
            </a:br>
            <a:r>
              <a:rPr lang="en-US" dirty="0"/>
              <a:t>Studying </a:t>
            </a:r>
            <a:r>
              <a:rPr lang="en-US" b="1" dirty="0"/>
              <a:t>marks and attendance together</a:t>
            </a:r>
            <a:r>
              <a:rPr lang="en-US" dirty="0"/>
              <a:t>?</a:t>
            </a:r>
          </a:p>
          <a:p>
            <a:pPr>
              <a:buNone/>
            </a:pPr>
            <a:r>
              <a:rPr lang="en-US" b="1" dirty="0"/>
              <a:t>Answer:</a:t>
            </a:r>
            <a:br>
              <a:rPr lang="en-US" dirty="0"/>
            </a:br>
            <a:r>
              <a:rPr lang="en-US" dirty="0"/>
              <a:t>✔ Multivariate Analysis</a:t>
            </a:r>
          </a:p>
        </p:txBody>
      </p:sp>
    </p:spTree>
    <p:extLst>
      <p:ext uri="{BB962C8B-B14F-4D97-AF65-F5344CB8AC3E}">
        <p14:creationId xmlns:p14="http://schemas.microsoft.com/office/powerpoint/2010/main" val="224075293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Descriptive Data Visualization in Excel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Histogram: shows distribution of numeric data.</a:t>
            </a:r>
          </a:p>
          <a:p>
            <a:r>
              <a:rPr dirty="0"/>
              <a:t>Boxplot: shows median, quartiles, outliers.</a:t>
            </a:r>
          </a:p>
          <a:p>
            <a:r>
              <a:rPr dirty="0"/>
              <a:t>Bar chart: compares categories (categorical data).</a:t>
            </a:r>
          </a:p>
          <a:p>
            <a:r>
              <a:rPr dirty="0"/>
              <a:t>Scatter plot: shows relationship between two numeric variables.</a:t>
            </a:r>
          </a:p>
          <a:p>
            <a:r>
              <a:rPr dirty="0"/>
              <a:t>Frequency table: counts in each category or bin.</a:t>
            </a:r>
          </a:p>
          <a:p>
            <a:r>
              <a:rPr dirty="0"/>
              <a:t>Excel:</a:t>
            </a:r>
          </a:p>
          <a:p>
            <a:pPr lvl="1"/>
            <a:r>
              <a:rPr dirty="0"/>
              <a:t>• Histogram/Boxplot: Insert → Statistical Chart</a:t>
            </a:r>
          </a:p>
          <a:p>
            <a:pPr lvl="1"/>
            <a:r>
              <a:rPr dirty="0"/>
              <a:t>• Bar/Column chart: Insert → Column/Bar</a:t>
            </a:r>
          </a:p>
          <a:p>
            <a:pPr lvl="1"/>
            <a:r>
              <a:rPr dirty="0"/>
              <a:t>• Scatter: Insert → Scatter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Inferential Statistics – Overview (Context Only)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Use sample to infer about population.</a:t>
            </a:r>
          </a:p>
          <a:p>
            <a:r>
              <a:t>Key ideas:</a:t>
            </a:r>
          </a:p>
          <a:p>
            <a:pPr lvl="1"/>
            <a:r>
              <a:t>• Population vs sample</a:t>
            </a:r>
          </a:p>
          <a:p>
            <a:pPr lvl="1"/>
            <a:r>
              <a:t>• Sampling error &amp; Central Limit Theorem</a:t>
            </a:r>
          </a:p>
          <a:p>
            <a:pPr lvl="1"/>
            <a:r>
              <a:t>• Confidence Intervals (estimate ranges)</a:t>
            </a:r>
          </a:p>
          <a:p>
            <a:pPr lvl="1"/>
            <a:r>
              <a:t>• Hypothesis Testing (t-test, chi-square, ANOVA)</a:t>
            </a:r>
          </a:p>
          <a:p>
            <a:r>
              <a:t>Use after descriptive stats when you want to generalize or test decisions.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Excel – Descriptive Statistics ToolPak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ToolPak can give a full summary in one step:</a:t>
            </a:r>
          </a:p>
          <a:p>
            <a:r>
              <a:t>Steps:</a:t>
            </a:r>
          </a:p>
          <a:p>
            <a:pPr lvl="1"/>
            <a:r>
              <a:t>1. Enable Analysis ToolPak (File → Options → Add-ins).</a:t>
            </a:r>
          </a:p>
          <a:p>
            <a:pPr lvl="1"/>
            <a:r>
              <a:t>2. Data → Data Analysis → Descriptive Statistics.</a:t>
            </a:r>
          </a:p>
          <a:p>
            <a:pPr lvl="1"/>
            <a:r>
              <a:t>3. Select input range, check 'Summary statistics'.</a:t>
            </a:r>
          </a:p>
          <a:p>
            <a:r>
              <a:t>Output: mean, median, mode, std dev, variance, range, skewness, kurtosis, etc.</a:t>
            </a:r>
          </a:p>
          <a:p>
            <a:r>
              <a:t>[IMAGE PLACEHOLDER: Excel Descriptive Statistics dialog &amp; output table]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Summary – What Students Should Learn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Why statistics is essential in data science.</a:t>
            </a:r>
          </a:p>
          <a:p>
            <a:r>
              <a:t>Difference between descriptive and inferential statistics.</a:t>
            </a:r>
          </a:p>
          <a:p>
            <a:r>
              <a:t>Descriptive Statistics:</a:t>
            </a:r>
          </a:p>
          <a:p>
            <a:pPr lvl="1"/>
            <a:r>
              <a:t>• Central Tendency: Mean, Median, Mode</a:t>
            </a:r>
          </a:p>
          <a:p>
            <a:pPr lvl="1"/>
            <a:r>
              <a:t>• Dispersion: Variance, Std Dev, Range, Quartiles, Percentiles, IQR, CV</a:t>
            </a:r>
          </a:p>
          <a:p>
            <a:pPr lvl="1"/>
            <a:r>
              <a:t>• Shape: Skewness, Kurtosis, Normal check</a:t>
            </a:r>
          </a:p>
          <a:p>
            <a:pPr lvl="1"/>
            <a:r>
              <a:t>• Visualization: Histogram, Boxplot, Bar, Scatter, Frequency tables</a:t>
            </a:r>
          </a:p>
          <a:p>
            <a:r>
              <a:t>Excel functions and charts to compute and visualize all of the above.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124B799-792B-41F5-BB02-76FAACF8CB6E}">
  <we:reference id="wa104178141" version="4.3.3.0" store="en-US" storeType="OMEX"/>
  <we:alternateReferences>
    <we:reference id="WA104178141" version="4.3.3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1244</TotalTime>
  <Words>6614</Words>
  <Application>Microsoft Office PowerPoint</Application>
  <PresentationFormat>Custom</PresentationFormat>
  <Paragraphs>1458</Paragraphs>
  <Slides>87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5" baseType="lpstr">
      <vt:lpstr>Arial</vt:lpstr>
      <vt:lpstr>Arial Black</vt:lpstr>
      <vt:lpstr>Arial Unicode MS</vt:lpstr>
      <vt:lpstr>Calibri</vt:lpstr>
      <vt:lpstr>Cambria Math</vt:lpstr>
      <vt:lpstr>Courier New</vt:lpstr>
      <vt:lpstr>Wingdings</vt:lpstr>
      <vt:lpstr>Office Theme</vt:lpstr>
      <vt:lpstr>STATISTICS FOR DATA SCIENCE</vt:lpstr>
      <vt:lpstr>Why Do We Use Statistics in Data Science?</vt:lpstr>
      <vt:lpstr>Types of Data – Quick Recap</vt:lpstr>
      <vt:lpstr>Levels of Measurement (Scale Types)</vt:lpstr>
      <vt:lpstr>Descriptive vs Inferential Statistics</vt:lpstr>
      <vt:lpstr>DESCRIPTIVE STATISTICS   What Is Included?</vt:lpstr>
      <vt:lpstr>Central Tendency – Mean</vt:lpstr>
      <vt:lpstr>Central Tendency  Median</vt:lpstr>
      <vt:lpstr>Central Tendency  Mode</vt:lpstr>
      <vt:lpstr>continuous  Data – Mean</vt:lpstr>
      <vt:lpstr>PowerPoint Presentation</vt:lpstr>
      <vt:lpstr>PowerPoint Presentation</vt:lpstr>
      <vt:lpstr>Central Tendency  Median</vt:lpstr>
      <vt:lpstr>PowerPoint Presentation</vt:lpstr>
      <vt:lpstr>PowerPoint Presentation</vt:lpstr>
      <vt:lpstr>Central Tendency  Mode</vt:lpstr>
      <vt:lpstr>PowerPoint Presentation</vt:lpstr>
      <vt:lpstr>PowerPoint Presentation</vt:lpstr>
      <vt:lpstr>PowerPoint Presentation</vt:lpstr>
      <vt:lpstr>Dispersion </vt:lpstr>
      <vt:lpstr>Measures of Dispersion – Why We Need Them</vt:lpstr>
      <vt:lpstr>Dispersion – Range</vt:lpstr>
      <vt:lpstr>Dispersion – Range</vt:lpstr>
      <vt:lpstr>PowerPoint Presentation</vt:lpstr>
      <vt:lpstr>Quartiles, Percentiles &amp; IQR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Variance &amp; Standard Deviation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Coefficient of Variation (CV)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Shape – Skewness</vt:lpstr>
      <vt:lpstr>PowerPoint Presentation</vt:lpstr>
      <vt:lpstr>PowerPoint Presentation</vt:lpstr>
      <vt:lpstr>Shape – Kurtosis &amp; Normal Distribution Check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Descriptive Data Visualization in Excel</vt:lpstr>
      <vt:lpstr>Inferential Statistics – Overview (Context Only)</vt:lpstr>
      <vt:lpstr>Excel – Descriptive Statistics ToolPak</vt:lpstr>
      <vt:lpstr>Summary – What Students Should Learn Today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 MADESH</dc:creator>
  <cp:keywords/>
  <dc:description>generated using python-pptx</dc:description>
  <cp:lastModifiedBy>M MADESH</cp:lastModifiedBy>
  <cp:revision>13</cp:revision>
  <dcterms:created xsi:type="dcterms:W3CDTF">2013-01-27T09:14:16Z</dcterms:created>
  <dcterms:modified xsi:type="dcterms:W3CDTF">2025-12-15T02:10:04Z</dcterms:modified>
  <cp:category/>
</cp:coreProperties>
</file>