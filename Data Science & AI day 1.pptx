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2" r:id="rId4"/>
  </p:sldMasterIdLst>
  <p:sldIdLst>
    <p:sldId id="257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930F8-7116-4BF9-82C2-27439B45C48A}" v="20" dt="2025-12-05T16:40:17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0"/>
  </p:normalViewPr>
  <p:slideViewPr>
    <p:cSldViewPr snapToGrid="0" snapToObjects="1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C1CEA-B1C7-45CE-8222-3F32A3DE649D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IN"/>
        </a:p>
      </dgm:t>
    </dgm:pt>
    <dgm:pt modelId="{85D3BF01-CC8C-4D6B-8C7C-A2ED8FA65E97}">
      <dgm:prSet/>
      <dgm:spPr/>
      <dgm:t>
        <a:bodyPr/>
        <a:lstStyle/>
        <a:p>
          <a:pPr algn="ctr"/>
          <a:r>
            <a:rPr lang="en-IN"/>
            <a:t>Understanding Data &amp; Problem Statemen</a:t>
          </a:r>
        </a:p>
      </dgm:t>
    </dgm:pt>
    <dgm:pt modelId="{FF7FB9F3-1F8F-4F3C-B051-DC6678A3FC86}" type="parTrans" cxnId="{821549FB-7881-40B2-8786-D18DB624475A}">
      <dgm:prSet/>
      <dgm:spPr/>
      <dgm:t>
        <a:bodyPr/>
        <a:lstStyle/>
        <a:p>
          <a:pPr algn="ctr"/>
          <a:endParaRPr lang="en-IN"/>
        </a:p>
      </dgm:t>
    </dgm:pt>
    <dgm:pt modelId="{9F2A6825-2BC0-4DE4-96A8-E0A81208CE8F}" type="sibTrans" cxnId="{821549FB-7881-40B2-8786-D18DB624475A}">
      <dgm:prSet/>
      <dgm:spPr/>
      <dgm:t>
        <a:bodyPr/>
        <a:lstStyle/>
        <a:p>
          <a:pPr algn="ctr"/>
          <a:endParaRPr lang="en-IN"/>
        </a:p>
      </dgm:t>
    </dgm:pt>
    <dgm:pt modelId="{45196D69-7CAD-4D95-9214-4408335F8111}">
      <dgm:prSet/>
      <dgm:spPr/>
      <dgm:t>
        <a:bodyPr/>
        <a:lstStyle/>
        <a:p>
          <a:pPr algn="ctr"/>
          <a:r>
            <a:rPr lang="en-IN"/>
            <a:t>Categorical &amp; Numerical Data Analysis</a:t>
          </a:r>
        </a:p>
      </dgm:t>
    </dgm:pt>
    <dgm:pt modelId="{9C670930-1836-4662-A7BA-704FCF1B7064}" type="parTrans" cxnId="{7E4ACB4C-AF21-4CF0-BF0F-B43BB574D7C3}">
      <dgm:prSet/>
      <dgm:spPr/>
      <dgm:t>
        <a:bodyPr/>
        <a:lstStyle/>
        <a:p>
          <a:pPr algn="ctr"/>
          <a:endParaRPr lang="en-IN"/>
        </a:p>
      </dgm:t>
    </dgm:pt>
    <dgm:pt modelId="{42ED5BA5-1861-4D5D-8754-F52CEAC23F1A}" type="sibTrans" cxnId="{7E4ACB4C-AF21-4CF0-BF0F-B43BB574D7C3}">
      <dgm:prSet/>
      <dgm:spPr/>
      <dgm:t>
        <a:bodyPr/>
        <a:lstStyle/>
        <a:p>
          <a:pPr algn="ctr"/>
          <a:endParaRPr lang="en-IN"/>
        </a:p>
      </dgm:t>
    </dgm:pt>
    <dgm:pt modelId="{F72CBE4C-C48C-483D-A805-A3FB362EC79A}">
      <dgm:prSet/>
      <dgm:spPr/>
      <dgm:t>
        <a:bodyPr/>
        <a:lstStyle/>
        <a:p>
          <a:pPr algn="ctr"/>
          <a:r>
            <a:rPr lang="en-IN"/>
            <a:t>Data Visualization in Excel</a:t>
          </a:r>
        </a:p>
      </dgm:t>
    </dgm:pt>
    <dgm:pt modelId="{39544496-7AA0-4169-8C90-7E6C99A90D3D}" type="parTrans" cxnId="{1FCCFD0B-63F5-44FD-9668-BFCC0E0C2632}">
      <dgm:prSet/>
      <dgm:spPr/>
      <dgm:t>
        <a:bodyPr/>
        <a:lstStyle/>
        <a:p>
          <a:pPr algn="ctr"/>
          <a:endParaRPr lang="en-IN"/>
        </a:p>
      </dgm:t>
    </dgm:pt>
    <dgm:pt modelId="{C9CFC486-33FE-4572-A305-251FBF553719}" type="sibTrans" cxnId="{1FCCFD0B-63F5-44FD-9668-BFCC0E0C2632}">
      <dgm:prSet/>
      <dgm:spPr/>
      <dgm:t>
        <a:bodyPr/>
        <a:lstStyle/>
        <a:p>
          <a:pPr algn="ctr"/>
          <a:endParaRPr lang="en-IN"/>
        </a:p>
      </dgm:t>
    </dgm:pt>
    <dgm:pt modelId="{978843AF-8D9A-40C6-A3CB-C00AF4209B34}">
      <dgm:prSet/>
      <dgm:spPr/>
      <dgm:t>
        <a:bodyPr/>
        <a:lstStyle/>
        <a:p>
          <a:pPr algn="ctr"/>
          <a:r>
            <a:rPr lang="en-IN"/>
            <a:t>Descriptive &amp; Inferential Statistics</a:t>
          </a:r>
        </a:p>
      </dgm:t>
    </dgm:pt>
    <dgm:pt modelId="{9F5BB471-AA0B-46E8-83C0-DBB4FD3F8D33}" type="parTrans" cxnId="{D0BAD106-41C2-4386-9360-D1A7DC41966A}">
      <dgm:prSet/>
      <dgm:spPr/>
      <dgm:t>
        <a:bodyPr/>
        <a:lstStyle/>
        <a:p>
          <a:pPr algn="ctr"/>
          <a:endParaRPr lang="en-IN"/>
        </a:p>
      </dgm:t>
    </dgm:pt>
    <dgm:pt modelId="{2661D271-31D1-4054-A28E-89B2DC5786E7}" type="sibTrans" cxnId="{D0BAD106-41C2-4386-9360-D1A7DC41966A}">
      <dgm:prSet/>
      <dgm:spPr/>
      <dgm:t>
        <a:bodyPr/>
        <a:lstStyle/>
        <a:p>
          <a:pPr algn="ctr"/>
          <a:endParaRPr lang="en-IN"/>
        </a:p>
      </dgm:t>
    </dgm:pt>
    <dgm:pt modelId="{AB535B0C-777F-43CC-888E-B84BB73230E9}">
      <dgm:prSet/>
      <dgm:spPr/>
      <dgm:t>
        <a:bodyPr/>
        <a:lstStyle/>
        <a:p>
          <a:pPr algn="ctr"/>
          <a:r>
            <a:rPr lang="en-IN"/>
            <a:t>Hypothesis Testing</a:t>
          </a:r>
        </a:p>
      </dgm:t>
    </dgm:pt>
    <dgm:pt modelId="{DCEBC66F-619A-459E-A98F-7210D6F2F61B}" type="parTrans" cxnId="{64109D82-E999-4243-AEA2-5644445FC418}">
      <dgm:prSet/>
      <dgm:spPr/>
      <dgm:t>
        <a:bodyPr/>
        <a:lstStyle/>
        <a:p>
          <a:pPr algn="ctr"/>
          <a:endParaRPr lang="en-IN"/>
        </a:p>
      </dgm:t>
    </dgm:pt>
    <dgm:pt modelId="{A5B820AF-3C9D-41A8-AA41-7854CFC92921}" type="sibTrans" cxnId="{64109D82-E999-4243-AEA2-5644445FC418}">
      <dgm:prSet/>
      <dgm:spPr/>
      <dgm:t>
        <a:bodyPr/>
        <a:lstStyle/>
        <a:p>
          <a:pPr algn="ctr"/>
          <a:endParaRPr lang="en-IN"/>
        </a:p>
      </dgm:t>
    </dgm:pt>
    <dgm:pt modelId="{7911AFB2-96A1-43B0-852A-EC60CD424586}" type="pres">
      <dgm:prSet presAssocID="{536C1CEA-B1C7-45CE-8222-3F32A3DE649D}" presName="linear" presStyleCnt="0">
        <dgm:presLayoutVars>
          <dgm:animLvl val="lvl"/>
          <dgm:resizeHandles val="exact"/>
        </dgm:presLayoutVars>
      </dgm:prSet>
      <dgm:spPr/>
    </dgm:pt>
    <dgm:pt modelId="{2F19CE02-B547-494D-BBB6-8A4B708615A6}" type="pres">
      <dgm:prSet presAssocID="{85D3BF01-CC8C-4D6B-8C7C-A2ED8FA65E9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A9B63F2-18AC-4D0B-B913-76EF2E5A6EA3}" type="pres">
      <dgm:prSet presAssocID="{9F2A6825-2BC0-4DE4-96A8-E0A81208CE8F}" presName="spacer" presStyleCnt="0"/>
      <dgm:spPr/>
    </dgm:pt>
    <dgm:pt modelId="{3BC6DF1E-59F4-4439-B26A-8A3CEDA2E8D9}" type="pres">
      <dgm:prSet presAssocID="{45196D69-7CAD-4D95-9214-4408335F811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C0D034-4A3C-4942-8471-25D8B5CBA099}" type="pres">
      <dgm:prSet presAssocID="{42ED5BA5-1861-4D5D-8754-F52CEAC23F1A}" presName="spacer" presStyleCnt="0"/>
      <dgm:spPr/>
    </dgm:pt>
    <dgm:pt modelId="{845D8B51-109C-43C9-A0EB-34D5267D81D9}" type="pres">
      <dgm:prSet presAssocID="{F72CBE4C-C48C-483D-A805-A3FB362EC79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D3E7347-3322-4CF1-85F9-F29E5F008E17}" type="pres">
      <dgm:prSet presAssocID="{C9CFC486-33FE-4572-A305-251FBF553719}" presName="spacer" presStyleCnt="0"/>
      <dgm:spPr/>
    </dgm:pt>
    <dgm:pt modelId="{06D74A3E-F4A2-436F-95BF-4ACE96D24E46}" type="pres">
      <dgm:prSet presAssocID="{978843AF-8D9A-40C6-A3CB-C00AF4209B3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7A48D12-B77E-4CED-8CDC-CA7A482DE3DE}" type="pres">
      <dgm:prSet presAssocID="{2661D271-31D1-4054-A28E-89B2DC5786E7}" presName="spacer" presStyleCnt="0"/>
      <dgm:spPr/>
    </dgm:pt>
    <dgm:pt modelId="{5A4732B1-CEFB-4D6F-9768-E164CCEF90F2}" type="pres">
      <dgm:prSet presAssocID="{AB535B0C-777F-43CC-888E-B84BB73230E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0BAD106-41C2-4386-9360-D1A7DC41966A}" srcId="{536C1CEA-B1C7-45CE-8222-3F32A3DE649D}" destId="{978843AF-8D9A-40C6-A3CB-C00AF4209B34}" srcOrd="3" destOrd="0" parTransId="{9F5BB471-AA0B-46E8-83C0-DBB4FD3F8D33}" sibTransId="{2661D271-31D1-4054-A28E-89B2DC5786E7}"/>
    <dgm:cxn modelId="{1FCCFD0B-63F5-44FD-9668-BFCC0E0C2632}" srcId="{536C1CEA-B1C7-45CE-8222-3F32A3DE649D}" destId="{F72CBE4C-C48C-483D-A805-A3FB362EC79A}" srcOrd="2" destOrd="0" parTransId="{39544496-7AA0-4169-8C90-7E6C99A90D3D}" sibTransId="{C9CFC486-33FE-4572-A305-251FBF553719}"/>
    <dgm:cxn modelId="{2BAE4D11-AE10-428D-A7D1-81AFAD97C782}" type="presOf" srcId="{85D3BF01-CC8C-4D6B-8C7C-A2ED8FA65E97}" destId="{2F19CE02-B547-494D-BBB6-8A4B708615A6}" srcOrd="0" destOrd="0" presId="urn:microsoft.com/office/officeart/2005/8/layout/vList2"/>
    <dgm:cxn modelId="{08956B6A-3C5C-44EF-BF7B-1A5ACD7C7BAB}" type="presOf" srcId="{F72CBE4C-C48C-483D-A805-A3FB362EC79A}" destId="{845D8B51-109C-43C9-A0EB-34D5267D81D9}" srcOrd="0" destOrd="0" presId="urn:microsoft.com/office/officeart/2005/8/layout/vList2"/>
    <dgm:cxn modelId="{13A5A66A-93AE-460B-A454-5497B413F9A1}" type="presOf" srcId="{978843AF-8D9A-40C6-A3CB-C00AF4209B34}" destId="{06D74A3E-F4A2-436F-95BF-4ACE96D24E46}" srcOrd="0" destOrd="0" presId="urn:microsoft.com/office/officeart/2005/8/layout/vList2"/>
    <dgm:cxn modelId="{7E4ACB4C-AF21-4CF0-BF0F-B43BB574D7C3}" srcId="{536C1CEA-B1C7-45CE-8222-3F32A3DE649D}" destId="{45196D69-7CAD-4D95-9214-4408335F8111}" srcOrd="1" destOrd="0" parTransId="{9C670930-1836-4662-A7BA-704FCF1B7064}" sibTransId="{42ED5BA5-1861-4D5D-8754-F52CEAC23F1A}"/>
    <dgm:cxn modelId="{64109D82-E999-4243-AEA2-5644445FC418}" srcId="{536C1CEA-B1C7-45CE-8222-3F32A3DE649D}" destId="{AB535B0C-777F-43CC-888E-B84BB73230E9}" srcOrd="4" destOrd="0" parTransId="{DCEBC66F-619A-459E-A98F-7210D6F2F61B}" sibTransId="{A5B820AF-3C9D-41A8-AA41-7854CFC92921}"/>
    <dgm:cxn modelId="{E31CB6CF-01C3-4706-B066-BB72C7103C3E}" type="presOf" srcId="{AB535B0C-777F-43CC-888E-B84BB73230E9}" destId="{5A4732B1-CEFB-4D6F-9768-E164CCEF90F2}" srcOrd="0" destOrd="0" presId="urn:microsoft.com/office/officeart/2005/8/layout/vList2"/>
    <dgm:cxn modelId="{B238E4E2-F180-4802-A9B4-38DB750C6FAF}" type="presOf" srcId="{45196D69-7CAD-4D95-9214-4408335F8111}" destId="{3BC6DF1E-59F4-4439-B26A-8A3CEDA2E8D9}" srcOrd="0" destOrd="0" presId="urn:microsoft.com/office/officeart/2005/8/layout/vList2"/>
    <dgm:cxn modelId="{6D4C1DEA-9B06-427C-B208-09770E2F186C}" type="presOf" srcId="{536C1CEA-B1C7-45CE-8222-3F32A3DE649D}" destId="{7911AFB2-96A1-43B0-852A-EC60CD424586}" srcOrd="0" destOrd="0" presId="urn:microsoft.com/office/officeart/2005/8/layout/vList2"/>
    <dgm:cxn modelId="{821549FB-7881-40B2-8786-D18DB624475A}" srcId="{536C1CEA-B1C7-45CE-8222-3F32A3DE649D}" destId="{85D3BF01-CC8C-4D6B-8C7C-A2ED8FA65E97}" srcOrd="0" destOrd="0" parTransId="{FF7FB9F3-1F8F-4F3C-B051-DC6678A3FC86}" sibTransId="{9F2A6825-2BC0-4DE4-96A8-E0A81208CE8F}"/>
    <dgm:cxn modelId="{22AC8D32-DD3D-4E74-97CE-3FF048304921}" type="presParOf" srcId="{7911AFB2-96A1-43B0-852A-EC60CD424586}" destId="{2F19CE02-B547-494D-BBB6-8A4B708615A6}" srcOrd="0" destOrd="0" presId="urn:microsoft.com/office/officeart/2005/8/layout/vList2"/>
    <dgm:cxn modelId="{7511CA35-422F-44A5-8A98-40362D5A18E9}" type="presParOf" srcId="{7911AFB2-96A1-43B0-852A-EC60CD424586}" destId="{2A9B63F2-18AC-4D0B-B913-76EF2E5A6EA3}" srcOrd="1" destOrd="0" presId="urn:microsoft.com/office/officeart/2005/8/layout/vList2"/>
    <dgm:cxn modelId="{4868DFD9-48CD-418C-BA9B-3F90E1863A60}" type="presParOf" srcId="{7911AFB2-96A1-43B0-852A-EC60CD424586}" destId="{3BC6DF1E-59F4-4439-B26A-8A3CEDA2E8D9}" srcOrd="2" destOrd="0" presId="urn:microsoft.com/office/officeart/2005/8/layout/vList2"/>
    <dgm:cxn modelId="{92F67567-1D6F-41E4-8AB2-EA7EA6BA28D7}" type="presParOf" srcId="{7911AFB2-96A1-43B0-852A-EC60CD424586}" destId="{32C0D034-4A3C-4942-8471-25D8B5CBA099}" srcOrd="3" destOrd="0" presId="urn:microsoft.com/office/officeart/2005/8/layout/vList2"/>
    <dgm:cxn modelId="{FCEA9C10-E2FF-477F-B580-623DB24DA15E}" type="presParOf" srcId="{7911AFB2-96A1-43B0-852A-EC60CD424586}" destId="{845D8B51-109C-43C9-A0EB-34D5267D81D9}" srcOrd="4" destOrd="0" presId="urn:microsoft.com/office/officeart/2005/8/layout/vList2"/>
    <dgm:cxn modelId="{91A9BACE-53B4-4380-B001-134A95D502BC}" type="presParOf" srcId="{7911AFB2-96A1-43B0-852A-EC60CD424586}" destId="{9D3E7347-3322-4CF1-85F9-F29E5F008E17}" srcOrd="5" destOrd="0" presId="urn:microsoft.com/office/officeart/2005/8/layout/vList2"/>
    <dgm:cxn modelId="{D92A207F-B538-4869-A3EC-FE7293E7C07D}" type="presParOf" srcId="{7911AFB2-96A1-43B0-852A-EC60CD424586}" destId="{06D74A3E-F4A2-436F-95BF-4ACE96D24E46}" srcOrd="6" destOrd="0" presId="urn:microsoft.com/office/officeart/2005/8/layout/vList2"/>
    <dgm:cxn modelId="{5928C789-7C82-4183-A1B8-00D7E3C23C89}" type="presParOf" srcId="{7911AFB2-96A1-43B0-852A-EC60CD424586}" destId="{37A48D12-B77E-4CED-8CDC-CA7A482DE3DE}" srcOrd="7" destOrd="0" presId="urn:microsoft.com/office/officeart/2005/8/layout/vList2"/>
    <dgm:cxn modelId="{BD20F6E1-6B15-4C1B-BAC3-925DB18BC59F}" type="presParOf" srcId="{7911AFB2-96A1-43B0-852A-EC60CD424586}" destId="{5A4732B1-CEFB-4D6F-9768-E164CCEF90F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9CE02-B547-494D-BBB6-8A4B708615A6}">
      <dsp:nvSpPr>
        <dsp:cNvPr id="0" name=""/>
        <dsp:cNvSpPr/>
      </dsp:nvSpPr>
      <dsp:spPr>
        <a:xfrm>
          <a:off x="0" y="36804"/>
          <a:ext cx="9342120" cy="55165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Understanding Data &amp; Problem Statemen</a:t>
          </a:r>
        </a:p>
      </dsp:txBody>
      <dsp:txXfrm>
        <a:off x="26930" y="63734"/>
        <a:ext cx="9288260" cy="497795"/>
      </dsp:txXfrm>
    </dsp:sp>
    <dsp:sp modelId="{3BC6DF1E-59F4-4439-B26A-8A3CEDA2E8D9}">
      <dsp:nvSpPr>
        <dsp:cNvPr id="0" name=""/>
        <dsp:cNvSpPr/>
      </dsp:nvSpPr>
      <dsp:spPr>
        <a:xfrm>
          <a:off x="0" y="654699"/>
          <a:ext cx="9342120" cy="551655"/>
        </a:xfrm>
        <a:prstGeom prst="roundRect">
          <a:avLst/>
        </a:prstGeom>
        <a:solidFill>
          <a:schemeClr val="accent1">
            <a:shade val="80000"/>
            <a:hueOff val="74889"/>
            <a:satOff val="3098"/>
            <a:lumOff val="63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Categorical &amp; Numerical Data Analysis</a:t>
          </a:r>
        </a:p>
      </dsp:txBody>
      <dsp:txXfrm>
        <a:off x="26930" y="681629"/>
        <a:ext cx="9288260" cy="497795"/>
      </dsp:txXfrm>
    </dsp:sp>
    <dsp:sp modelId="{845D8B51-109C-43C9-A0EB-34D5267D81D9}">
      <dsp:nvSpPr>
        <dsp:cNvPr id="0" name=""/>
        <dsp:cNvSpPr/>
      </dsp:nvSpPr>
      <dsp:spPr>
        <a:xfrm>
          <a:off x="0" y="1272594"/>
          <a:ext cx="9342120" cy="551655"/>
        </a:xfrm>
        <a:prstGeom prst="roundRect">
          <a:avLst/>
        </a:prstGeom>
        <a:solidFill>
          <a:schemeClr val="accent1">
            <a:shade val="80000"/>
            <a:hueOff val="149778"/>
            <a:satOff val="6196"/>
            <a:lumOff val="127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Data Visualization in Excel</a:t>
          </a:r>
        </a:p>
      </dsp:txBody>
      <dsp:txXfrm>
        <a:off x="26930" y="1299524"/>
        <a:ext cx="9288260" cy="497795"/>
      </dsp:txXfrm>
    </dsp:sp>
    <dsp:sp modelId="{06D74A3E-F4A2-436F-95BF-4ACE96D24E46}">
      <dsp:nvSpPr>
        <dsp:cNvPr id="0" name=""/>
        <dsp:cNvSpPr/>
      </dsp:nvSpPr>
      <dsp:spPr>
        <a:xfrm>
          <a:off x="0" y="1890490"/>
          <a:ext cx="9342120" cy="551655"/>
        </a:xfrm>
        <a:prstGeom prst="roundRect">
          <a:avLst/>
        </a:prstGeom>
        <a:solidFill>
          <a:schemeClr val="accent1">
            <a:shade val="80000"/>
            <a:hueOff val="224668"/>
            <a:satOff val="9293"/>
            <a:lumOff val="1915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Descriptive &amp; Inferential Statistics</a:t>
          </a:r>
        </a:p>
      </dsp:txBody>
      <dsp:txXfrm>
        <a:off x="26930" y="1917420"/>
        <a:ext cx="9288260" cy="497795"/>
      </dsp:txXfrm>
    </dsp:sp>
    <dsp:sp modelId="{5A4732B1-CEFB-4D6F-9768-E164CCEF90F2}">
      <dsp:nvSpPr>
        <dsp:cNvPr id="0" name=""/>
        <dsp:cNvSpPr/>
      </dsp:nvSpPr>
      <dsp:spPr>
        <a:xfrm>
          <a:off x="0" y="2508385"/>
          <a:ext cx="9342120" cy="551655"/>
        </a:xfrm>
        <a:prstGeom prst="roundRect">
          <a:avLst/>
        </a:prstGeom>
        <a:solidFill>
          <a:schemeClr val="accent1">
            <a:shade val="80000"/>
            <a:hueOff val="299557"/>
            <a:satOff val="12391"/>
            <a:lumOff val="255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Hypothesis Testing</a:t>
          </a:r>
        </a:p>
      </dsp:txBody>
      <dsp:txXfrm>
        <a:off x="26930" y="2535315"/>
        <a:ext cx="9288260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7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72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7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8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48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79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8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0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4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3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76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67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690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685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aia.be/en/courses/get-ai-ready-from-the-makers-of-elements-of-ai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5DBD6C-E8A8-B349-AC85-61C44AAEA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467"/>
                    </a14:imgEffect>
                    <a14:imgEffect>
                      <a14:saturation sat="49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330456" y="546228"/>
            <a:ext cx="11531088" cy="576554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6000">
                <a:schemeClr val="accent3">
                  <a:lumMod val="52000"/>
                </a:schemeClr>
              </a:gs>
            </a:gsLst>
            <a:lin ang="10800000" scaled="1"/>
            <a:tileRect/>
          </a:gradFill>
          <a:effectLst>
            <a:outerShdw blurRad="50800" dist="50800" dir="5400000" algn="ctr" rotWithShape="0">
              <a:schemeClr val="tx1">
                <a:lumMod val="95000"/>
                <a:alpha val="30000"/>
              </a:scheme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4902200"/>
            <a:ext cx="10572000" cy="69486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sz="7200" dirty="0"/>
              <a:t>Data Science &amp; AI </a:t>
            </a:r>
            <a:endParaRPr lang="en-US" sz="7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CA982C5-8822-5F41-B151-CBFC3278D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594110"/>
            <a:ext cx="10572000" cy="434974"/>
          </a:xfrm>
        </p:spPr>
        <p:txBody>
          <a:bodyPr>
            <a:normAutofit/>
          </a:bodyPr>
          <a:lstStyle/>
          <a:p>
            <a:r>
              <a:rPr lang="en-US" dirty="0"/>
              <a:t>Cultus</a:t>
            </a:r>
          </a:p>
        </p:txBody>
      </p:sp>
    </p:spTree>
    <p:extLst>
      <p:ext uri="{BB962C8B-B14F-4D97-AF65-F5344CB8AC3E}">
        <p14:creationId xmlns:p14="http://schemas.microsoft.com/office/powerpoint/2010/main" val="1984022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90B956-6F4A-F048-9571-6CD6E5ADA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915549"/>
              </p:ext>
            </p:extLst>
          </p:nvPr>
        </p:nvGraphicFramePr>
        <p:xfrm>
          <a:off x="0" y="0"/>
          <a:ext cx="12085321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21">
                  <a:extLst>
                    <a:ext uri="{9D8B030D-6E8A-4147-A177-3AD203B41FA5}">
                      <a16:colId xmlns:a16="http://schemas.microsoft.com/office/drawing/2014/main" val="3482419253"/>
                    </a:ext>
                  </a:extLst>
                </a:gridCol>
                <a:gridCol w="6495860">
                  <a:extLst>
                    <a:ext uri="{9D8B030D-6E8A-4147-A177-3AD203B41FA5}">
                      <a16:colId xmlns:a16="http://schemas.microsoft.com/office/drawing/2014/main" val="1519089151"/>
                    </a:ext>
                  </a:extLst>
                </a:gridCol>
                <a:gridCol w="4028440">
                  <a:extLst>
                    <a:ext uri="{9D8B030D-6E8A-4147-A177-3AD203B41FA5}">
                      <a16:colId xmlns:a16="http://schemas.microsoft.com/office/drawing/2014/main" val="321880018"/>
                    </a:ext>
                  </a:extLst>
                </a:gridCol>
              </a:tblGrid>
              <a:tr h="5342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S.NO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Modules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No.of</a:t>
                      </a:r>
                      <a:r>
                        <a:rPr lang="en-US" sz="2400" dirty="0"/>
                        <a:t> Hours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137740"/>
                  </a:ext>
                </a:extLst>
              </a:tr>
              <a:tr h="9222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Module 1: Excel-based EDA &amp; Introductory Statistics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818262"/>
                  </a:ext>
                </a:extLst>
              </a:tr>
              <a:tr h="13174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Module 2: Python Programming for Data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57357"/>
                  </a:ext>
                </a:extLst>
              </a:tr>
              <a:tr h="9222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Module 3: Supervised Machine Learning (Track 1)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734588"/>
                  </a:ext>
                </a:extLst>
              </a:tr>
              <a:tr h="13174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Module 4: Feature Engineering &amp; Model Tuning (Track IV)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364585"/>
                  </a:ext>
                </a:extLst>
              </a:tr>
              <a:tr h="9222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Module 5: Deep Learning (ANN, CNN, RNN)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272277"/>
                  </a:ext>
                </a:extLst>
              </a:tr>
              <a:tr h="9222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Module 6: Capstone Projects &amp; Industry Exposure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91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65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84F4D-42F7-9058-A9AA-DCDFB234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69330-8D93-B7AC-9E88-36F1F9C7D45C}"/>
              </a:ext>
            </a:extLst>
          </p:cNvPr>
          <p:cNvSpPr txBox="1"/>
          <p:nvPr/>
        </p:nvSpPr>
        <p:spPr>
          <a:xfrm>
            <a:off x="563880" y="591235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Module 1: Excel-based EDA &amp; Introductory Statistics </a:t>
            </a:r>
          </a:p>
          <a:p>
            <a:pPr algn="ctr"/>
            <a:r>
              <a:rPr lang="en-US" sz="2400" b="1" dirty="0"/>
              <a:t>(Prep Course - Non-Programming)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AC628-9734-E31A-8B0B-B85FDDE9E4D8}"/>
              </a:ext>
            </a:extLst>
          </p:cNvPr>
          <p:cNvSpPr txBox="1"/>
          <p:nvPr/>
        </p:nvSpPr>
        <p:spPr>
          <a:xfrm>
            <a:off x="563880" y="1584960"/>
            <a:ext cx="990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Objective</a:t>
            </a:r>
            <a:r>
              <a:rPr lang="en-US" sz="2400" dirty="0"/>
              <a:t>: Build foundation in data understanding and statistical thinking using Excel</a:t>
            </a:r>
            <a:endParaRPr lang="en-IN" sz="2400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4009A0E-51C8-DFF9-3A57-41CA96B32D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596307"/>
              </p:ext>
            </p:extLst>
          </p:nvPr>
        </p:nvGraphicFramePr>
        <p:xfrm>
          <a:off x="1021080" y="3169919"/>
          <a:ext cx="9342120" cy="3096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45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6A2E-591C-F79A-F99B-9F0CB0B3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BDAE4-4BED-82AA-1BEB-806E6E1E799E}"/>
              </a:ext>
            </a:extLst>
          </p:cNvPr>
          <p:cNvSpPr txBox="1"/>
          <p:nvPr/>
        </p:nvSpPr>
        <p:spPr>
          <a:xfrm>
            <a:off x="3535680" y="868680"/>
            <a:ext cx="6380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/>
              <a:t>Understanding Data &amp; Problem Statemen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59918-F74F-6D07-A5D1-CDA9BAD1FFBA}"/>
              </a:ext>
            </a:extLst>
          </p:cNvPr>
          <p:cNvSpPr txBox="1"/>
          <p:nvPr/>
        </p:nvSpPr>
        <p:spPr>
          <a:xfrm>
            <a:off x="840790" y="1381238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What is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DD852-AA7C-D29B-6BD8-EB2105CA0003}"/>
              </a:ext>
            </a:extLst>
          </p:cNvPr>
          <p:cNvSpPr txBox="1"/>
          <p:nvPr/>
        </p:nvSpPr>
        <p:spPr>
          <a:xfrm>
            <a:off x="840790" y="2103120"/>
            <a:ext cx="7473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is information that is collected, stored, and used for analysis.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B5C56-7567-D939-559F-525CF5089E89}"/>
              </a:ext>
            </a:extLst>
          </p:cNvPr>
          <p:cNvSpPr txBox="1"/>
          <p:nvPr/>
        </p:nvSpPr>
        <p:spPr>
          <a:xfrm>
            <a:off x="2941320" y="4907280"/>
            <a:ext cx="24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7BB0D5-D258-A0FE-1010-37175F56BE43}"/>
              </a:ext>
            </a:extLst>
          </p:cNvPr>
          <p:cNvSpPr txBox="1"/>
          <p:nvPr/>
        </p:nvSpPr>
        <p:spPr>
          <a:xfrm>
            <a:off x="3004753" y="274945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Age: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25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Marks: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87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Name: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“Rahul”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Gender: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Male / Female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Temperature: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32°C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City: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Chennai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Customer rating: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4.5 stars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Photo or image</a:t>
            </a:r>
            <a:endParaRPr lang="en-US" b="0" i="0" dirty="0">
              <a:solidFill>
                <a:srgbClr val="FFFFFF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WhatsApp message text</a:t>
            </a:r>
            <a:endParaRPr lang="en-US" b="0" i="0" dirty="0">
              <a:solidFill>
                <a:srgbClr val="FFFFFF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Location: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 GPS coordinates</a:t>
            </a:r>
          </a:p>
        </p:txBody>
      </p:sp>
    </p:spTree>
    <p:extLst>
      <p:ext uri="{BB962C8B-B14F-4D97-AF65-F5344CB8AC3E}">
        <p14:creationId xmlns:p14="http://schemas.microsoft.com/office/powerpoint/2010/main" val="400695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2616B-61BD-17FC-3BB3-BC3BB8DA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546558-E53D-137F-1BCF-A06DC6EB020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Types of Data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710C5D-A2F2-A3C1-23B1-2C78201F437B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Structured: Tables, Excel, CSV</a:t>
            </a:r>
          </a:p>
          <a:p>
            <a:r>
              <a:rPr lang="en-IN" dirty="0"/>
              <a:t>Unstructured: Images, audio, video</a:t>
            </a:r>
          </a:p>
          <a:p>
            <a:r>
              <a:rPr lang="en-IN" dirty="0"/>
              <a:t>Semi-structured: JSON, XML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73EF03-8357-54BD-BC87-9CAF8CBFF22C}"/>
              </a:ext>
            </a:extLst>
          </p:cNvPr>
          <p:cNvSpPr txBox="1">
            <a:spLocks/>
          </p:cNvSpPr>
          <p:nvPr/>
        </p:nvSpPr>
        <p:spPr>
          <a:xfrm>
            <a:off x="609600" y="3261769"/>
            <a:ext cx="8229600" cy="5332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Real-Life Examples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D026E5-A8AA-9823-E08F-71E030F2335A}"/>
              </a:ext>
            </a:extLst>
          </p:cNvPr>
          <p:cNvSpPr txBox="1">
            <a:spLocks/>
          </p:cNvSpPr>
          <p:nvPr/>
        </p:nvSpPr>
        <p:spPr>
          <a:xfrm>
            <a:off x="609600" y="4179084"/>
            <a:ext cx="8229600" cy="211139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Netflix → recommends movies</a:t>
            </a:r>
          </a:p>
          <a:p>
            <a:r>
              <a:rPr lang="en-US" dirty="0"/>
              <a:t>Amazon → suggests products</a:t>
            </a:r>
          </a:p>
          <a:p>
            <a:r>
              <a:rPr lang="en-US" dirty="0"/>
              <a:t>Banks → detect fraud</a:t>
            </a:r>
          </a:p>
          <a:p>
            <a:r>
              <a:rPr lang="en-US" dirty="0"/>
              <a:t>Ask students: Where do YOU see data?</a:t>
            </a:r>
          </a:p>
        </p:txBody>
      </p:sp>
    </p:spTree>
    <p:extLst>
      <p:ext uri="{BB962C8B-B14F-4D97-AF65-F5344CB8AC3E}">
        <p14:creationId xmlns:p14="http://schemas.microsoft.com/office/powerpoint/2010/main" val="377293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15EF-C570-1D44-8D62-BFDF7E98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A95BA9-35C2-5112-4600-EF4675B6FFE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What Are Variables?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FDECB7-9679-91FF-47D7-1737D336065C}"/>
              </a:ext>
            </a:extLst>
          </p:cNvPr>
          <p:cNvSpPr txBox="1">
            <a:spLocks/>
          </p:cNvSpPr>
          <p:nvPr/>
        </p:nvSpPr>
        <p:spPr>
          <a:xfrm>
            <a:off x="609600" y="1452206"/>
            <a:ext cx="5486400" cy="450663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 is anything in a dataset that can change or vary.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Salary</a:t>
            </a:r>
          </a:p>
          <a:p>
            <a:r>
              <a:rPr lang="en-US" dirty="0"/>
              <a:t>Height</a:t>
            </a:r>
          </a:p>
          <a:p>
            <a:r>
              <a:rPr lang="en-US" dirty="0"/>
              <a:t>City</a:t>
            </a:r>
          </a:p>
          <a:p>
            <a:r>
              <a:rPr lang="en-US" dirty="0"/>
              <a:t>Rating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column in a dataset = a variable.</a:t>
            </a:r>
          </a:p>
        </p:txBody>
      </p:sp>
      <p:pic>
        <p:nvPicPr>
          <p:cNvPr id="2052" name="Picture 4" descr="Create a Management Org Chart from Data Import">
            <a:extLst>
              <a:ext uri="{FF2B5EF4-FFF2-40B4-BE49-F238E27FC236}">
                <a16:creationId xmlns:a16="http://schemas.microsoft.com/office/drawing/2014/main" id="{290FB9DE-31F1-1C21-C48A-D5A787F27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84" y="1898927"/>
            <a:ext cx="6451431" cy="42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29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6BB5-CFBD-A008-4168-25903C01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F9B4C9-76BC-03F4-AF0C-446A1BC5D973}"/>
              </a:ext>
            </a:extLst>
          </p:cNvPr>
          <p:cNvSpPr txBox="1"/>
          <p:nvPr/>
        </p:nvSpPr>
        <p:spPr>
          <a:xfrm>
            <a:off x="467360" y="586155"/>
            <a:ext cx="11612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Types of Variables</a:t>
            </a:r>
          </a:p>
          <a:p>
            <a:pPr algn="ctr">
              <a:buNone/>
            </a:pPr>
            <a:r>
              <a:rPr lang="en-US" dirty="0"/>
              <a:t>Variables are divided into </a:t>
            </a:r>
            <a:r>
              <a:rPr lang="en-US" b="1" dirty="0"/>
              <a:t>two main types</a:t>
            </a:r>
            <a:r>
              <a:rPr lang="en-US" dirty="0"/>
              <a:t>: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E30E60-9A71-8629-3AD2-79C592714F26}"/>
              </a:ext>
            </a:extLst>
          </p:cNvPr>
          <p:cNvSpPr/>
          <p:nvPr/>
        </p:nvSpPr>
        <p:spPr>
          <a:xfrm>
            <a:off x="2825652" y="2084363"/>
            <a:ext cx="1828800" cy="198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Categorical Variables (Non-numeric)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5A5373-12A3-8C4D-B0E7-4045372A6DDD}"/>
              </a:ext>
            </a:extLst>
          </p:cNvPr>
          <p:cNvSpPr/>
          <p:nvPr/>
        </p:nvSpPr>
        <p:spPr>
          <a:xfrm>
            <a:off x="8463280" y="2164080"/>
            <a:ext cx="1828800" cy="198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Numerical Variables (Numbers)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F68CF3-7AC9-239C-A20D-2AA0FB1EDB24}"/>
              </a:ext>
            </a:extLst>
          </p:cNvPr>
          <p:cNvSpPr/>
          <p:nvPr/>
        </p:nvSpPr>
        <p:spPr>
          <a:xfrm>
            <a:off x="1200052" y="4599464"/>
            <a:ext cx="1503680" cy="150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Nominal Variables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42AAB7-0273-27DF-D5EA-44A59FB62190}"/>
              </a:ext>
            </a:extLst>
          </p:cNvPr>
          <p:cNvSpPr/>
          <p:nvPr/>
        </p:nvSpPr>
        <p:spPr>
          <a:xfrm>
            <a:off x="4647418" y="4599462"/>
            <a:ext cx="1503680" cy="150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Ordinal Variables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C70E70-45B1-B8DC-58E7-DA3F060BA032}"/>
              </a:ext>
            </a:extLst>
          </p:cNvPr>
          <p:cNvSpPr/>
          <p:nvPr/>
        </p:nvSpPr>
        <p:spPr>
          <a:xfrm>
            <a:off x="7006492" y="4660424"/>
            <a:ext cx="1503680" cy="150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Continuous Numerical Variables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8D37B81-7AEE-9E20-9971-A9FCB4FFC8A4}"/>
              </a:ext>
            </a:extLst>
          </p:cNvPr>
          <p:cNvSpPr/>
          <p:nvPr/>
        </p:nvSpPr>
        <p:spPr>
          <a:xfrm>
            <a:off x="10292080" y="4701064"/>
            <a:ext cx="1503680" cy="150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Discrete Numerical Variables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79C7D5A-7998-D946-D8F4-C15AD8F884F7}"/>
              </a:ext>
            </a:extLst>
          </p:cNvPr>
          <p:cNvCxnSpPr>
            <a:stCxn id="13" idx="1"/>
            <a:endCxn id="15" idx="0"/>
          </p:cNvCxnSpPr>
          <p:nvPr/>
        </p:nvCxnSpPr>
        <p:spPr>
          <a:xfrm rot="10800000" flipV="1">
            <a:off x="1951892" y="3074962"/>
            <a:ext cx="873760" cy="15245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8965B4F-B050-5240-40C8-CF3FD10E60AF}"/>
              </a:ext>
            </a:extLst>
          </p:cNvPr>
          <p:cNvCxnSpPr/>
          <p:nvPr/>
        </p:nvCxnSpPr>
        <p:spPr>
          <a:xfrm rot="10800000" flipV="1">
            <a:off x="7711440" y="3135921"/>
            <a:ext cx="751840" cy="15245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0C8592F-FD68-7ACA-EF77-F239F8C999D6}"/>
              </a:ext>
            </a:extLst>
          </p:cNvPr>
          <p:cNvCxnSpPr>
            <a:cxnSpLocks/>
            <a:stCxn id="13" idx="3"/>
            <a:endCxn id="16" idx="0"/>
          </p:cNvCxnSpPr>
          <p:nvPr/>
        </p:nvCxnSpPr>
        <p:spPr>
          <a:xfrm>
            <a:off x="4654452" y="3074963"/>
            <a:ext cx="744806" cy="1524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A1BDBB1-4699-5057-1628-41B978CE2F5B}"/>
              </a:ext>
            </a:extLst>
          </p:cNvPr>
          <p:cNvCxnSpPr>
            <a:cxnSpLocks/>
            <a:endCxn id="18" idx="0"/>
          </p:cNvCxnSpPr>
          <p:nvPr/>
        </p:nvCxnSpPr>
        <p:spPr>
          <a:xfrm rot="16200000" flipH="1">
            <a:off x="9821026" y="3478170"/>
            <a:ext cx="1565144" cy="880644"/>
          </a:xfrm>
          <a:prstGeom prst="bentConnector3">
            <a:avLst>
              <a:gd name="adj1" fmla="val 32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A698A30-9622-1675-DC64-50CD311A3843}"/>
              </a:ext>
            </a:extLst>
          </p:cNvPr>
          <p:cNvCxnSpPr>
            <a:cxnSpLocks/>
            <a:stCxn id="13" idx="0"/>
            <a:endCxn id="14" idx="0"/>
          </p:cNvCxnSpPr>
          <p:nvPr/>
        </p:nvCxnSpPr>
        <p:spPr>
          <a:xfrm rot="16200000" flipH="1">
            <a:off x="6519007" y="-694593"/>
            <a:ext cx="79717" cy="5637628"/>
          </a:xfrm>
          <a:prstGeom prst="bentConnector3">
            <a:avLst>
              <a:gd name="adj1" fmla="val -28676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0E5993-B2E6-A34E-5403-F77FF45C9465}"/>
              </a:ext>
            </a:extLst>
          </p:cNvPr>
          <p:cNvCxnSpPr>
            <a:cxnSpLocks/>
          </p:cNvCxnSpPr>
          <p:nvPr/>
        </p:nvCxnSpPr>
        <p:spPr>
          <a:xfrm>
            <a:off x="6258560" y="1463040"/>
            <a:ext cx="0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48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0660-51CC-B484-AD57-CC3D9D26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DE47DD-255D-8589-0E87-03FBF5D86234}"/>
              </a:ext>
            </a:extLst>
          </p:cNvPr>
          <p:cNvSpPr txBox="1"/>
          <p:nvPr/>
        </p:nvSpPr>
        <p:spPr>
          <a:xfrm>
            <a:off x="917331" y="1995853"/>
            <a:ext cx="95894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1. Nominal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No order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Just categories</a:t>
            </a:r>
          </a:p>
          <a:p>
            <a:pPr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Gender: Male, Female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City: Chennai, Bangalore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Color: Red, Blue, Green</a:t>
            </a:r>
          </a:p>
          <a:p>
            <a:pPr>
              <a:buNone/>
            </a:pPr>
            <a:r>
              <a:rPr lang="en-US" sz="2000" b="1" dirty="0"/>
              <a:t>2. Ordinal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Order exists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Difference between levels is not equal</a:t>
            </a:r>
          </a:p>
          <a:p>
            <a:pPr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Ratings: Poor &lt; Average &lt; Good &lt; Excellent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Education: 10th &lt; 12th &lt; UG &lt; PG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Shirt size: S &lt; M &lt; L &lt; XL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21B6F-ADDA-E10B-2115-BA147CCC421A}"/>
              </a:ext>
            </a:extLst>
          </p:cNvPr>
          <p:cNvSpPr txBox="1"/>
          <p:nvPr/>
        </p:nvSpPr>
        <p:spPr>
          <a:xfrm>
            <a:off x="2377440" y="1133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Categorical Variables (Non-numeric)</a:t>
            </a:r>
          </a:p>
        </p:txBody>
      </p:sp>
    </p:spTree>
    <p:extLst>
      <p:ext uri="{BB962C8B-B14F-4D97-AF65-F5344CB8AC3E}">
        <p14:creationId xmlns:p14="http://schemas.microsoft.com/office/powerpoint/2010/main" val="353995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7099-CE3D-FE9E-B567-58B18DFD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308CAB-34D7-384B-41B4-4026F391BE99}"/>
              </a:ext>
            </a:extLst>
          </p:cNvPr>
          <p:cNvSpPr txBox="1"/>
          <p:nvPr/>
        </p:nvSpPr>
        <p:spPr>
          <a:xfrm>
            <a:off x="917331" y="1995853"/>
            <a:ext cx="95894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 Discrete Numerical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Whole numbers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Countable</a:t>
            </a:r>
          </a:p>
          <a:p>
            <a:r>
              <a:rPr lang="en-US" sz="2000" b="1" dirty="0"/>
              <a:t>Examples: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Number of siblings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Number of orders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Number of goals scored</a:t>
            </a:r>
          </a:p>
          <a:p>
            <a:r>
              <a:rPr lang="en-US" sz="2000" b="1" dirty="0"/>
              <a:t>2. Continuous Numerical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have decimals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Measured values</a:t>
            </a:r>
          </a:p>
          <a:p>
            <a:r>
              <a:rPr lang="en-US" sz="2000" b="1" dirty="0"/>
              <a:t>Examples: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Height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Salary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Temperature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B3F8E-2094-AF3E-45D3-2CB8A2569876}"/>
              </a:ext>
            </a:extLst>
          </p:cNvPr>
          <p:cNvSpPr txBox="1"/>
          <p:nvPr/>
        </p:nvSpPr>
        <p:spPr>
          <a:xfrm>
            <a:off x="2377440" y="1133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Numerical Variables (Numbers)</a:t>
            </a:r>
          </a:p>
        </p:txBody>
      </p:sp>
    </p:spTree>
    <p:extLst>
      <p:ext uri="{BB962C8B-B14F-4D97-AF65-F5344CB8AC3E}">
        <p14:creationId xmlns:p14="http://schemas.microsoft.com/office/powerpoint/2010/main" val="511576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0930BA-A641-1061-D6E2-B3DB309BDCCC}"/>
              </a:ext>
            </a:extLst>
          </p:cNvPr>
          <p:cNvSpPr txBox="1"/>
          <p:nvPr/>
        </p:nvSpPr>
        <p:spPr>
          <a:xfrm>
            <a:off x="965200" y="3429000"/>
            <a:ext cx="276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levels of measurement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F2F3D6B-212A-4E47-C250-7520653CF89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728720" y="1141492"/>
            <a:ext cx="2834640" cy="24721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057FFBF-A61D-7408-8209-E7FC8D4415CC}"/>
              </a:ext>
            </a:extLst>
          </p:cNvPr>
          <p:cNvCxnSpPr>
            <a:cxnSpLocks/>
          </p:cNvCxnSpPr>
          <p:nvPr/>
        </p:nvCxnSpPr>
        <p:spPr>
          <a:xfrm>
            <a:off x="3728720" y="3613666"/>
            <a:ext cx="2834640" cy="24721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B754C09-FD8A-B9B6-64C5-B0660F95210C}"/>
              </a:ext>
            </a:extLst>
          </p:cNvPr>
          <p:cNvCxnSpPr>
            <a:cxnSpLocks/>
          </p:cNvCxnSpPr>
          <p:nvPr/>
        </p:nvCxnSpPr>
        <p:spPr>
          <a:xfrm flipV="1">
            <a:off x="3728720" y="2918321"/>
            <a:ext cx="2834640" cy="702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255E4A0-C3BE-99A3-EC1F-B808856C5E5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728720" y="3613666"/>
            <a:ext cx="2834640" cy="8332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58EEBE-1222-0746-92DD-F802EF3B0209}"/>
              </a:ext>
            </a:extLst>
          </p:cNvPr>
          <p:cNvSpPr/>
          <p:nvPr/>
        </p:nvSpPr>
        <p:spPr>
          <a:xfrm>
            <a:off x="6766560" y="436880"/>
            <a:ext cx="2936240" cy="127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1. Nominal Level</a:t>
            </a:r>
          </a:p>
          <a:p>
            <a:r>
              <a:rPr lang="en-US" sz="1200" dirty="0"/>
              <a:t>Only names or labels</a:t>
            </a:r>
          </a:p>
          <a:p>
            <a:r>
              <a:rPr lang="en-US" sz="1200" dirty="0"/>
              <a:t>No order</a:t>
            </a:r>
          </a:p>
          <a:p>
            <a:r>
              <a:rPr lang="en-US" sz="1200" b="1" dirty="0"/>
              <a:t>Examples:</a:t>
            </a:r>
            <a:r>
              <a:rPr lang="en-US" sz="1200" dirty="0"/>
              <a:t> City, Gender, Color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DEF025-E34B-4FA7-10B0-03D6A7EBE103}"/>
              </a:ext>
            </a:extLst>
          </p:cNvPr>
          <p:cNvSpPr/>
          <p:nvPr/>
        </p:nvSpPr>
        <p:spPr>
          <a:xfrm>
            <a:off x="6766560" y="1961426"/>
            <a:ext cx="2936240" cy="1358007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2. Ordinal Level</a:t>
            </a:r>
          </a:p>
          <a:p>
            <a:r>
              <a:rPr lang="en-US" sz="1200" b="1" dirty="0"/>
              <a:t>Ordered categories</a:t>
            </a:r>
          </a:p>
          <a:p>
            <a:r>
              <a:rPr lang="en-US" sz="1200" b="1" dirty="0"/>
              <a:t>But difference between ranks is unknown</a:t>
            </a:r>
          </a:p>
          <a:p>
            <a:r>
              <a:rPr lang="en-US" sz="1200" b="1" dirty="0"/>
              <a:t>Examples: Ratings, Education level, Shirt size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EB55FD-3452-66F9-9F81-FDE708BC2423}"/>
              </a:ext>
            </a:extLst>
          </p:cNvPr>
          <p:cNvSpPr/>
          <p:nvPr/>
        </p:nvSpPr>
        <p:spPr>
          <a:xfrm>
            <a:off x="6817360" y="3573979"/>
            <a:ext cx="2936240" cy="1413073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3. Interval Level</a:t>
            </a:r>
          </a:p>
          <a:p>
            <a:r>
              <a:rPr lang="en-US" sz="1200" dirty="0"/>
              <a:t>Numerical values</a:t>
            </a:r>
          </a:p>
          <a:p>
            <a:r>
              <a:rPr lang="en-US" sz="1200" dirty="0"/>
              <a:t>Equal difference between values</a:t>
            </a:r>
          </a:p>
          <a:p>
            <a:r>
              <a:rPr lang="en-US" sz="1200" b="1" dirty="0"/>
              <a:t>No true zero</a:t>
            </a:r>
            <a:endParaRPr lang="en-US" sz="1200" dirty="0"/>
          </a:p>
          <a:p>
            <a:r>
              <a:rPr lang="en-US" sz="1200" b="1" dirty="0"/>
              <a:t>Examples:</a:t>
            </a:r>
            <a:endParaRPr lang="en-US" sz="1200" dirty="0"/>
          </a:p>
          <a:p>
            <a:r>
              <a:rPr lang="en-US" sz="1200" dirty="0"/>
              <a:t>Temperature (0°C does not mean “no temperature”)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F2B9B1E-D284-A8CF-8759-B1973A152306}"/>
              </a:ext>
            </a:extLst>
          </p:cNvPr>
          <p:cNvSpPr/>
          <p:nvPr/>
        </p:nvSpPr>
        <p:spPr>
          <a:xfrm>
            <a:off x="6817360" y="5241598"/>
            <a:ext cx="2936240" cy="1485284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b="1" dirty="0"/>
              <a:t>4. Ratio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Numerical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Equal difference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True zero exists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Most analysis uses this</a:t>
            </a:r>
          </a:p>
          <a:p>
            <a:endParaRPr lang="en-US" sz="1200" b="1" dirty="0"/>
          </a:p>
          <a:p>
            <a:r>
              <a:rPr lang="en-US" sz="1200" b="1" dirty="0"/>
              <a:t>Examples:</a:t>
            </a:r>
            <a:endParaRPr lang="en-US" sz="1200" dirty="0"/>
          </a:p>
          <a:p>
            <a:r>
              <a:rPr lang="en-US" sz="1200" dirty="0"/>
              <a:t>Salary</a:t>
            </a:r>
          </a:p>
          <a:p>
            <a:r>
              <a:rPr lang="en-US" sz="1200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420506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15C130-17B0-43C9-B99C-584294C40B5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F0B771C-53D0-4C6A-8C2A-F95E45907F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1812AF-5C4C-4B75-9015-C90088D3D4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Agency design</Template>
  <TotalTime>363</TotalTime>
  <Words>509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ui-sans-serif</vt:lpstr>
      <vt:lpstr>Wingdings 2</vt:lpstr>
      <vt:lpstr>Quotable</vt:lpstr>
      <vt:lpstr>Data Science &amp; AI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MADESH</dc:creator>
  <cp:lastModifiedBy>M MADESH</cp:lastModifiedBy>
  <cp:revision>2</cp:revision>
  <dcterms:created xsi:type="dcterms:W3CDTF">2025-12-05T02:00:40Z</dcterms:created>
  <dcterms:modified xsi:type="dcterms:W3CDTF">2025-12-05T16:41:38Z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